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cd609b2-6c2b-73a1-2aff-50cfc027f0e7}">
          <p14:sldIdLst>
            <p14:sldId id="256"/>
            <p14:sldId id="257"/>
            <p14:sldId id="258"/>
          </p14:sldIdLst>
        </p14:section>
        <p14:section name="Literature review" id="{e7a549d2-ca9d-7990-7c60-543ef7e8ece3}">
          <p14:sldIdLst>
            <p14:sldId id="259"/>
            <p14:sldId id="260"/>
            <p14:sldId id="261"/>
          </p14:sldIdLst>
        </p14:section>
        <p14:section name="Method" id="{0381f274-b1b7-efbb-a5bb-061edb5340c2}">
          <p14:sldIdLst>
            <p14:sldId id="262"/>
            <p14:sldId id="263"/>
            <p14:sldId id="264"/>
            <p14:sldId id="265"/>
            <p14:sldId id="266"/>
            <p14:sldId id="267"/>
          </p14:sldIdLst>
        </p14:section>
        <p14:section name="Results" id="{631d5f52-19b6-126a-1d31-2a856ce7c32a}">
          <p14:sldIdLst>
            <p14:sldId id="268"/>
            <p14:sldId id="269"/>
          </p14:sldIdLst>
        </p14:section>
        <p14:section name="Encrypted inference" id="{835eb2c4-7b31-ce5f-da48-ea2894b41687}">
          <p14:sldIdLst>
            <p14:sldId id="270"/>
            <p14:sldId id="271"/>
            <p14:sldId id="272"/>
          </p14:sldIdLst>
        </p14:section>
        <p14:section name="Conclusion" id="{82bae40b-c070-6c8d-fc98-3fb70446e091}">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project asks two questions. First, does a more complex AI model predict heart disease better? Second, can a server make that prediction without ever seeing the patient's data? Phase 1 answers both on the Cleveland Heart Disease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is the core machine-learning question: does complexity pay off? Question 2 is the privacy extension: can we predict on encrypted data? Both are answered in Phase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a normal AI service needs the raw data, so the server sees everything. Bottom row: with Fully Homomorphic Encryption the data stays encrypted the whole time, even while the server computes on it. The glovebox analogy is the standard way to explain FHE.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foundation papers from our synopsis. CryptoNets is the key one for encryption: it showed neural networks can run on encrypted data if you replace non-linear activations with x². Concrete ML is the tool we actually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recent papers from our docs folder. Naresh and Reddi: encrypted logistic regression stays within 1 to 3 percent of plaintext. Dziri et al.: five models under CKKS, up to 100 percent agreement, but encryption makes inference much slower. Čepová et al.: encrypted deep learning on MRI, which shows the ceiling but is out of our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what the literature already establishes. Right: what our project contributes on top. We use a different FHE approach from the recent heart papers, we check agreement for every single patient, and we first establish whether complexity is worth paying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Cleveland heart disease data: 303 patients, 138 with disease, 165 without. Features come in three types and each type is handled differently. Categorical features like chest pain type are one-hot encoded because their codes have no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strongest finding about the data. In the Kaggle CSV, target equals 1 actually means NO disease. We caught it by checking against medical knowledge: the target-0 group has more angina, more ST depression, more blocked vessels and a lower max heart rate. Those are disease signs. We flipped the label so recall measures how many sick patients we catch.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feature type goes down its own lane. Continuous features are standardised, binary features pass straight through, and categorical features are imputed then one-hot encoded. That gives 25 inputs. Everything is inside one Pipeline so it is re-fitted per fold, which prevents data leakage.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split into 5 parts. Each round trains on 4 and tests on the 5th, so every patient gets one honest prediction. Hyperparameter tuning happens inside the training part with its own 5-fold split, which is called nested cross-validation.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models of increasing complexity. Logistic regression has just 26 numbers. The neural network has 561. XGBoost can have over 6,000 tree nodes. If complexity helps, XGBoost or the MLP should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grid is a confusion matrix. The coral cell is the dangerous error: 26 sick patients the model missed. Recall measures how many sick patients we catch. We select models with F2, which weights recall twice as much as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 regression has the best accuracy, precision, F1 and AUC. The MLP has recall higher by 0.7 points, which is just one patient. XGBoost, the most complex model, is last and misses the most sick patients: 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bar shows how much accuracy moves between folds. The ranges overlap a lot, so the gaps between models are smaller than the noise. Conclusion for research question 1: on this dataset, extra complexity bought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The client encrypts the patient data with a secret key. The server runs the model directly on the ciphertext, and it never has the secret key. The client decrypts the answer. The whole round trip takes about 15 to 30 milliseconds for logistic regression.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the offline training pipeline. It produces two outputs, the evaluation metrics and the logistic regression compiled into an FHE circuit, and saves both. Bottom row: the live Flask web app loads those results. For a prediction, the client encrypts, the server computes on ciphertext without the secret key, and the client decrypts. In this prototype the client and server roles run in the same program as separate objects; in a real deployment the client would run on the patient's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to question 2. Encryption kept the same decision for 302 of 303 patients. The one exception, patient 85, sat right on the threshold: 0.533 in plaintext, 0.483 after 8-bit rounding. We report it openly instead of claiming 100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Phase 1 delivers the complete ML comparison and a working encrypted path for the linear model. Phase 2 extends encryption to XGBoost and the MLP, measures memory and encrypted cost, and repeats the study on Breast Cancer.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554480"/>
            <a:ext cx="7132320" cy="210312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3" name="Text 0"/>
          <p:cNvSpPr/>
          <p:nvPr>
            <p:ph idx="101" type="body" hasCustomPrompt="1"/>
          </p:nvPr>
        </p:nvSpPr>
        <p:spPr>
          <a:xfrm>
            <a:off x="640080" y="3886200"/>
            <a:ext cx="7132320" cy="100584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indent="0" marL="0">
              <a:buNone/>
              <a:defRPr lang="en-US" sz="3400" b="1" dirty="0">
                <a:solidFill>
                  <a:schemeClr val="tx2"/>
                </a:solidFill>
              </a:defRPr>
            </a:lvl1pPr>
          </a:lstStyle>
          <a:p>
            <a:pPr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AI Medical Risk Prediction &amp; Encrypted Inference · Phase 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indent="0" marL="0">
              <a:buNone/>
              <a:defRPr lang="en-US" sz="3400" b="1" dirty="0">
                <a:solidFill>
                  <a:schemeClr val="bg1"/>
                </a:solidFill>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4.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554480"/>
            <a:ext cx="7132320" cy="2103120"/>
          </a:xfrm>
          <a:prstGeom prst="rect">
            <a:avLst/>
          </a:prstGeom>
          <a:noFill/>
          <a:ln/>
        </p:spPr>
        <p:txBody>
          <a:bodyPr wrap="square" lIns="0" tIns="0" rIns="0" bIns="0" rtlCol="0" anchor="b"/>
          <a:lstStyle/>
          <a:p>
            <a:pPr algn="l" indent="0" marL="0">
              <a:buNone/>
            </a:pPr>
            <a:r>
              <a:rPr lang="en-US" sz="4000" b="1" dirty="0">
                <a:solidFill>
                  <a:schemeClr val="bg1"/>
                </a:solidFill>
              </a:rPr>
              <a:t>AI-Based Medical Risk Prediction &amp; Encrypted Inference</a:t>
            </a:r>
            <a:endParaRPr lang="en-US" sz="4000" dirty="0"/>
          </a:p>
        </p:txBody>
      </p:sp>
      <p:sp>
        <p:nvSpPr>
          <p:cNvPr id="3" name="Text 0"/>
          <p:cNvSpPr/>
          <p:nvPr>
            <p:ph idx="101" type="body" hasCustomPrompt="1"/>
          </p:nvPr>
        </p:nvSpPr>
        <p:spPr>
          <a:xfrm>
            <a:off x="640080" y="3886200"/>
            <a:ext cx="7132320" cy="1005840"/>
          </a:xfrm>
          <a:prstGeom prst="rect">
            <a:avLst/>
          </a:prstGeom>
          <a:noFill/>
          <a:ln/>
        </p:spPr>
        <p:txBody>
          <a:bodyPr wrap="square" lIns="0" tIns="0" rIns="0" bIns="0" rtlCol="0" anchor="t"/>
          <a:lstStyle/>
          <a:p>
            <a:pPr algn="l" indent="0" marL="0">
              <a:buNone/>
            </a:pPr>
            <a:r>
              <a:rPr lang="en-US" sz="2000" dirty="0">
                <a:solidFill>
                  <a:schemeClr val="accent5"/>
                </a:solidFill>
              </a:rPr>
              <a:t>Can a model diagnose heart disease without ever seeing the patient's data?</a:t>
            </a:r>
            <a:endParaRPr lang="en-US" sz="2000" dirty="0"/>
          </a:p>
        </p:txBody>
      </p:sp>
      <p:sp>
        <p:nvSpPr>
          <p:cNvPr id="4" name="Text 2"/>
          <p:cNvSpPr txBox="1"/>
          <p:nvPr/>
        </p:nvSpPr>
        <p:spPr>
          <a:xfrm>
            <a:off x="640080" y="5257800"/>
            <a:ext cx="7132320" cy="365760"/>
          </a:xfrm>
          <a:prstGeom prst="rect">
            <a:avLst/>
          </a:prstGeom>
          <a:noFill/>
          <a:ln/>
        </p:spPr>
        <p:txBody>
          <a:bodyPr wrap="square" lIns="0" tIns="0" rIns="0" bIns="0" rtlCol="0" anchor="t"/>
          <a:lstStyle/>
          <a:p>
            <a:pPr indent="0" marL="0">
              <a:buNone/>
            </a:pPr>
            <a:r>
              <a:rPr lang="en-US" sz="1500" dirty="0">
                <a:solidFill>
                  <a:schemeClr val="bg1"/>
                </a:solidFill>
              </a:rPr>
              <a:t>Working Prototype · Phase 1 · Heart Disease (Cleveland) dataset</a:t>
            </a:r>
            <a:endParaRPr lang="en-US" sz="1500" dirty="0"/>
          </a:p>
        </p:txBody>
      </p:sp>
      <p:sp>
        <p:nvSpPr>
          <p:cNvPr id="5" name="Shape 3"/>
          <p:cNvSpPr/>
          <p:nvPr/>
        </p:nvSpPr>
        <p:spPr>
          <a:xfrm>
            <a:off x="8138160" y="1463040"/>
            <a:ext cx="3383280" cy="3383280"/>
          </a:xfrm>
          <a:prstGeom prst="ellipse">
            <a:avLst/>
          </a:prstGeom>
          <a:solidFill>
            <a:schemeClr val="accent2"/>
          </a:solidFill>
          <a:ln/>
        </p:spPr>
      </p:sp>
      <p:pic>
        <p:nvPicPr>
          <p:cNvPr id="6" name="Image 0" descr="preencoded.png">    </p:cNvPr>
          <p:cNvPicPr>
            <a:picLocks noChangeAspect="1"/>
          </p:cNvPicPr>
          <p:nvPr/>
        </p:nvPicPr>
        <p:blipFill>
          <a:blip r:embed="rId1"/>
          <a:stretch>
            <a:fillRect/>
          </a:stretch>
        </p:blipFill>
        <p:spPr>
          <a:xfrm>
            <a:off x="8915400" y="2240280"/>
            <a:ext cx="1828800" cy="1828800"/>
          </a:xfrm>
          <a:prstGeom prst="rect">
            <a:avLst/>
          </a:prstGeom>
        </p:spPr>
      </p:pic>
      <p:sp>
        <p:nvSpPr>
          <p:cNvPr id="7" name="Shape 4"/>
          <p:cNvSpPr/>
          <p:nvPr/>
        </p:nvSpPr>
        <p:spPr>
          <a:xfrm>
            <a:off x="10469880" y="3840480"/>
            <a:ext cx="1280160" cy="1280160"/>
          </a:xfrm>
          <a:prstGeom prst="ellipse">
            <a:avLst/>
          </a:prstGeom>
          <a:solidFill>
            <a:schemeClr val="accent1"/>
          </a:solidFill>
          <a:ln/>
        </p:spPr>
      </p:sp>
      <p:pic>
        <p:nvPicPr>
          <p:cNvPr id="8" name="Image 1" descr="preencoded.png">    </p:cNvPr>
          <p:cNvPicPr>
            <a:picLocks noChangeAspect="1"/>
          </p:cNvPicPr>
          <p:nvPr/>
        </p:nvPicPr>
        <p:blipFill>
          <a:blip r:embed="rId2"/>
          <a:stretch>
            <a:fillRect/>
          </a:stretch>
        </p:blipFill>
        <p:spPr>
          <a:xfrm>
            <a:off x="10777118" y="4147718"/>
            <a:ext cx="665683" cy="66568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chemeClr val="tx2"/>
                </a:solidFill>
              </a:rPr>
              <a:t>Two questions drive this project</a:t>
            </a:r>
            <a:endParaRPr lang="en-US" sz="3400" dirty="0"/>
          </a:p>
        </p:txBody>
      </p:sp>
      <p:sp>
        <p:nvSpPr>
          <p:cNvPr id="3" name="Shape 1"/>
          <p:cNvSpPr/>
          <p:nvPr/>
        </p:nvSpPr>
        <p:spPr>
          <a:xfrm>
            <a:off x="548640" y="1371600"/>
            <a:ext cx="5349240" cy="4343400"/>
          </a:xfrm>
          <a:prstGeom prst="roundRect">
            <a:avLst>
              <a:gd name="adj" fmla="val 2526"/>
            </a:avLst>
          </a:prstGeom>
          <a:solidFill>
            <a:schemeClr val="bg2"/>
          </a:solidFill>
          <a:ln/>
        </p:spPr>
      </p:sp>
      <p:sp>
        <p:nvSpPr>
          <p:cNvPr id="4" name="Shape 2"/>
          <p:cNvSpPr/>
          <p:nvPr/>
        </p:nvSpPr>
        <p:spPr>
          <a:xfrm>
            <a:off x="914400" y="1691640"/>
            <a:ext cx="822960" cy="822960"/>
          </a:xfrm>
          <a:prstGeom prst="ellipse">
            <a:avLst/>
          </a:prstGeom>
          <a:solidFill>
            <a:schemeClr val="accent2"/>
          </a:solidFill>
          <a:ln/>
        </p:spPr>
      </p:sp>
      <p:pic>
        <p:nvPicPr>
          <p:cNvPr id="5" name="Image 0" descr="preencoded.png">    </p:cNvPr>
          <p:cNvPicPr>
            <a:picLocks noChangeAspect="1"/>
          </p:cNvPicPr>
          <p:nvPr/>
        </p:nvPicPr>
        <p:blipFill>
          <a:blip r:embed="rId1"/>
          <a:stretch>
            <a:fillRect/>
          </a:stretch>
        </p:blipFill>
        <p:spPr>
          <a:xfrm>
            <a:off x="1111910" y="1889150"/>
            <a:ext cx="427939" cy="427939"/>
          </a:xfrm>
          <a:prstGeom prst="rect">
            <a:avLst/>
          </a:prstGeom>
        </p:spPr>
      </p:pic>
      <p:sp>
        <p:nvSpPr>
          <p:cNvPr id="6" name="Text 3"/>
          <p:cNvSpPr txBox="1"/>
          <p:nvPr/>
        </p:nvSpPr>
        <p:spPr>
          <a:xfrm>
            <a:off x="1920240" y="1920240"/>
            <a:ext cx="3749040" cy="365760"/>
          </a:xfrm>
          <a:prstGeom prst="rect">
            <a:avLst/>
          </a:prstGeom>
          <a:noFill/>
          <a:ln/>
        </p:spPr>
        <p:txBody>
          <a:bodyPr wrap="square" lIns="0" tIns="0" rIns="0" bIns="0" rtlCol="0" anchor="t"/>
          <a:lstStyle/>
          <a:p>
            <a:pPr indent="0" marL="0">
              <a:buNone/>
            </a:pPr>
            <a:r>
              <a:rPr lang="en-US" sz="1200" b="1" dirty="0">
                <a:solidFill>
                  <a:schemeClr val="accent2"/>
                </a:solidFill>
              </a:rPr>
              <a:t>QUESTION 1 · MACHINE LEARNING</a:t>
            </a:r>
            <a:endParaRPr lang="en-US" sz="1200" dirty="0"/>
          </a:p>
        </p:txBody>
      </p:sp>
      <p:sp>
        <p:nvSpPr>
          <p:cNvPr id="7" name="Text 4"/>
          <p:cNvSpPr txBox="1"/>
          <p:nvPr/>
        </p:nvSpPr>
        <p:spPr>
          <a:xfrm>
            <a:off x="914400" y="2743200"/>
            <a:ext cx="4617720" cy="8686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Does a more complex model diagnose better?</a:t>
            </a:r>
            <a:endParaRPr lang="en-US" sz="2200" dirty="0"/>
          </a:p>
        </p:txBody>
      </p:sp>
      <p:sp>
        <p:nvSpPr>
          <p:cNvPr id="8" name="Text 5"/>
          <p:cNvSpPr txBox="1"/>
          <p:nvPr/>
        </p:nvSpPr>
        <p:spPr>
          <a:xfrm>
            <a:off x="914400" y="3703320"/>
            <a:ext cx="4617720" cy="1828800"/>
          </a:xfrm>
          <a:prstGeom prst="rect">
            <a:avLst/>
          </a:prstGeom>
          <a:noFill/>
          <a:ln/>
        </p:spPr>
        <p:txBody>
          <a:bodyPr wrap="square" lIns="0" tIns="0" rIns="0" bIns="0" rtlCol="0" anchor="t"/>
          <a:lstStyle/>
          <a:p>
            <a:pPr indent="0" marL="0">
              <a:spcAft>
                <a:spcPts val="800"/>
              </a:spcAft>
              <a:buNone/>
            </a:pPr>
            <a:r>
              <a:rPr lang="en-US" sz="1500" b="1" dirty="0">
                <a:solidFill>
                  <a:schemeClr val="tx2"/>
                </a:solidFill>
              </a:rPr>
              <a:t>How: </a:t>
            </a:r>
            <a:pPr indent="0" marL="0">
              <a:spcAft>
                <a:spcPts val="800"/>
              </a:spcAft>
              <a:buNone/>
            </a:pPr>
            <a:r>
              <a:rPr lang="en-US" sz="1500" dirty="0">
                <a:solidFill>
                  <a:schemeClr val="tx1"/>
                </a:solidFill>
              </a:rPr>
              <a:t>Train 3 models, from simple to complex, and compare them fairly on the same patients.</a:t>
            </a:r>
            <a:endParaRPr lang="en-US" sz="1500" dirty="0"/>
          </a:p>
          <a:p>
            <a:pPr indent="0" marL="0">
              <a:spcAft>
                <a:spcPts val="800"/>
              </a:spcAft>
              <a:buNone/>
            </a:pPr>
            <a:r>
              <a:rPr lang="en-US" sz="1500" b="1" dirty="0">
                <a:solidFill>
                  <a:schemeClr val="tx2"/>
                </a:solidFill>
              </a:rPr>
              <a:t>Why it matters: </a:t>
            </a:r>
            <a:pPr indent="0" marL="0">
              <a:spcAft>
                <a:spcPts val="800"/>
              </a:spcAft>
              <a:buNone/>
            </a:pPr>
            <a:r>
              <a:rPr lang="en-US" sz="1500" dirty="0">
                <a:solidFill>
                  <a:schemeClr val="tx1"/>
                </a:solidFill>
              </a:rPr>
              <a:t>On small medical datasets, extra complexity can overfit instead of helping. We have to measure it, not assume it.</a:t>
            </a:r>
            <a:endParaRPr lang="en-US" sz="1500" dirty="0"/>
          </a:p>
        </p:txBody>
      </p:sp>
      <p:sp>
        <p:nvSpPr>
          <p:cNvPr id="9" name="Shape 6"/>
          <p:cNvSpPr/>
          <p:nvPr/>
        </p:nvSpPr>
        <p:spPr>
          <a:xfrm>
            <a:off x="6263640" y="1371600"/>
            <a:ext cx="5349240" cy="4343400"/>
          </a:xfrm>
          <a:prstGeom prst="roundRect">
            <a:avLst>
              <a:gd name="adj" fmla="val 2526"/>
            </a:avLst>
          </a:prstGeom>
          <a:solidFill>
            <a:schemeClr val="bg2"/>
          </a:solidFill>
          <a:ln/>
        </p:spPr>
      </p:sp>
      <p:sp>
        <p:nvSpPr>
          <p:cNvPr id="10" name="Shape 7"/>
          <p:cNvSpPr/>
          <p:nvPr/>
        </p:nvSpPr>
        <p:spPr>
          <a:xfrm>
            <a:off x="6629400" y="1691640"/>
            <a:ext cx="822960" cy="82296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6826910" y="1889150"/>
            <a:ext cx="427939" cy="427939"/>
          </a:xfrm>
          <a:prstGeom prst="rect">
            <a:avLst/>
          </a:prstGeom>
        </p:spPr>
      </p:pic>
      <p:sp>
        <p:nvSpPr>
          <p:cNvPr id="12" name="Text 8"/>
          <p:cNvSpPr txBox="1"/>
          <p:nvPr/>
        </p:nvSpPr>
        <p:spPr>
          <a:xfrm>
            <a:off x="7635240" y="1920240"/>
            <a:ext cx="3749040" cy="365760"/>
          </a:xfrm>
          <a:prstGeom prst="rect">
            <a:avLst/>
          </a:prstGeom>
          <a:noFill/>
          <a:ln/>
        </p:spPr>
        <p:txBody>
          <a:bodyPr wrap="square" lIns="0" tIns="0" rIns="0" bIns="0" rtlCol="0" anchor="t"/>
          <a:lstStyle/>
          <a:p>
            <a:pPr indent="0" marL="0">
              <a:buNone/>
            </a:pPr>
            <a:r>
              <a:rPr lang="en-US" sz="1200" b="1" dirty="0">
                <a:solidFill>
                  <a:schemeClr val="accent1"/>
                </a:solidFill>
              </a:rPr>
              <a:t>QUESTION 2 · PRIVACY</a:t>
            </a:r>
            <a:endParaRPr lang="en-US" sz="1200" dirty="0"/>
          </a:p>
        </p:txBody>
      </p:sp>
      <p:sp>
        <p:nvSpPr>
          <p:cNvPr id="13" name="Text 9"/>
          <p:cNvSpPr txBox="1"/>
          <p:nvPr/>
        </p:nvSpPr>
        <p:spPr>
          <a:xfrm>
            <a:off x="6629400" y="2743200"/>
            <a:ext cx="4617720" cy="8686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Can a server predict without seeing the data?</a:t>
            </a:r>
            <a:endParaRPr lang="en-US" sz="2200" dirty="0"/>
          </a:p>
        </p:txBody>
      </p:sp>
      <p:sp>
        <p:nvSpPr>
          <p:cNvPr id="14" name="Text 10"/>
          <p:cNvSpPr txBox="1"/>
          <p:nvPr/>
        </p:nvSpPr>
        <p:spPr>
          <a:xfrm>
            <a:off x="6629400" y="3703320"/>
            <a:ext cx="4617720" cy="1828800"/>
          </a:xfrm>
          <a:prstGeom prst="rect">
            <a:avLst/>
          </a:prstGeom>
          <a:noFill/>
          <a:ln/>
        </p:spPr>
        <p:txBody>
          <a:bodyPr wrap="square" lIns="0" tIns="0" rIns="0" bIns="0" rtlCol="0" anchor="t"/>
          <a:lstStyle/>
          <a:p>
            <a:pPr indent="0" marL="0">
              <a:spcAft>
                <a:spcPts val="800"/>
              </a:spcAft>
              <a:buNone/>
            </a:pPr>
            <a:r>
              <a:rPr lang="en-US" sz="1500" b="1" dirty="0">
                <a:solidFill>
                  <a:schemeClr val="tx2"/>
                </a:solidFill>
              </a:rPr>
              <a:t>How: </a:t>
            </a:r>
            <a:pPr indent="0" marL="0">
              <a:spcAft>
                <a:spcPts val="800"/>
              </a:spcAft>
              <a:buNone/>
            </a:pPr>
            <a:r>
              <a:rPr lang="en-US" sz="1500" dirty="0">
                <a:solidFill>
                  <a:schemeClr val="tx1"/>
                </a:solidFill>
              </a:rPr>
              <a:t>Fully Homomorphic Encryption (FHE): the server computes directly on encrypted data.</a:t>
            </a:r>
            <a:endParaRPr lang="en-US" sz="1500" dirty="0"/>
          </a:p>
          <a:p>
            <a:pPr indent="0" marL="0">
              <a:spcAft>
                <a:spcPts val="800"/>
              </a:spcAft>
              <a:buNone/>
            </a:pPr>
            <a:r>
              <a:rPr lang="en-US" sz="1500" b="1" dirty="0">
                <a:solidFill>
                  <a:schemeClr val="tx2"/>
                </a:solidFill>
              </a:rPr>
              <a:t>Why it matters: </a:t>
            </a:r>
            <a:pPr indent="0" marL="0">
              <a:spcAft>
                <a:spcPts val="800"/>
              </a:spcAft>
              <a:buNone/>
            </a:pPr>
            <a:r>
              <a:rPr lang="en-US" sz="1500" dirty="0">
                <a:solidFill>
                  <a:schemeClr val="tx1"/>
                </a:solidFill>
              </a:rPr>
              <a:t>Patient records are highly sensitive. A normal cloud AI service sees every value you send it.</a:t>
            </a:r>
            <a:endParaRPr lang="en-US" sz="1500" dirty="0"/>
          </a:p>
        </p:txBody>
      </p:sp>
      <p:sp>
        <p:nvSpPr>
          <p:cNvPr id="15" name="Text 11"/>
          <p:cNvSpPr txBox="1"/>
          <p:nvPr/>
        </p:nvSpPr>
        <p:spPr>
          <a:xfrm>
            <a:off x="548640" y="5897880"/>
            <a:ext cx="11064240" cy="365760"/>
          </a:xfrm>
          <a:prstGeom prst="rect">
            <a:avLst/>
          </a:prstGeom>
          <a:noFill/>
          <a:ln/>
        </p:spPr>
        <p:txBody>
          <a:bodyPr wrap="square" lIns="0" tIns="0" rIns="0" bIns="0" rtlCol="0" anchor="t"/>
          <a:lstStyle/>
          <a:p>
            <a:pPr indent="0" marL="0">
              <a:buNone/>
            </a:pPr>
            <a:r>
              <a:rPr lang="en-US" sz="1600" i="1" dirty="0">
                <a:solidFill>
                  <a:schemeClr val="accent4"/>
                </a:solidFill>
              </a:rPr>
              <a:t>Phase 1 answers both questions on 303 real patients.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chemeClr val="tx2"/>
                </a:solidFill>
              </a:rPr>
              <a:t>Why encryption: the privacy problem with cloud AI</a:t>
            </a:r>
            <a:endParaRPr lang="en-US" sz="3400" dirty="0"/>
          </a:p>
        </p:txBody>
      </p:sp>
      <p:sp>
        <p:nvSpPr>
          <p:cNvPr id="3" name="Text 1"/>
          <p:cNvSpPr txBox="1"/>
          <p:nvPr/>
        </p:nvSpPr>
        <p:spPr>
          <a:xfrm>
            <a:off x="548640" y="1417320"/>
            <a:ext cx="5486400" cy="365760"/>
          </a:xfrm>
          <a:prstGeom prst="rect">
            <a:avLst/>
          </a:prstGeom>
          <a:noFill/>
          <a:ln/>
        </p:spPr>
        <p:txBody>
          <a:bodyPr wrap="square" lIns="0" tIns="0" rIns="0" bIns="0" rtlCol="0" anchor="t"/>
          <a:lstStyle/>
          <a:p>
            <a:pPr indent="0" marL="0">
              <a:buNone/>
            </a:pPr>
            <a:r>
              <a:rPr lang="en-US" sz="1800" b="1" dirty="0">
                <a:solidFill>
                  <a:schemeClr val="accent1"/>
                </a:solidFill>
              </a:rPr>
              <a:t>Normal cloud AI</a:t>
            </a:r>
            <a:endParaRPr lang="en-US" sz="1800" dirty="0"/>
          </a:p>
        </p:txBody>
      </p:sp>
      <p:sp>
        <p:nvSpPr>
          <p:cNvPr id="4" name="Shape 2"/>
          <p:cNvSpPr/>
          <p:nvPr/>
        </p:nvSpPr>
        <p:spPr>
          <a:xfrm>
            <a:off x="822960" y="1920240"/>
            <a:ext cx="1005840" cy="1005840"/>
          </a:xfrm>
          <a:prstGeom prst="ellipse">
            <a:avLst/>
          </a:prstGeom>
          <a:solidFill>
            <a:schemeClr val="tx2"/>
          </a:solidFill>
          <a:ln/>
        </p:spPr>
      </p:sp>
      <p:pic>
        <p:nvPicPr>
          <p:cNvPr id="5" name="Image 0" descr="preencoded.png">    </p:cNvPr>
          <p:cNvPicPr>
            <a:picLocks noChangeAspect="1"/>
          </p:cNvPicPr>
          <p:nvPr/>
        </p:nvPicPr>
        <p:blipFill>
          <a:blip r:embed="rId1"/>
          <a:stretch>
            <a:fillRect/>
          </a:stretch>
        </p:blipFill>
        <p:spPr>
          <a:xfrm>
            <a:off x="1064362" y="2161642"/>
            <a:ext cx="523037" cy="523037"/>
          </a:xfrm>
          <a:prstGeom prst="rect">
            <a:avLst/>
          </a:prstGeom>
        </p:spPr>
      </p:pic>
      <p:sp>
        <p:nvSpPr>
          <p:cNvPr id="6" name="Text 3"/>
          <p:cNvSpPr txBox="1"/>
          <p:nvPr/>
        </p:nvSpPr>
        <p:spPr>
          <a:xfrm>
            <a:off x="548640" y="2971800"/>
            <a:ext cx="1554480" cy="274320"/>
          </a:xfrm>
          <a:prstGeom prst="rect">
            <a:avLst/>
          </a:prstGeom>
          <a:noFill/>
          <a:ln/>
        </p:spPr>
        <p:txBody>
          <a:bodyPr wrap="square" lIns="0" tIns="0" rIns="0" bIns="0" rtlCol="0" anchor="t"/>
          <a:lstStyle/>
          <a:p>
            <a:pPr algn="ctr" indent="0" marL="0">
              <a:buNone/>
            </a:pPr>
            <a:r>
              <a:rPr lang="en-US" sz="1200" dirty="0">
                <a:solidFill>
                  <a:schemeClr val="accent4"/>
                </a:solidFill>
              </a:rPr>
              <a:t>Patient</a:t>
            </a:r>
            <a:endParaRPr lang="en-US" sz="1200" dirty="0"/>
          </a:p>
        </p:txBody>
      </p:sp>
      <p:sp>
        <p:nvSpPr>
          <p:cNvPr id="7" name="Shape 4"/>
          <p:cNvSpPr/>
          <p:nvPr/>
        </p:nvSpPr>
        <p:spPr>
          <a:xfrm>
            <a:off x="2011680" y="2423160"/>
            <a:ext cx="3383280" cy="0"/>
          </a:xfrm>
          <a:prstGeom prst="line">
            <a:avLst/>
          </a:prstGeom>
          <a:noFill/>
          <a:ln w="25400">
            <a:solidFill>
              <a:schemeClr val="accent1"/>
            </a:solidFill>
            <a:prstDash val="solid"/>
            <a:tailEnd type="triangle"/>
          </a:ln>
        </p:spPr>
      </p:sp>
      <p:sp>
        <p:nvSpPr>
          <p:cNvPr id="8" name="Text 5"/>
          <p:cNvSpPr txBox="1"/>
          <p:nvPr/>
        </p:nvSpPr>
        <p:spPr>
          <a:xfrm>
            <a:off x="2011680" y="2011680"/>
            <a:ext cx="3383280" cy="365760"/>
          </a:xfrm>
          <a:prstGeom prst="rect">
            <a:avLst/>
          </a:prstGeom>
          <a:noFill/>
          <a:ln/>
        </p:spPr>
        <p:txBody>
          <a:bodyPr wrap="square" lIns="0" tIns="0" rIns="0" bIns="0" rtlCol="0" anchor="t"/>
          <a:lstStyle/>
          <a:p>
            <a:pPr algn="ctr" indent="0" marL="0">
              <a:buNone/>
            </a:pPr>
            <a:r>
              <a:rPr lang="en-US" sz="1400" i="1" dirty="0">
                <a:solidFill>
                  <a:schemeClr val="tx1"/>
                </a:solidFill>
              </a:rPr>
              <a:t>age 63, BP 145, cholesterol 233 …</a:t>
            </a:r>
            <a:endParaRPr lang="en-US" sz="1400" dirty="0"/>
          </a:p>
        </p:txBody>
      </p:sp>
      <p:sp>
        <p:nvSpPr>
          <p:cNvPr id="9" name="Shape 6"/>
          <p:cNvSpPr/>
          <p:nvPr/>
        </p:nvSpPr>
        <p:spPr>
          <a:xfrm>
            <a:off x="5577840" y="1920240"/>
            <a:ext cx="1005840" cy="1005840"/>
          </a:xfrm>
          <a:prstGeom prst="ellipse">
            <a:avLst/>
          </a:prstGeom>
          <a:solidFill>
            <a:schemeClr val="tx2"/>
          </a:solidFill>
          <a:ln/>
        </p:spPr>
      </p:sp>
      <p:pic>
        <p:nvPicPr>
          <p:cNvPr id="10" name="Image 1" descr="preencoded.png">    </p:cNvPr>
          <p:cNvPicPr>
            <a:picLocks noChangeAspect="1"/>
          </p:cNvPicPr>
          <p:nvPr/>
        </p:nvPicPr>
        <p:blipFill>
          <a:blip r:embed="rId2"/>
          <a:stretch>
            <a:fillRect/>
          </a:stretch>
        </p:blipFill>
        <p:spPr>
          <a:xfrm>
            <a:off x="5819242" y="2161642"/>
            <a:ext cx="523037" cy="523037"/>
          </a:xfrm>
          <a:prstGeom prst="rect">
            <a:avLst/>
          </a:prstGeom>
        </p:spPr>
      </p:pic>
      <p:sp>
        <p:nvSpPr>
          <p:cNvPr id="11" name="Shape 7"/>
          <p:cNvSpPr/>
          <p:nvPr/>
        </p:nvSpPr>
        <p:spPr>
          <a:xfrm>
            <a:off x="6263640" y="1737360"/>
            <a:ext cx="502920" cy="502920"/>
          </a:xfrm>
          <a:prstGeom prst="ellipse">
            <a:avLst/>
          </a:prstGeom>
          <a:solidFill>
            <a:schemeClr val="accent1"/>
          </a:solidFill>
          <a:ln/>
        </p:spPr>
      </p:sp>
      <p:pic>
        <p:nvPicPr>
          <p:cNvPr id="12" name="Image 2" descr="preencoded.png">    </p:cNvPr>
          <p:cNvPicPr>
            <a:picLocks noChangeAspect="1"/>
          </p:cNvPicPr>
          <p:nvPr/>
        </p:nvPicPr>
        <p:blipFill>
          <a:blip r:embed="rId3"/>
          <a:stretch>
            <a:fillRect/>
          </a:stretch>
        </p:blipFill>
        <p:spPr>
          <a:xfrm>
            <a:off x="6384341" y="1858061"/>
            <a:ext cx="261518" cy="261518"/>
          </a:xfrm>
          <a:prstGeom prst="rect">
            <a:avLst/>
          </a:prstGeom>
        </p:spPr>
      </p:pic>
      <p:sp>
        <p:nvSpPr>
          <p:cNvPr id="13" name="Text 8"/>
          <p:cNvSpPr txBox="1"/>
          <p:nvPr/>
        </p:nvSpPr>
        <p:spPr>
          <a:xfrm>
            <a:off x="5303520" y="2971800"/>
            <a:ext cx="1554480" cy="274320"/>
          </a:xfrm>
          <a:prstGeom prst="rect">
            <a:avLst/>
          </a:prstGeom>
          <a:noFill/>
          <a:ln/>
        </p:spPr>
        <p:txBody>
          <a:bodyPr wrap="square" lIns="0" tIns="0" rIns="0" bIns="0" rtlCol="0" anchor="t"/>
          <a:lstStyle/>
          <a:p>
            <a:pPr algn="ctr" indent="0" marL="0">
              <a:buNone/>
            </a:pPr>
            <a:r>
              <a:rPr lang="en-US" sz="1200" dirty="0">
                <a:solidFill>
                  <a:schemeClr val="accent4"/>
                </a:solidFill>
              </a:rPr>
              <a:t>Server</a:t>
            </a:r>
            <a:endParaRPr lang="en-US" sz="1200" dirty="0"/>
          </a:p>
        </p:txBody>
      </p:sp>
      <p:pic>
        <p:nvPicPr>
          <p:cNvPr id="14" name="Image 3" descr="preencoded.png">    </p:cNvPr>
          <p:cNvPicPr>
            <a:picLocks noChangeAspect="1"/>
          </p:cNvPicPr>
          <p:nvPr/>
        </p:nvPicPr>
        <p:blipFill>
          <a:blip r:embed="rId4"/>
          <a:stretch>
            <a:fillRect/>
          </a:stretch>
        </p:blipFill>
        <p:spPr>
          <a:xfrm>
            <a:off x="7223760" y="2103120"/>
            <a:ext cx="457200" cy="457200"/>
          </a:xfrm>
          <a:prstGeom prst="rect">
            <a:avLst/>
          </a:prstGeom>
        </p:spPr>
      </p:pic>
      <p:sp>
        <p:nvSpPr>
          <p:cNvPr id="15" name="Text 9"/>
          <p:cNvSpPr txBox="1"/>
          <p:nvPr/>
        </p:nvSpPr>
        <p:spPr>
          <a:xfrm>
            <a:off x="7863840" y="1920240"/>
            <a:ext cx="3749040" cy="1005840"/>
          </a:xfrm>
          <a:prstGeom prst="rect">
            <a:avLst/>
          </a:prstGeom>
          <a:noFill/>
          <a:ln/>
        </p:spPr>
        <p:txBody>
          <a:bodyPr wrap="square" lIns="0" tIns="0" rIns="0" bIns="0" rtlCol="0" anchor="ctr"/>
          <a:lstStyle/>
          <a:p>
            <a:pPr indent="0" marL="0">
              <a:buNone/>
            </a:pPr>
            <a:r>
              <a:rPr lang="en-US" sz="1500" dirty="0">
                <a:solidFill>
                  <a:schemeClr val="tx1"/>
                </a:solidFill>
              </a:rPr>
              <a:t>The server reads every value. One data leak exposes the patient's full medical record.</a:t>
            </a:r>
            <a:endParaRPr lang="en-US" sz="1500" dirty="0"/>
          </a:p>
        </p:txBody>
      </p:sp>
      <p:sp>
        <p:nvSpPr>
          <p:cNvPr id="16" name="Text 10"/>
          <p:cNvSpPr txBox="1"/>
          <p:nvPr/>
        </p:nvSpPr>
        <p:spPr>
          <a:xfrm>
            <a:off x="548640" y="3337560"/>
            <a:ext cx="5486400" cy="365760"/>
          </a:xfrm>
          <a:prstGeom prst="rect">
            <a:avLst/>
          </a:prstGeom>
          <a:noFill/>
          <a:ln/>
        </p:spPr>
        <p:txBody>
          <a:bodyPr wrap="square" lIns="0" tIns="0" rIns="0" bIns="0" rtlCol="0" anchor="t"/>
          <a:lstStyle/>
          <a:p>
            <a:pPr indent="0" marL="0">
              <a:buNone/>
            </a:pPr>
            <a:r>
              <a:rPr lang="en-US" sz="1800" b="1" dirty="0">
                <a:solidFill>
                  <a:schemeClr val="accent2"/>
                </a:solidFill>
              </a:rPr>
              <a:t>With FHE (this project)</a:t>
            </a:r>
            <a:endParaRPr lang="en-US" sz="1800" dirty="0"/>
          </a:p>
        </p:txBody>
      </p:sp>
      <p:sp>
        <p:nvSpPr>
          <p:cNvPr id="17" name="Shape 11"/>
          <p:cNvSpPr/>
          <p:nvPr/>
        </p:nvSpPr>
        <p:spPr>
          <a:xfrm>
            <a:off x="822960" y="3840480"/>
            <a:ext cx="1005840" cy="1005840"/>
          </a:xfrm>
          <a:prstGeom prst="ellipse">
            <a:avLst/>
          </a:prstGeom>
          <a:solidFill>
            <a:schemeClr val="tx2"/>
          </a:solidFill>
          <a:ln/>
        </p:spPr>
      </p:sp>
      <p:pic>
        <p:nvPicPr>
          <p:cNvPr id="18" name="Image 4" descr="preencoded.png">    </p:cNvPr>
          <p:cNvPicPr>
            <a:picLocks noChangeAspect="1"/>
          </p:cNvPicPr>
          <p:nvPr/>
        </p:nvPicPr>
        <p:blipFill>
          <a:blip r:embed="rId5"/>
          <a:stretch>
            <a:fillRect/>
          </a:stretch>
        </p:blipFill>
        <p:spPr>
          <a:xfrm>
            <a:off x="1064362" y="4081882"/>
            <a:ext cx="523037" cy="523037"/>
          </a:xfrm>
          <a:prstGeom prst="rect">
            <a:avLst/>
          </a:prstGeom>
        </p:spPr>
      </p:pic>
      <p:sp>
        <p:nvSpPr>
          <p:cNvPr id="19" name="Text 12"/>
          <p:cNvSpPr txBox="1"/>
          <p:nvPr/>
        </p:nvSpPr>
        <p:spPr>
          <a:xfrm>
            <a:off x="548640" y="4892040"/>
            <a:ext cx="1554480" cy="274320"/>
          </a:xfrm>
          <a:prstGeom prst="rect">
            <a:avLst/>
          </a:prstGeom>
          <a:noFill/>
          <a:ln/>
        </p:spPr>
        <p:txBody>
          <a:bodyPr wrap="square" lIns="0" tIns="0" rIns="0" bIns="0" rtlCol="0" anchor="t"/>
          <a:lstStyle/>
          <a:p>
            <a:pPr algn="ctr" indent="0" marL="0">
              <a:buNone/>
            </a:pPr>
            <a:r>
              <a:rPr lang="en-US" sz="1200" dirty="0">
                <a:solidFill>
                  <a:schemeClr val="accent4"/>
                </a:solidFill>
              </a:rPr>
              <a:t>Patient</a:t>
            </a:r>
            <a:endParaRPr lang="en-US" sz="1200" dirty="0"/>
          </a:p>
        </p:txBody>
      </p:sp>
      <p:sp>
        <p:nvSpPr>
          <p:cNvPr id="20" name="Shape 13"/>
          <p:cNvSpPr/>
          <p:nvPr/>
        </p:nvSpPr>
        <p:spPr>
          <a:xfrm>
            <a:off x="2011680" y="4343400"/>
            <a:ext cx="3383280" cy="0"/>
          </a:xfrm>
          <a:prstGeom prst="line">
            <a:avLst/>
          </a:prstGeom>
          <a:noFill/>
          <a:ln w="25400">
            <a:solidFill>
              <a:schemeClr val="accent2"/>
            </a:solidFill>
            <a:prstDash val="solid"/>
            <a:tailEnd type="triangle"/>
          </a:ln>
        </p:spPr>
      </p:sp>
      <p:sp>
        <p:nvSpPr>
          <p:cNvPr id="21" name="Text 14"/>
          <p:cNvSpPr txBox="1"/>
          <p:nvPr/>
        </p:nvSpPr>
        <p:spPr>
          <a:xfrm>
            <a:off x="2011680" y="3931920"/>
            <a:ext cx="3383280" cy="365760"/>
          </a:xfrm>
          <a:prstGeom prst="rect">
            <a:avLst/>
          </a:prstGeom>
          <a:noFill/>
          <a:ln/>
        </p:spPr>
        <p:txBody>
          <a:bodyPr wrap="square" lIns="0" tIns="0" rIns="0" bIns="0" rtlCol="0" anchor="t"/>
          <a:lstStyle/>
          <a:p>
            <a:pPr algn="ctr" indent="0" marL="0">
              <a:buNone/>
            </a:pPr>
            <a:r>
              <a:rPr lang="en-US" sz="1400" i="1" dirty="0">
                <a:solidFill>
                  <a:schemeClr val="tx1"/>
                </a:solidFill>
              </a:rPr>
              <a:t>encrypted data: unreadable</a:t>
            </a:r>
            <a:endParaRPr lang="en-US" sz="1400" dirty="0"/>
          </a:p>
        </p:txBody>
      </p:sp>
      <p:sp>
        <p:nvSpPr>
          <p:cNvPr id="22" name="Shape 15"/>
          <p:cNvSpPr/>
          <p:nvPr/>
        </p:nvSpPr>
        <p:spPr>
          <a:xfrm>
            <a:off x="5577840" y="3840480"/>
            <a:ext cx="1005840" cy="1005840"/>
          </a:xfrm>
          <a:prstGeom prst="ellipse">
            <a:avLst/>
          </a:prstGeom>
          <a:solidFill>
            <a:schemeClr val="tx2"/>
          </a:solidFill>
          <a:ln/>
        </p:spPr>
      </p:sp>
      <p:pic>
        <p:nvPicPr>
          <p:cNvPr id="23" name="Image 5" descr="preencoded.png">    </p:cNvPr>
          <p:cNvPicPr>
            <a:picLocks noChangeAspect="1"/>
          </p:cNvPicPr>
          <p:nvPr/>
        </p:nvPicPr>
        <p:blipFill>
          <a:blip r:embed="rId6"/>
          <a:stretch>
            <a:fillRect/>
          </a:stretch>
        </p:blipFill>
        <p:spPr>
          <a:xfrm>
            <a:off x="5819242" y="4081882"/>
            <a:ext cx="523037" cy="523037"/>
          </a:xfrm>
          <a:prstGeom prst="rect">
            <a:avLst/>
          </a:prstGeom>
        </p:spPr>
      </p:pic>
      <p:sp>
        <p:nvSpPr>
          <p:cNvPr id="24" name="Shape 16"/>
          <p:cNvSpPr/>
          <p:nvPr/>
        </p:nvSpPr>
        <p:spPr>
          <a:xfrm>
            <a:off x="6263640" y="3657600"/>
            <a:ext cx="502920" cy="502920"/>
          </a:xfrm>
          <a:prstGeom prst="ellipse">
            <a:avLst/>
          </a:prstGeom>
          <a:solidFill>
            <a:schemeClr val="accent2"/>
          </a:solidFill>
          <a:ln/>
        </p:spPr>
      </p:sp>
      <p:pic>
        <p:nvPicPr>
          <p:cNvPr id="25" name="Image 6" descr="preencoded.png">    </p:cNvPr>
          <p:cNvPicPr>
            <a:picLocks noChangeAspect="1"/>
          </p:cNvPicPr>
          <p:nvPr/>
        </p:nvPicPr>
        <p:blipFill>
          <a:blip r:embed="rId7"/>
          <a:stretch>
            <a:fillRect/>
          </a:stretch>
        </p:blipFill>
        <p:spPr>
          <a:xfrm>
            <a:off x="6384341" y="3778301"/>
            <a:ext cx="261518" cy="261518"/>
          </a:xfrm>
          <a:prstGeom prst="rect">
            <a:avLst/>
          </a:prstGeom>
        </p:spPr>
      </p:pic>
      <p:sp>
        <p:nvSpPr>
          <p:cNvPr id="26" name="Text 17"/>
          <p:cNvSpPr txBox="1"/>
          <p:nvPr/>
        </p:nvSpPr>
        <p:spPr>
          <a:xfrm>
            <a:off x="5303520" y="4892040"/>
            <a:ext cx="1554480" cy="274320"/>
          </a:xfrm>
          <a:prstGeom prst="rect">
            <a:avLst/>
          </a:prstGeom>
          <a:noFill/>
          <a:ln/>
        </p:spPr>
        <p:txBody>
          <a:bodyPr wrap="square" lIns="0" tIns="0" rIns="0" bIns="0" rtlCol="0" anchor="t"/>
          <a:lstStyle/>
          <a:p>
            <a:pPr algn="ctr" indent="0" marL="0">
              <a:buNone/>
            </a:pPr>
            <a:r>
              <a:rPr lang="en-US" sz="1200" dirty="0">
                <a:solidFill>
                  <a:schemeClr val="accent4"/>
                </a:solidFill>
              </a:rPr>
              <a:t>Server</a:t>
            </a:r>
            <a:endParaRPr lang="en-US" sz="1200" dirty="0"/>
          </a:p>
        </p:txBody>
      </p:sp>
      <p:pic>
        <p:nvPicPr>
          <p:cNvPr id="27" name="Image 7" descr="preencoded.png">    </p:cNvPr>
          <p:cNvPicPr>
            <a:picLocks noChangeAspect="1"/>
          </p:cNvPicPr>
          <p:nvPr/>
        </p:nvPicPr>
        <p:blipFill>
          <a:blip r:embed="rId8"/>
          <a:stretch>
            <a:fillRect/>
          </a:stretch>
        </p:blipFill>
        <p:spPr>
          <a:xfrm>
            <a:off x="7223760" y="4023360"/>
            <a:ext cx="457200" cy="457200"/>
          </a:xfrm>
          <a:prstGeom prst="rect">
            <a:avLst/>
          </a:prstGeom>
        </p:spPr>
      </p:pic>
      <p:sp>
        <p:nvSpPr>
          <p:cNvPr id="28" name="Text 18"/>
          <p:cNvSpPr txBox="1"/>
          <p:nvPr/>
        </p:nvSpPr>
        <p:spPr>
          <a:xfrm>
            <a:off x="7863840" y="3840480"/>
            <a:ext cx="3749040" cy="1005840"/>
          </a:xfrm>
          <a:prstGeom prst="rect">
            <a:avLst/>
          </a:prstGeom>
          <a:noFill/>
          <a:ln/>
        </p:spPr>
        <p:txBody>
          <a:bodyPr wrap="square" lIns="0" tIns="0" rIns="0" bIns="0" rtlCol="0" anchor="ctr"/>
          <a:lstStyle/>
          <a:p>
            <a:pPr indent="0" marL="0">
              <a:buNone/>
            </a:pPr>
            <a:r>
              <a:rPr lang="en-US" sz="1500" dirty="0">
                <a:solidFill>
                  <a:schemeClr val="tx1"/>
                </a:solidFill>
              </a:rPr>
              <a:t>The server computes the prediction on encrypted data and sends back an encrypted answer. Only the patient can unlock it.</a:t>
            </a:r>
            <a:endParaRPr lang="en-US" sz="1500" dirty="0"/>
          </a:p>
        </p:txBody>
      </p:sp>
      <p:sp>
        <p:nvSpPr>
          <p:cNvPr id="29" name="Shape 19"/>
          <p:cNvSpPr/>
          <p:nvPr/>
        </p:nvSpPr>
        <p:spPr>
          <a:xfrm>
            <a:off x="548640" y="5394960"/>
            <a:ext cx="11064240" cy="822960"/>
          </a:xfrm>
          <a:prstGeom prst="roundRect">
            <a:avLst>
              <a:gd name="adj" fmla="val 13333"/>
            </a:avLst>
          </a:prstGeom>
          <a:solidFill>
            <a:schemeClr val="bg2"/>
          </a:solidFill>
          <a:ln/>
        </p:spPr>
      </p:sp>
      <p:sp>
        <p:nvSpPr>
          <p:cNvPr id="30" name="Text 20"/>
          <p:cNvSpPr txBox="1"/>
          <p:nvPr/>
        </p:nvSpPr>
        <p:spPr>
          <a:xfrm>
            <a:off x="822960" y="5394960"/>
            <a:ext cx="10515600" cy="822960"/>
          </a:xfrm>
          <a:prstGeom prst="rect">
            <a:avLst/>
          </a:prstGeom>
          <a:noFill/>
          <a:ln/>
        </p:spPr>
        <p:txBody>
          <a:bodyPr wrap="square" lIns="0" tIns="0" rIns="0" bIns="0" rtlCol="0" anchor="ctr"/>
          <a:lstStyle/>
          <a:p>
            <a:pPr indent="0" marL="0">
              <a:buNone/>
            </a:pPr>
            <a:r>
              <a:rPr lang="en-US" sz="1600" b="1" dirty="0">
                <a:solidFill>
                  <a:schemeClr val="tx2"/>
                </a:solidFill>
              </a:rPr>
              <a:t>Analogy: </a:t>
            </a:r>
            <a:pPr indent="0" marL="0">
              <a:buNone/>
            </a:pPr>
            <a:r>
              <a:rPr lang="en-US" sz="1600" dirty="0">
                <a:solidFill>
                  <a:schemeClr val="tx1"/>
                </a:solidFill>
              </a:rPr>
              <a:t>a jeweller shapes gold inside a locked glovebox. Their hands can work on it, but they can never take it out. Only the owner holds the key.</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chemeClr val="tx2"/>
                </a:solidFill>
              </a:rPr>
              <a:t>Literature review: the foundations we build on</a:t>
            </a:r>
            <a:endParaRPr lang="en-US" sz="3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834640"/>
                <a:gridCol w="4754880"/>
                <a:gridCol w="3474720"/>
              </a:tblGrid>
              <a:tr h="658368">
                <a:tc>
                  <a:txBody>
                    <a:bodyPr/>
                    <a:lstStyle/>
                    <a:p>
                      <a:pPr indent="0" marL="0">
                        <a:buNone/>
                      </a:pPr>
                      <a:r>
                        <a:rPr lang="en-US" sz="1400" b="1" dirty="0">
                          <a:solidFill>
                            <a:schemeClr val="bg1"/>
                          </a:solidFill>
                        </a:rPr>
                        <a:t>Paper</a:t>
                      </a:r>
                      <a:endParaRPr lang="en-US" sz="14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What it showed</a:t>
                      </a:r>
                      <a:endParaRPr lang="en-US" sz="14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How we use it</a:t>
                      </a:r>
                      <a:endParaRPr lang="en-US" sz="14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tx2"/>
                    </a:solidFill>
                  </a:tcPr>
                </a:tc>
              </a:tr>
              <a:tr h="658368">
                <a:tc>
                  <a:txBody>
                    <a:bodyPr/>
                    <a:lstStyle/>
                    <a:p>
                      <a:pPr indent="0" marL="0">
                        <a:buNone/>
                      </a:pPr>
                      <a:r>
                        <a:rPr lang="en-US" sz="1400" b="1" dirty="0">
                          <a:solidFill>
                            <a:schemeClr val="tx2"/>
                          </a:solidFill>
                        </a:rPr>
                        <a:t>CryptoNets</a:t>
                      </a:r>
                      <a:endParaRPr lang="en-US" sz="1400" dirty="0"/>
                    </a:p>
                    <a:p>
                      <a:pPr indent="0" marL="0">
                        <a:buNone/>
                      </a:pPr>
                      <a:r>
                        <a:rPr lang="en-US" sz="1200" dirty="0">
                          <a:solidFill>
                            <a:schemeClr val="accent4"/>
                          </a:solidFill>
                        </a:rPr>
                        <a:t>Dowlin et al., ICML 2016</a:t>
                      </a:r>
                      <a:endParaRPr lang="en-US" sz="14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First neural network run on FHE-encrypted data. Replaced ReLU with x², because FHE can only add and multiply.</a:t>
                      </a:r>
                      <a:endParaRPr lang="en-US" sz="14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Plan for encrypting our MLP in Phase 2 (x² activation).</a:t>
                      </a:r>
                      <a:endParaRPr lang="en-US" sz="14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bg1"/>
                    </a:solidFill>
                  </a:tcPr>
                </a:tc>
              </a:tr>
              <a:tr h="658368">
                <a:tc>
                  <a:txBody>
                    <a:bodyPr/>
                    <a:lstStyle/>
                    <a:p>
                      <a:pPr indent="0" marL="0">
                        <a:buNone/>
                      </a:pPr>
                      <a:r>
                        <a:rPr lang="en-US" sz="1400" b="1" dirty="0">
                          <a:solidFill>
                            <a:schemeClr val="tx2"/>
                          </a:solidFill>
                        </a:rPr>
                        <a:t>Faster CryptoNets</a:t>
                      </a:r>
                      <a:endParaRPr lang="en-US" sz="1400" dirty="0"/>
                    </a:p>
                    <a:p>
                      <a:pPr indent="0" marL="0">
                        <a:buNone/>
                      </a:pPr>
                      <a:r>
                        <a:rPr lang="en-US" sz="1200" dirty="0">
                          <a:solidFill>
                            <a:schemeClr val="accent4"/>
                          </a:solidFill>
                        </a:rPr>
                        <a:t>Chou et al., 2018</a:t>
                      </a:r>
                      <a:endParaRPr lang="en-US" sz="14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Pruning and quantisation make encrypted inference much faster.</a:t>
                      </a:r>
                      <a:endParaRPr lang="en-US" sz="14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Same idea as our 8-bit quantisation in Concrete ML.</a:t>
                      </a:r>
                      <a:endParaRPr lang="en-US" sz="14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bg1"/>
                    </a:solidFill>
                  </a:tcPr>
                </a:tc>
              </a:tr>
              <a:tr h="658368">
                <a:tc>
                  <a:txBody>
                    <a:bodyPr/>
                    <a:lstStyle/>
                    <a:p>
                      <a:pPr indent="0" marL="0">
                        <a:buNone/>
                      </a:pPr>
                      <a:r>
                        <a:rPr lang="en-US" sz="1400" b="1" dirty="0">
                          <a:solidFill>
                            <a:schemeClr val="tx2"/>
                          </a:solidFill>
                        </a:rPr>
                        <a:t>Delphi</a:t>
                      </a:r>
                      <a:endParaRPr lang="en-US" sz="1400" dirty="0"/>
                    </a:p>
                    <a:p>
                      <a:pPr indent="0" marL="0">
                        <a:buNone/>
                      </a:pPr>
                      <a:r>
                        <a:rPr lang="en-US" sz="1200" dirty="0">
                          <a:solidFill>
                            <a:schemeClr val="accent4"/>
                          </a:solidFill>
                        </a:rPr>
                        <a:t>Mishra et al., USENIX Security 2020</a:t>
                      </a:r>
                      <a:endParaRPr lang="en-US" sz="14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Hybrid HE + secure computation. Shows encrypted cost depends on the model's architecture.</a:t>
                      </a:r>
                      <a:endParaRPr lang="en-US" sz="14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Why we relate encrypted cost to model complexity.</a:t>
                      </a:r>
                      <a:endParaRPr lang="en-US" sz="14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bg1"/>
                    </a:solidFill>
                  </a:tcPr>
                </a:tc>
              </a:tr>
              <a:tr h="658368">
                <a:tc>
                  <a:txBody>
                    <a:bodyPr/>
                    <a:lstStyle/>
                    <a:p>
                      <a:pPr indent="0" marL="0">
                        <a:buNone/>
                      </a:pPr>
                      <a:r>
                        <a:rPr lang="en-US" sz="1400" b="1" dirty="0">
                          <a:solidFill>
                            <a:schemeClr val="tx2"/>
                          </a:solidFill>
                        </a:rPr>
                        <a:t>XGBoost</a:t>
                      </a:r>
                      <a:endParaRPr lang="en-US" sz="1400" dirty="0"/>
                    </a:p>
                    <a:p>
                      <a:pPr indent="0" marL="0">
                        <a:buNone/>
                      </a:pPr>
                      <a:r>
                        <a:rPr lang="en-US" sz="1200" dirty="0">
                          <a:solidFill>
                            <a:schemeClr val="accent4"/>
                          </a:solidFill>
                        </a:rPr>
                        <a:t>Chen &amp; Guestrin, KDD 2016</a:t>
                      </a:r>
                      <a:endParaRPr lang="en-US" sz="14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Scalable gradient-boosted decision trees.</a:t>
                      </a:r>
                      <a:endParaRPr lang="en-US" sz="14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Our most complex model.</a:t>
                      </a:r>
                      <a:endParaRPr lang="en-US" sz="14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bg1"/>
                    </a:solidFill>
                  </a:tcPr>
                </a:tc>
              </a:tr>
              <a:tr h="658368">
                <a:tc>
                  <a:txBody>
                    <a:bodyPr/>
                    <a:lstStyle/>
                    <a:p>
                      <a:pPr indent="0" marL="0">
                        <a:buNone/>
                      </a:pPr>
                      <a:r>
                        <a:rPr lang="en-US" sz="1400" b="1" dirty="0">
                          <a:solidFill>
                            <a:schemeClr val="tx2"/>
                          </a:solidFill>
                        </a:rPr>
                        <a:t>SMOTE</a:t>
                      </a:r>
                      <a:endParaRPr lang="en-US" sz="1400" dirty="0"/>
                    </a:p>
                    <a:p>
                      <a:pPr indent="0" marL="0">
                        <a:buNone/>
                      </a:pPr>
                      <a:r>
                        <a:rPr lang="en-US" sz="1200" dirty="0">
                          <a:solidFill>
                            <a:schemeClr val="accent4"/>
                          </a:solidFill>
                        </a:rPr>
                        <a:t>Chawla et al., JAIR 2002</a:t>
                      </a:r>
                      <a:endParaRPr lang="en-US" sz="14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Standard reference for handling class imbalance.</a:t>
                      </a:r>
                      <a:endParaRPr lang="en-US" sz="14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We chose class weighting instead of synthetic oversampling.</a:t>
                      </a:r>
                      <a:endParaRPr lang="en-US" sz="14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bg1"/>
                    </a:solidFill>
                  </a:tcPr>
                </a:tc>
              </a:tr>
              <a:tr h="658368">
                <a:tc>
                  <a:txBody>
                    <a:bodyPr/>
                    <a:lstStyle/>
                    <a:p>
                      <a:pPr indent="0" marL="0">
                        <a:buNone/>
                      </a:pPr>
                      <a:r>
                        <a:rPr lang="en-US" sz="1400" b="1" dirty="0">
                          <a:solidFill>
                            <a:schemeClr val="tx2"/>
                          </a:solidFill>
                        </a:rPr>
                        <a:t>Concrete ML</a:t>
                      </a:r>
                      <a:endParaRPr lang="en-US" sz="1400" dirty="0"/>
                    </a:p>
                    <a:p>
                      <a:pPr indent="0" marL="0">
                        <a:buNone/>
                      </a:pPr>
                      <a:r>
                        <a:rPr lang="en-US" sz="1200" dirty="0">
                          <a:solidFill>
                            <a:schemeClr val="accent4"/>
                          </a:solidFill>
                        </a:rPr>
                        <a:t>Zama, open-source library</a:t>
                      </a:r>
                      <a:endParaRPr lang="en-US" sz="14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Compiles scikit-learn, XGBoost and PyTorch models into FHE circuits.</a:t>
                      </a:r>
                      <a:endParaRPr lang="en-US" sz="14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The library we use for encrypted inference.</a:t>
                      </a:r>
                      <a:endParaRPr lang="en-US" sz="14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chemeClr val="tx2"/>
                </a:solidFill>
              </a:rPr>
              <a:t>Literature review: heart disease + encryption (2024–25)</a:t>
            </a:r>
            <a:endParaRPr lang="en-US" sz="3400" dirty="0"/>
          </a:p>
        </p:txBody>
      </p:sp>
      <p:sp>
        <p:nvSpPr>
          <p:cNvPr id="3" name="Shape 1"/>
          <p:cNvSpPr/>
          <p:nvPr/>
        </p:nvSpPr>
        <p:spPr>
          <a:xfrm>
            <a:off x="548640" y="1325880"/>
            <a:ext cx="3520440" cy="4892040"/>
          </a:xfrm>
          <a:prstGeom prst="roundRect">
            <a:avLst>
              <a:gd name="adj" fmla="val 3117"/>
            </a:avLst>
          </a:prstGeom>
          <a:solidFill>
            <a:schemeClr val="bg2"/>
          </a:solidFill>
          <a:ln/>
        </p:spPr>
      </p:sp>
      <p:sp>
        <p:nvSpPr>
          <p:cNvPr id="4" name="Text 2"/>
          <p:cNvSpPr txBox="1"/>
          <p:nvPr/>
        </p:nvSpPr>
        <p:spPr>
          <a:xfrm>
            <a:off x="822960" y="1554480"/>
            <a:ext cx="2971800" cy="274320"/>
          </a:xfrm>
          <a:prstGeom prst="rect">
            <a:avLst/>
          </a:prstGeom>
          <a:noFill/>
          <a:ln/>
        </p:spPr>
        <p:txBody>
          <a:bodyPr wrap="square" lIns="0" tIns="0" rIns="0" bIns="0" rtlCol="0" anchor="t"/>
          <a:lstStyle/>
          <a:p>
            <a:pPr indent="0" marL="0">
              <a:buNone/>
            </a:pPr>
            <a:r>
              <a:rPr lang="en-US" sz="1200" b="1" dirty="0">
                <a:solidFill>
                  <a:schemeClr val="accent2"/>
                </a:solidFill>
              </a:rPr>
              <a:t>Journal of Big Data · 2025</a:t>
            </a:r>
            <a:endParaRPr lang="en-US" sz="1200" dirty="0"/>
          </a:p>
        </p:txBody>
      </p:sp>
      <p:sp>
        <p:nvSpPr>
          <p:cNvPr id="5" name="Text 3"/>
          <p:cNvSpPr txBox="1"/>
          <p:nvPr/>
        </p:nvSpPr>
        <p:spPr>
          <a:xfrm>
            <a:off x="822960" y="1874520"/>
            <a:ext cx="2971800" cy="68580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Naresh &amp; Reddi: encrypted logistic regression</a:t>
            </a:r>
            <a:endParaRPr lang="en-US" sz="1700" dirty="0"/>
          </a:p>
        </p:txBody>
      </p:sp>
      <p:sp>
        <p:nvSpPr>
          <p:cNvPr id="6" name="Text 4"/>
          <p:cNvSpPr txBox="1"/>
          <p:nvPr/>
        </p:nvSpPr>
        <p:spPr>
          <a:xfrm>
            <a:off x="822960" y="2651760"/>
            <a:ext cx="2971800" cy="1051560"/>
          </a:xfrm>
          <a:prstGeom prst="rect">
            <a:avLst/>
          </a:prstGeom>
          <a:noFill/>
          <a:ln/>
        </p:spPr>
        <p:txBody>
          <a:bodyPr wrap="square" lIns="0" tIns="0" rIns="0" bIns="0" rtlCol="0" anchor="t"/>
          <a:lstStyle/>
          <a:p>
            <a:pPr indent="0" marL="0">
              <a:buNone/>
            </a:pPr>
            <a:r>
              <a:rPr lang="en-US" sz="1400" dirty="0">
                <a:solidFill>
                  <a:schemeClr val="tx1"/>
                </a:solidFill>
              </a:rPr>
              <a:t>Logistic regression under CKKS encryption (TenSEAL), on 3 heart datasets, compared with SVM.</a:t>
            </a:r>
            <a:endParaRPr lang="en-US" sz="1400" dirty="0"/>
          </a:p>
        </p:txBody>
      </p:sp>
      <p:sp>
        <p:nvSpPr>
          <p:cNvPr id="7" name="Text 5"/>
          <p:cNvSpPr txBox="1"/>
          <p:nvPr/>
        </p:nvSpPr>
        <p:spPr>
          <a:xfrm>
            <a:off x="822960" y="3749040"/>
            <a:ext cx="297180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1–3%</a:t>
            </a:r>
            <a:endParaRPr lang="en-US" sz="4000" dirty="0"/>
          </a:p>
        </p:txBody>
      </p:sp>
      <p:sp>
        <p:nvSpPr>
          <p:cNvPr id="8" name="Text 6"/>
          <p:cNvSpPr txBox="1"/>
          <p:nvPr/>
        </p:nvSpPr>
        <p:spPr>
          <a:xfrm>
            <a:off x="822960" y="4434840"/>
            <a:ext cx="2971800" cy="274320"/>
          </a:xfrm>
          <a:prstGeom prst="rect">
            <a:avLst/>
          </a:prstGeom>
          <a:noFill/>
          <a:ln/>
        </p:spPr>
        <p:txBody>
          <a:bodyPr wrap="square" lIns="0" tIns="0" rIns="0" bIns="0" rtlCol="0" anchor="t"/>
          <a:lstStyle/>
          <a:p>
            <a:pPr indent="0" marL="0">
              <a:buNone/>
            </a:pPr>
            <a:r>
              <a:rPr lang="en-US" sz="1200" dirty="0">
                <a:solidFill>
                  <a:schemeClr val="accent4"/>
                </a:solidFill>
              </a:rPr>
              <a:t>accuracy gap vs. unencrypted</a:t>
            </a:r>
            <a:endParaRPr lang="en-US" sz="1200" dirty="0"/>
          </a:p>
        </p:txBody>
      </p:sp>
      <p:sp>
        <p:nvSpPr>
          <p:cNvPr id="9" name="Text 7"/>
          <p:cNvSpPr txBox="1"/>
          <p:nvPr/>
        </p:nvSpPr>
        <p:spPr>
          <a:xfrm>
            <a:off x="822960" y="4892040"/>
            <a:ext cx="2971800" cy="1143000"/>
          </a:xfrm>
          <a:prstGeom prst="rect">
            <a:avLst/>
          </a:prstGeom>
          <a:noFill/>
          <a:ln/>
        </p:spPr>
        <p:txBody>
          <a:bodyPr wrap="square" lIns="0" tIns="0" rIns="0" bIns="0" rtlCol="0" anchor="t"/>
          <a:lstStyle/>
          <a:p>
            <a:pPr indent="0" marL="0">
              <a:buNone/>
            </a:pPr>
            <a:r>
              <a:rPr lang="en-US" sz="1400" b="1" dirty="0">
                <a:solidFill>
                  <a:schemeClr val="tx2"/>
                </a:solidFill>
              </a:rPr>
              <a:t>Takeaway: </a:t>
            </a:r>
            <a:pPr indent="0" marL="0">
              <a:buNone/>
            </a:pPr>
            <a:r>
              <a:rPr lang="en-US" sz="1400" dirty="0">
                <a:solidFill>
                  <a:schemeClr val="tx1"/>
                </a:solidFill>
              </a:rPr>
              <a:t>Linear models survive encryption well. We encrypt the same model first.</a:t>
            </a:r>
            <a:endParaRPr lang="en-US" sz="1400" dirty="0"/>
          </a:p>
        </p:txBody>
      </p:sp>
      <p:sp>
        <p:nvSpPr>
          <p:cNvPr id="10" name="Shape 8"/>
          <p:cNvSpPr/>
          <p:nvPr/>
        </p:nvSpPr>
        <p:spPr>
          <a:xfrm>
            <a:off x="4343400" y="1325880"/>
            <a:ext cx="3520440" cy="4892040"/>
          </a:xfrm>
          <a:prstGeom prst="roundRect">
            <a:avLst>
              <a:gd name="adj" fmla="val 3117"/>
            </a:avLst>
          </a:prstGeom>
          <a:solidFill>
            <a:schemeClr val="bg2"/>
          </a:solidFill>
          <a:ln/>
        </p:spPr>
      </p:sp>
      <p:sp>
        <p:nvSpPr>
          <p:cNvPr id="11" name="Text 9"/>
          <p:cNvSpPr txBox="1"/>
          <p:nvPr/>
        </p:nvSpPr>
        <p:spPr>
          <a:xfrm>
            <a:off x="4617720" y="1554480"/>
            <a:ext cx="2971800" cy="274320"/>
          </a:xfrm>
          <a:prstGeom prst="rect">
            <a:avLst/>
          </a:prstGeom>
          <a:noFill/>
          <a:ln/>
        </p:spPr>
        <p:txBody>
          <a:bodyPr wrap="square" lIns="0" tIns="0" rIns="0" bIns="0" rtlCol="0" anchor="t"/>
          <a:lstStyle/>
          <a:p>
            <a:pPr indent="0" marL="0">
              <a:buNone/>
            </a:pPr>
            <a:r>
              <a:rPr lang="en-US" sz="1200" b="1" dirty="0">
                <a:solidFill>
                  <a:schemeClr val="accent2"/>
                </a:solidFill>
              </a:rPr>
              <a:t>TechRxiv preprint · 2025</a:t>
            </a:r>
            <a:endParaRPr lang="en-US" sz="1200" dirty="0"/>
          </a:p>
        </p:txBody>
      </p:sp>
      <p:sp>
        <p:nvSpPr>
          <p:cNvPr id="12" name="Text 10"/>
          <p:cNvSpPr txBox="1"/>
          <p:nvPr/>
        </p:nvSpPr>
        <p:spPr>
          <a:xfrm>
            <a:off x="4617720" y="1874520"/>
            <a:ext cx="2971800" cy="68580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Dziri et al.: FHE inference for 5 models</a:t>
            </a:r>
            <a:endParaRPr lang="en-US" sz="1700" dirty="0"/>
          </a:p>
        </p:txBody>
      </p:sp>
      <p:sp>
        <p:nvSpPr>
          <p:cNvPr id="13" name="Text 11"/>
          <p:cNvSpPr txBox="1"/>
          <p:nvPr/>
        </p:nvSpPr>
        <p:spPr>
          <a:xfrm>
            <a:off x="4617720" y="2651760"/>
            <a:ext cx="2971800" cy="1051560"/>
          </a:xfrm>
          <a:prstGeom prst="rect">
            <a:avLst/>
          </a:prstGeom>
          <a:noFill/>
          <a:ln/>
        </p:spPr>
        <p:txBody>
          <a:bodyPr wrap="square" lIns="0" tIns="0" rIns="0" bIns="0" rtlCol="0" anchor="t"/>
          <a:lstStyle/>
          <a:p>
            <a:pPr indent="0" marL="0">
              <a:buNone/>
            </a:pPr>
            <a:r>
              <a:rPr lang="en-US" sz="1400" dirty="0">
                <a:solidFill>
                  <a:schemeClr val="tx1"/>
                </a:solidFill>
              </a:rPr>
              <a:t>LR, SVM, decision tree, random forest and a neural net on heart datasets, encrypted with CKKS.</a:t>
            </a:r>
            <a:endParaRPr lang="en-US" sz="1400" dirty="0"/>
          </a:p>
        </p:txBody>
      </p:sp>
      <p:sp>
        <p:nvSpPr>
          <p:cNvPr id="14" name="Text 12"/>
          <p:cNvSpPr txBox="1"/>
          <p:nvPr/>
        </p:nvSpPr>
        <p:spPr>
          <a:xfrm>
            <a:off x="4617720" y="3749040"/>
            <a:ext cx="297180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100%</a:t>
            </a:r>
            <a:endParaRPr lang="en-US" sz="4000" dirty="0"/>
          </a:p>
        </p:txBody>
      </p:sp>
      <p:sp>
        <p:nvSpPr>
          <p:cNvPr id="15" name="Text 13"/>
          <p:cNvSpPr txBox="1"/>
          <p:nvPr/>
        </p:nvSpPr>
        <p:spPr>
          <a:xfrm>
            <a:off x="4617720" y="4434840"/>
            <a:ext cx="2971800" cy="274320"/>
          </a:xfrm>
          <a:prstGeom prst="rect">
            <a:avLst/>
          </a:prstGeom>
          <a:noFill/>
          <a:ln/>
        </p:spPr>
        <p:txBody>
          <a:bodyPr wrap="square" lIns="0" tIns="0" rIns="0" bIns="0" rtlCol="0" anchor="t"/>
          <a:lstStyle/>
          <a:p>
            <a:pPr indent="0" marL="0">
              <a:buNone/>
            </a:pPr>
            <a:r>
              <a:rPr lang="en-US" sz="1200" dirty="0">
                <a:solidFill>
                  <a:schemeClr val="accent4"/>
                </a:solidFill>
              </a:rPr>
              <a:t>best-case agreement with unencrypted predictions</a:t>
            </a:r>
            <a:endParaRPr lang="en-US" sz="1200" dirty="0"/>
          </a:p>
        </p:txBody>
      </p:sp>
      <p:sp>
        <p:nvSpPr>
          <p:cNvPr id="16" name="Text 14"/>
          <p:cNvSpPr txBox="1"/>
          <p:nvPr/>
        </p:nvSpPr>
        <p:spPr>
          <a:xfrm>
            <a:off x="4617720" y="4892040"/>
            <a:ext cx="2971800" cy="1143000"/>
          </a:xfrm>
          <a:prstGeom prst="rect">
            <a:avLst/>
          </a:prstGeom>
          <a:noFill/>
          <a:ln/>
        </p:spPr>
        <p:txBody>
          <a:bodyPr wrap="square" lIns="0" tIns="0" rIns="0" bIns="0" rtlCol="0" anchor="t"/>
          <a:lstStyle/>
          <a:p>
            <a:pPr indent="0" marL="0">
              <a:buNone/>
            </a:pPr>
            <a:r>
              <a:rPr lang="en-US" sz="1400" b="1" dirty="0">
                <a:solidFill>
                  <a:schemeClr val="tx2"/>
                </a:solidFill>
              </a:rPr>
              <a:t>Takeaway: </a:t>
            </a:r>
            <a:pPr indent="0" marL="0">
              <a:buNone/>
            </a:pPr>
            <a:r>
              <a:rPr lang="en-US" sz="1400" dirty="0">
                <a:solidFill>
                  <a:schemeClr val="tx1"/>
                </a:solidFill>
              </a:rPr>
              <a:t>Accuracy holds, but encrypted inference time grows by orders of magnitude.</a:t>
            </a:r>
            <a:endParaRPr lang="en-US" sz="1400" dirty="0"/>
          </a:p>
        </p:txBody>
      </p:sp>
      <p:sp>
        <p:nvSpPr>
          <p:cNvPr id="17" name="Shape 15"/>
          <p:cNvSpPr/>
          <p:nvPr/>
        </p:nvSpPr>
        <p:spPr>
          <a:xfrm>
            <a:off x="8138160" y="1325880"/>
            <a:ext cx="3520440" cy="4892040"/>
          </a:xfrm>
          <a:prstGeom prst="roundRect">
            <a:avLst>
              <a:gd name="adj" fmla="val 3117"/>
            </a:avLst>
          </a:prstGeom>
          <a:solidFill>
            <a:schemeClr val="bg2"/>
          </a:solidFill>
          <a:ln/>
        </p:spPr>
      </p:sp>
      <p:sp>
        <p:nvSpPr>
          <p:cNvPr id="18" name="Text 16"/>
          <p:cNvSpPr txBox="1"/>
          <p:nvPr/>
        </p:nvSpPr>
        <p:spPr>
          <a:xfrm>
            <a:off x="8412480" y="1554480"/>
            <a:ext cx="2971800" cy="274320"/>
          </a:xfrm>
          <a:prstGeom prst="rect">
            <a:avLst/>
          </a:prstGeom>
          <a:noFill/>
          <a:ln/>
        </p:spPr>
        <p:txBody>
          <a:bodyPr wrap="square" lIns="0" tIns="0" rIns="0" bIns="0" rtlCol="0" anchor="t"/>
          <a:lstStyle/>
          <a:p>
            <a:pPr indent="0" marL="0">
              <a:buNone/>
            </a:pPr>
            <a:r>
              <a:rPr lang="en-US" sz="1200" b="1" dirty="0">
                <a:solidFill>
                  <a:schemeClr val="accent2"/>
                </a:solidFill>
              </a:rPr>
              <a:t>Scientific Reports · 2024</a:t>
            </a:r>
            <a:endParaRPr lang="en-US" sz="1200" dirty="0"/>
          </a:p>
        </p:txBody>
      </p:sp>
      <p:sp>
        <p:nvSpPr>
          <p:cNvPr id="19" name="Text 17"/>
          <p:cNvSpPr txBox="1"/>
          <p:nvPr/>
        </p:nvSpPr>
        <p:spPr>
          <a:xfrm>
            <a:off x="8412480" y="1874520"/>
            <a:ext cx="2971800" cy="68580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Čepová et al.: LSTM on encrypted cardiac MRI</a:t>
            </a:r>
            <a:endParaRPr lang="en-US" sz="1700" dirty="0"/>
          </a:p>
        </p:txBody>
      </p:sp>
      <p:sp>
        <p:nvSpPr>
          <p:cNvPr id="20" name="Text 18"/>
          <p:cNvSpPr txBox="1"/>
          <p:nvPr/>
        </p:nvSpPr>
        <p:spPr>
          <a:xfrm>
            <a:off x="8412480" y="2651760"/>
            <a:ext cx="2971800" cy="1051560"/>
          </a:xfrm>
          <a:prstGeom prst="rect">
            <a:avLst/>
          </a:prstGeom>
          <a:noFill/>
          <a:ln/>
        </p:spPr>
        <p:txBody>
          <a:bodyPr wrap="square" lIns="0" tIns="0" rIns="0" bIns="0" rtlCol="0" anchor="t"/>
          <a:lstStyle/>
          <a:p>
            <a:pPr indent="0" marL="0">
              <a:buNone/>
            </a:pPr>
            <a:r>
              <a:rPr lang="en-US" sz="1400" dirty="0">
                <a:solidFill>
                  <a:schemeClr val="tx1"/>
                </a:solidFill>
              </a:rPr>
              <a:t>A multi-faceted LSTM classifies homomorphically encrypted time-series MRI images.</a:t>
            </a:r>
            <a:endParaRPr lang="en-US" sz="1400" dirty="0"/>
          </a:p>
        </p:txBody>
      </p:sp>
      <p:sp>
        <p:nvSpPr>
          <p:cNvPr id="21" name="Text 19"/>
          <p:cNvSpPr txBox="1"/>
          <p:nvPr/>
        </p:nvSpPr>
        <p:spPr>
          <a:xfrm>
            <a:off x="8412480" y="3749040"/>
            <a:ext cx="297180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97.5%</a:t>
            </a:r>
            <a:endParaRPr lang="en-US" sz="4000" dirty="0"/>
          </a:p>
        </p:txBody>
      </p:sp>
      <p:sp>
        <p:nvSpPr>
          <p:cNvPr id="22" name="Text 20"/>
          <p:cNvSpPr txBox="1"/>
          <p:nvPr/>
        </p:nvSpPr>
        <p:spPr>
          <a:xfrm>
            <a:off x="8412480" y="4434840"/>
            <a:ext cx="2971800" cy="274320"/>
          </a:xfrm>
          <a:prstGeom prst="rect">
            <a:avLst/>
          </a:prstGeom>
          <a:noFill/>
          <a:ln/>
        </p:spPr>
        <p:txBody>
          <a:bodyPr wrap="square" lIns="0" tIns="0" rIns="0" bIns="0" rtlCol="0" anchor="t"/>
          <a:lstStyle/>
          <a:p>
            <a:pPr indent="0" marL="0">
              <a:buNone/>
            </a:pPr>
            <a:r>
              <a:rPr lang="en-US" sz="1200" dirty="0">
                <a:solidFill>
                  <a:schemeClr val="accent4"/>
                </a:solidFill>
              </a:rPr>
              <a:t>reported accuracy</a:t>
            </a:r>
            <a:endParaRPr lang="en-US" sz="1200" dirty="0"/>
          </a:p>
        </p:txBody>
      </p:sp>
      <p:sp>
        <p:nvSpPr>
          <p:cNvPr id="23" name="Text 21"/>
          <p:cNvSpPr txBox="1"/>
          <p:nvPr/>
        </p:nvSpPr>
        <p:spPr>
          <a:xfrm>
            <a:off x="8412480" y="4892040"/>
            <a:ext cx="2971800" cy="1143000"/>
          </a:xfrm>
          <a:prstGeom prst="rect">
            <a:avLst/>
          </a:prstGeom>
          <a:noFill/>
          <a:ln/>
        </p:spPr>
        <p:txBody>
          <a:bodyPr wrap="square" lIns="0" tIns="0" rIns="0" bIns="0" rtlCol="0" anchor="t"/>
          <a:lstStyle/>
          <a:p>
            <a:pPr indent="0" marL="0">
              <a:buNone/>
            </a:pPr>
            <a:r>
              <a:rPr lang="en-US" sz="1400" b="1" dirty="0">
                <a:solidFill>
                  <a:schemeClr val="tx2"/>
                </a:solidFill>
              </a:rPr>
              <a:t>Takeaway: </a:t>
            </a:r>
            <a:pPr indent="0" marL="0">
              <a:buNone/>
            </a:pPr>
            <a:r>
              <a:rPr lang="en-US" sz="1400" dirty="0">
                <a:solidFill>
                  <a:schemeClr val="tx1"/>
                </a:solidFill>
              </a:rPr>
              <a:t>FHE can reach deep models and images, at a much higher compute cost.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chemeClr val="tx2"/>
                </a:solidFill>
              </a:rPr>
              <a:t>Where this project fits</a:t>
            </a:r>
            <a:endParaRPr lang="en-US" sz="3400" dirty="0"/>
          </a:p>
        </p:txBody>
      </p:sp>
      <p:sp>
        <p:nvSpPr>
          <p:cNvPr id="3" name="Text 1"/>
          <p:cNvSpPr txBox="1"/>
          <p:nvPr/>
        </p:nvSpPr>
        <p:spPr>
          <a:xfrm>
            <a:off x="548640" y="1325880"/>
            <a:ext cx="4846320" cy="365760"/>
          </a:xfrm>
          <a:prstGeom prst="rect">
            <a:avLst/>
          </a:prstGeom>
          <a:noFill/>
          <a:ln/>
        </p:spPr>
        <p:txBody>
          <a:bodyPr wrap="square" lIns="0" tIns="0" rIns="0" bIns="0" rtlCol="0" anchor="t"/>
          <a:lstStyle/>
          <a:p>
            <a:pPr indent="0" marL="0">
              <a:buNone/>
            </a:pPr>
            <a:r>
              <a:rPr lang="en-US" sz="1800" b="1" dirty="0">
                <a:solidFill>
                  <a:schemeClr val="accent4"/>
                </a:solidFill>
              </a:rPr>
              <a:t>What the papers show</a:t>
            </a:r>
            <a:endParaRPr lang="en-US" sz="1800" dirty="0"/>
          </a:p>
        </p:txBody>
      </p:sp>
      <p:sp>
        <p:nvSpPr>
          <p:cNvPr id="4" name="Text 2"/>
          <p:cNvSpPr txBox="1"/>
          <p:nvPr/>
        </p:nvSpPr>
        <p:spPr>
          <a:xfrm>
            <a:off x="6766560" y="1325880"/>
            <a:ext cx="4846320" cy="365760"/>
          </a:xfrm>
          <a:prstGeom prst="rect">
            <a:avLst/>
          </a:prstGeom>
          <a:noFill/>
          <a:ln/>
        </p:spPr>
        <p:txBody>
          <a:bodyPr wrap="square" lIns="0" tIns="0" rIns="0" bIns="0" rtlCol="0" anchor="t"/>
          <a:lstStyle/>
          <a:p>
            <a:pPr indent="0" marL="0">
              <a:buNone/>
            </a:pPr>
            <a:r>
              <a:rPr lang="en-US" sz="1800" b="1" dirty="0">
                <a:solidFill>
                  <a:schemeClr val="accent2"/>
                </a:solidFill>
              </a:rPr>
              <a:t>What this project adds</a:t>
            </a:r>
            <a:endParaRPr lang="en-US" sz="1800" dirty="0"/>
          </a:p>
        </p:txBody>
      </p:sp>
      <p:sp>
        <p:nvSpPr>
          <p:cNvPr id="5" name="Shape 3"/>
          <p:cNvSpPr/>
          <p:nvPr/>
        </p:nvSpPr>
        <p:spPr>
          <a:xfrm>
            <a:off x="548640" y="1828800"/>
            <a:ext cx="4846320" cy="1234440"/>
          </a:xfrm>
          <a:prstGeom prst="roundRect">
            <a:avLst>
              <a:gd name="adj" fmla="val 8889"/>
            </a:avLst>
          </a:prstGeom>
          <a:solidFill>
            <a:schemeClr val="bg2"/>
          </a:solidFill>
          <a:ln/>
        </p:spPr>
      </p:sp>
      <p:sp>
        <p:nvSpPr>
          <p:cNvPr id="6" name="Text 4"/>
          <p:cNvSpPr txBox="1"/>
          <p:nvPr/>
        </p:nvSpPr>
        <p:spPr>
          <a:xfrm>
            <a:off x="822960" y="1828800"/>
            <a:ext cx="4297680" cy="1234440"/>
          </a:xfrm>
          <a:prstGeom prst="rect">
            <a:avLst/>
          </a:prstGeom>
          <a:noFill/>
          <a:ln/>
        </p:spPr>
        <p:txBody>
          <a:bodyPr wrap="square" lIns="0" tIns="0" rIns="0" bIns="0" rtlCol="0" anchor="ctr"/>
          <a:lstStyle/>
          <a:p>
            <a:pPr indent="0" marL="0">
              <a:buNone/>
            </a:pPr>
            <a:r>
              <a:rPr lang="en-US" sz="1500" dirty="0">
                <a:solidFill>
                  <a:schemeClr val="tx1"/>
                </a:solidFill>
              </a:rPr>
              <a:t>Recent heart-disease FHE papers use the CKKS scheme (via TenSEAL).</a:t>
            </a:r>
            <a:endParaRPr lang="en-US" sz="1500" dirty="0"/>
          </a:p>
        </p:txBody>
      </p:sp>
      <p:sp>
        <p:nvSpPr>
          <p:cNvPr id="7" name="Shape 5"/>
          <p:cNvSpPr/>
          <p:nvPr/>
        </p:nvSpPr>
        <p:spPr>
          <a:xfrm>
            <a:off x="5532120" y="2446020"/>
            <a:ext cx="1097280" cy="0"/>
          </a:xfrm>
          <a:prstGeom prst="line">
            <a:avLst/>
          </a:prstGeom>
          <a:noFill/>
          <a:ln w="25400">
            <a:solidFill>
              <a:schemeClr val="accent2"/>
            </a:solidFill>
            <a:prstDash val="solid"/>
            <a:tailEnd type="triangle"/>
          </a:ln>
        </p:spPr>
      </p:sp>
      <p:sp>
        <p:nvSpPr>
          <p:cNvPr id="8" name="Shape 6"/>
          <p:cNvSpPr/>
          <p:nvPr/>
        </p:nvSpPr>
        <p:spPr>
          <a:xfrm>
            <a:off x="6766560" y="1828800"/>
            <a:ext cx="4846320" cy="1234440"/>
          </a:xfrm>
          <a:prstGeom prst="roundRect">
            <a:avLst>
              <a:gd name="adj" fmla="val 8889"/>
            </a:avLst>
          </a:prstGeom>
          <a:solidFill>
            <a:schemeClr val="accent2"/>
          </a:solidFill>
          <a:ln/>
        </p:spPr>
      </p:sp>
      <p:sp>
        <p:nvSpPr>
          <p:cNvPr id="9" name="Text 7"/>
          <p:cNvSpPr txBox="1"/>
          <p:nvPr/>
        </p:nvSpPr>
        <p:spPr>
          <a:xfrm>
            <a:off x="7040880" y="1828800"/>
            <a:ext cx="4297680" cy="1234440"/>
          </a:xfrm>
          <a:prstGeom prst="rect">
            <a:avLst/>
          </a:prstGeom>
          <a:noFill/>
          <a:ln/>
        </p:spPr>
        <p:txBody>
          <a:bodyPr wrap="square" lIns="0" tIns="0" rIns="0" bIns="0" rtlCol="0" anchor="ctr"/>
          <a:lstStyle/>
          <a:p>
            <a:pPr indent="0" marL="0">
              <a:buNone/>
            </a:pPr>
            <a:r>
              <a:rPr lang="en-US" sz="1500" dirty="0">
                <a:solidFill>
                  <a:schemeClr val="bg1"/>
                </a:solidFill>
              </a:rPr>
              <a:t>A different route: Concrete ML (TFHE) with 8-bit integers, and a measurement of what that rounding changes.</a:t>
            </a:r>
            <a:endParaRPr lang="en-US" sz="1500" dirty="0"/>
          </a:p>
        </p:txBody>
      </p:sp>
      <p:sp>
        <p:nvSpPr>
          <p:cNvPr id="10" name="Shape 8"/>
          <p:cNvSpPr/>
          <p:nvPr/>
        </p:nvSpPr>
        <p:spPr>
          <a:xfrm>
            <a:off x="548640" y="3291840"/>
            <a:ext cx="4846320" cy="1234440"/>
          </a:xfrm>
          <a:prstGeom prst="roundRect">
            <a:avLst>
              <a:gd name="adj" fmla="val 8889"/>
            </a:avLst>
          </a:prstGeom>
          <a:solidFill>
            <a:schemeClr val="bg2"/>
          </a:solidFill>
          <a:ln/>
        </p:spPr>
      </p:sp>
      <p:sp>
        <p:nvSpPr>
          <p:cNvPr id="11" name="Text 9"/>
          <p:cNvSpPr txBox="1"/>
          <p:nvPr/>
        </p:nvSpPr>
        <p:spPr>
          <a:xfrm>
            <a:off x="822960" y="3291840"/>
            <a:ext cx="4297680" cy="1234440"/>
          </a:xfrm>
          <a:prstGeom prst="rect">
            <a:avLst/>
          </a:prstGeom>
          <a:noFill/>
          <a:ln/>
        </p:spPr>
        <p:txBody>
          <a:bodyPr wrap="square" lIns="0" tIns="0" rIns="0" bIns="0" rtlCol="0" anchor="ctr"/>
          <a:lstStyle/>
          <a:p>
            <a:pPr indent="0" marL="0">
              <a:buNone/>
            </a:pPr>
            <a:r>
              <a:rPr lang="en-US" sz="1500" dirty="0">
                <a:solidFill>
                  <a:schemeClr val="tx1"/>
                </a:solidFill>
              </a:rPr>
              <a:t>Encrypted accuracy is reported as close to plaintext accuracy.</a:t>
            </a:r>
            <a:endParaRPr lang="en-US" sz="1500" dirty="0"/>
          </a:p>
        </p:txBody>
      </p:sp>
      <p:sp>
        <p:nvSpPr>
          <p:cNvPr id="12" name="Shape 10"/>
          <p:cNvSpPr/>
          <p:nvPr/>
        </p:nvSpPr>
        <p:spPr>
          <a:xfrm>
            <a:off x="5532120" y="3909060"/>
            <a:ext cx="1097280" cy="0"/>
          </a:xfrm>
          <a:prstGeom prst="line">
            <a:avLst/>
          </a:prstGeom>
          <a:noFill/>
          <a:ln w="25400">
            <a:solidFill>
              <a:schemeClr val="accent2"/>
            </a:solidFill>
            <a:prstDash val="solid"/>
            <a:tailEnd type="triangle"/>
          </a:ln>
        </p:spPr>
      </p:sp>
      <p:sp>
        <p:nvSpPr>
          <p:cNvPr id="13" name="Shape 11"/>
          <p:cNvSpPr/>
          <p:nvPr/>
        </p:nvSpPr>
        <p:spPr>
          <a:xfrm>
            <a:off x="6766560" y="3291840"/>
            <a:ext cx="4846320" cy="1234440"/>
          </a:xfrm>
          <a:prstGeom prst="roundRect">
            <a:avLst>
              <a:gd name="adj" fmla="val 8889"/>
            </a:avLst>
          </a:prstGeom>
          <a:solidFill>
            <a:schemeClr val="accent2"/>
          </a:solidFill>
          <a:ln/>
        </p:spPr>
      </p:sp>
      <p:sp>
        <p:nvSpPr>
          <p:cNvPr id="14" name="Text 12"/>
          <p:cNvSpPr txBox="1"/>
          <p:nvPr/>
        </p:nvSpPr>
        <p:spPr>
          <a:xfrm>
            <a:off x="7040880" y="3291840"/>
            <a:ext cx="4297680" cy="1234440"/>
          </a:xfrm>
          <a:prstGeom prst="rect">
            <a:avLst/>
          </a:prstGeom>
          <a:noFill/>
          <a:ln/>
        </p:spPr>
        <p:txBody>
          <a:bodyPr wrap="square" lIns="0" tIns="0" rIns="0" bIns="0" rtlCol="0" anchor="ctr"/>
          <a:lstStyle/>
          <a:p>
            <a:pPr indent="0" marL="0">
              <a:buNone/>
            </a:pPr>
            <a:r>
              <a:rPr lang="en-US" sz="1500" dirty="0">
                <a:solidFill>
                  <a:schemeClr val="bg1"/>
                </a:solidFill>
              </a:rPr>
              <a:t>A patient-by-patient check: 302 of 303 decisions identical, and the one that differs explained.</a:t>
            </a:r>
            <a:endParaRPr lang="en-US" sz="1500" dirty="0"/>
          </a:p>
        </p:txBody>
      </p:sp>
      <p:sp>
        <p:nvSpPr>
          <p:cNvPr id="15" name="Shape 13"/>
          <p:cNvSpPr/>
          <p:nvPr/>
        </p:nvSpPr>
        <p:spPr>
          <a:xfrm>
            <a:off x="548640" y="4754880"/>
            <a:ext cx="4846320" cy="1234440"/>
          </a:xfrm>
          <a:prstGeom prst="roundRect">
            <a:avLst>
              <a:gd name="adj" fmla="val 8889"/>
            </a:avLst>
          </a:prstGeom>
          <a:solidFill>
            <a:schemeClr val="bg2"/>
          </a:solidFill>
          <a:ln/>
        </p:spPr>
      </p:sp>
      <p:sp>
        <p:nvSpPr>
          <p:cNvPr id="16" name="Text 14"/>
          <p:cNvSpPr txBox="1"/>
          <p:nvPr/>
        </p:nvSpPr>
        <p:spPr>
          <a:xfrm>
            <a:off x="822960" y="4754880"/>
            <a:ext cx="4297680" cy="1234440"/>
          </a:xfrm>
          <a:prstGeom prst="rect">
            <a:avLst/>
          </a:prstGeom>
          <a:noFill/>
          <a:ln/>
        </p:spPr>
        <p:txBody>
          <a:bodyPr wrap="square" lIns="0" tIns="0" rIns="0" bIns="0" rtlCol="0" anchor="ctr"/>
          <a:lstStyle/>
          <a:p>
            <a:pPr indent="0" marL="0">
              <a:buNone/>
            </a:pPr>
            <a:r>
              <a:rPr lang="en-US" sz="1500" dirty="0">
                <a:solidFill>
                  <a:schemeClr val="tx1"/>
                </a:solidFill>
              </a:rPr>
              <a:t>Encrypted cost grows with model complexity (Delphi, Dziri et al.).</a:t>
            </a:r>
            <a:endParaRPr lang="en-US" sz="1500" dirty="0"/>
          </a:p>
        </p:txBody>
      </p:sp>
      <p:sp>
        <p:nvSpPr>
          <p:cNvPr id="17" name="Shape 15"/>
          <p:cNvSpPr/>
          <p:nvPr/>
        </p:nvSpPr>
        <p:spPr>
          <a:xfrm>
            <a:off x="5532120" y="5372100"/>
            <a:ext cx="1097280" cy="0"/>
          </a:xfrm>
          <a:prstGeom prst="line">
            <a:avLst/>
          </a:prstGeom>
          <a:noFill/>
          <a:ln w="25400">
            <a:solidFill>
              <a:schemeClr val="accent2"/>
            </a:solidFill>
            <a:prstDash val="solid"/>
            <a:tailEnd type="triangle"/>
          </a:ln>
        </p:spPr>
      </p:sp>
      <p:sp>
        <p:nvSpPr>
          <p:cNvPr id="18" name="Shape 16"/>
          <p:cNvSpPr/>
          <p:nvPr/>
        </p:nvSpPr>
        <p:spPr>
          <a:xfrm>
            <a:off x="6766560" y="4754880"/>
            <a:ext cx="4846320" cy="1234440"/>
          </a:xfrm>
          <a:prstGeom prst="roundRect">
            <a:avLst>
              <a:gd name="adj" fmla="val 8889"/>
            </a:avLst>
          </a:prstGeom>
          <a:solidFill>
            <a:schemeClr val="accent2"/>
          </a:solidFill>
          <a:ln/>
        </p:spPr>
      </p:sp>
      <p:sp>
        <p:nvSpPr>
          <p:cNvPr id="19" name="Text 17"/>
          <p:cNvSpPr txBox="1"/>
          <p:nvPr/>
        </p:nvSpPr>
        <p:spPr>
          <a:xfrm>
            <a:off x="7040880" y="4754880"/>
            <a:ext cx="4297680" cy="1234440"/>
          </a:xfrm>
          <a:prstGeom prst="rect">
            <a:avLst/>
          </a:prstGeom>
          <a:noFill/>
          <a:ln/>
        </p:spPr>
        <p:txBody>
          <a:bodyPr wrap="square" lIns="0" tIns="0" rIns="0" bIns="0" rtlCol="0" anchor="ctr"/>
          <a:lstStyle/>
          <a:p>
            <a:pPr indent="0" marL="0">
              <a:buNone/>
            </a:pPr>
            <a:r>
              <a:rPr lang="en-US" sz="1500" dirty="0">
                <a:solidFill>
                  <a:schemeClr val="bg1"/>
                </a:solidFill>
              </a:rPr>
              <a:t>First test whether complexity pays off at all, with nested 5-fold CV and fold-to-fold spread, scored on recall.</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chemeClr val="tx2"/>
                </a:solidFill>
              </a:rPr>
              <a:t>Dataset: 303 heart patients, 13 clinical features</a:t>
            </a:r>
            <a:endParaRPr lang="en-US" sz="3400" dirty="0"/>
          </a:p>
        </p:txBody>
      </p:sp>
      <p:sp>
        <p:nvSpPr>
          <p:cNvPr id="3" name="Text 1"/>
          <p:cNvSpPr txBox="1"/>
          <p:nvPr/>
        </p:nvSpPr>
        <p:spPr>
          <a:xfrm>
            <a:off x="548640" y="1371600"/>
            <a:ext cx="420624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Class balance</a:t>
            </a:r>
            <a:endParaRPr lang="en-US" sz="1800" dirty="0"/>
          </a:p>
        </p:txBody>
      </p:sp>
      <p:sp>
        <p:nvSpPr>
          <p:cNvPr id="4" name="Text 2"/>
          <p:cNvSpPr txBox="1"/>
          <p:nvPr/>
        </p:nvSpPr>
        <p:spPr>
          <a:xfrm>
            <a:off x="548640" y="2011680"/>
            <a:ext cx="2011680" cy="146304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138</a:t>
            </a:r>
            <a:endParaRPr lang="en-US" sz="1500" dirty="0"/>
          </a:p>
          <a:p>
            <a:pPr indent="0" marL="0">
              <a:buNone/>
            </a:pPr>
            <a:r>
              <a:rPr lang="en-US" sz="1500" dirty="0">
                <a:solidFill>
                  <a:schemeClr val="tx1"/>
                </a:solidFill>
              </a:rPr>
              <a:t>disease (46%)</a:t>
            </a:r>
            <a:endParaRPr lang="en-US" sz="1500" dirty="0"/>
          </a:p>
        </p:txBody>
      </p:sp>
      <p:sp>
        <p:nvSpPr>
          <p:cNvPr id="5" name="Text 3"/>
          <p:cNvSpPr txBox="1"/>
          <p:nvPr/>
        </p:nvSpPr>
        <p:spPr>
          <a:xfrm>
            <a:off x="2743200" y="2011680"/>
            <a:ext cx="2011680" cy="1463040"/>
          </a:xfrm>
          <a:prstGeom prst="rect">
            <a:avLst/>
          </a:prstGeom>
          <a:noFill/>
          <a:ln/>
        </p:spPr>
        <p:txBody>
          <a:bodyPr wrap="square" lIns="0" tIns="0" rIns="0" bIns="0" rtlCol="0" anchor="t"/>
          <a:lstStyle/>
          <a:p>
            <a:pPr indent="0" marL="0">
              <a:buNone/>
            </a:pPr>
            <a:r>
              <a:rPr lang="en-US" sz="5400" b="1" dirty="0">
                <a:solidFill>
                  <a:schemeClr val="accent2"/>
                </a:solidFill>
                <a:latin typeface="Cambria" pitchFamily="34" charset="0"/>
                <a:ea typeface="Cambria" pitchFamily="34" charset="-122"/>
                <a:cs typeface="Cambria" pitchFamily="34" charset="-120"/>
              </a:rPr>
              <a:t>165</a:t>
            </a:r>
            <a:endParaRPr lang="en-US" sz="1500" dirty="0"/>
          </a:p>
          <a:p>
            <a:pPr indent="0" marL="0">
              <a:buNone/>
            </a:pPr>
            <a:r>
              <a:rPr lang="en-US" sz="1500" dirty="0">
                <a:solidFill>
                  <a:schemeClr val="tx1"/>
                </a:solidFill>
              </a:rPr>
              <a:t>no disease (54%)</a:t>
            </a:r>
            <a:endParaRPr lang="en-US" sz="1500" dirty="0"/>
          </a:p>
        </p:txBody>
      </p:sp>
      <p:sp>
        <p:nvSpPr>
          <p:cNvPr id="6" name="Shape 4"/>
          <p:cNvSpPr/>
          <p:nvPr/>
        </p:nvSpPr>
        <p:spPr>
          <a:xfrm>
            <a:off x="548640" y="3840480"/>
            <a:ext cx="1915713" cy="640080"/>
          </a:xfrm>
          <a:prstGeom prst="rect">
            <a:avLst/>
          </a:prstGeom>
          <a:solidFill>
            <a:schemeClr val="accent1"/>
          </a:solidFill>
          <a:ln/>
        </p:spPr>
      </p:sp>
      <p:sp>
        <p:nvSpPr>
          <p:cNvPr id="7" name="Shape 5"/>
          <p:cNvSpPr/>
          <p:nvPr/>
        </p:nvSpPr>
        <p:spPr>
          <a:xfrm>
            <a:off x="2464353" y="3840480"/>
            <a:ext cx="2290527" cy="640080"/>
          </a:xfrm>
          <a:prstGeom prst="rect">
            <a:avLst/>
          </a:prstGeom>
          <a:solidFill>
            <a:schemeClr val="accent2"/>
          </a:solidFill>
          <a:ln w="25400">
            <a:solidFill>
              <a:schemeClr val="bg1"/>
            </a:solidFill>
            <a:prstDash val="solid"/>
          </a:ln>
        </p:spPr>
      </p:sp>
      <p:sp>
        <p:nvSpPr>
          <p:cNvPr id="8" name="Text 6"/>
          <p:cNvSpPr txBox="1"/>
          <p:nvPr/>
        </p:nvSpPr>
        <p:spPr>
          <a:xfrm>
            <a:off x="548640" y="4572000"/>
            <a:ext cx="4206240" cy="320040"/>
          </a:xfrm>
          <a:prstGeom prst="rect">
            <a:avLst/>
          </a:prstGeom>
          <a:noFill/>
          <a:ln/>
        </p:spPr>
        <p:txBody>
          <a:bodyPr wrap="square" lIns="0" tIns="0" rIns="0" bIns="0" rtlCol="0" anchor="t"/>
          <a:lstStyle/>
          <a:p>
            <a:pPr indent="0" marL="0">
              <a:buNone/>
            </a:pPr>
            <a:r>
              <a:rPr lang="en-US" sz="1300" dirty="0">
                <a:solidFill>
                  <a:schemeClr val="accent4"/>
                </a:solidFill>
              </a:rPr>
              <a:t>303 patients</a:t>
            </a:r>
            <a:endParaRPr lang="en-US" sz="1300" dirty="0"/>
          </a:p>
        </p:txBody>
      </p:sp>
      <p:sp>
        <p:nvSpPr>
          <p:cNvPr id="9" name="Text 7"/>
          <p:cNvSpPr txBox="1"/>
          <p:nvPr/>
        </p:nvSpPr>
        <p:spPr>
          <a:xfrm>
            <a:off x="548640" y="5577840"/>
            <a:ext cx="4206240" cy="594360"/>
          </a:xfrm>
          <a:prstGeom prst="rect">
            <a:avLst/>
          </a:prstGeom>
          <a:noFill/>
          <a:ln/>
        </p:spPr>
        <p:txBody>
          <a:bodyPr wrap="square" lIns="0" tIns="0" rIns="0" bIns="0" rtlCol="0" anchor="t"/>
          <a:lstStyle/>
          <a:p>
            <a:pPr indent="0" marL="0">
              <a:buNone/>
            </a:pPr>
            <a:r>
              <a:rPr lang="en-US" sz="1400" i="1" dirty="0">
                <a:solidFill>
                  <a:schemeClr val="accent4"/>
                </a:solidFill>
              </a:rPr>
              <a:t>Mildly imbalanced, so we use stratified folds and class weighting.</a:t>
            </a:r>
            <a:endParaRPr lang="en-US" sz="1400" dirty="0"/>
          </a:p>
        </p:txBody>
      </p:sp>
      <p:sp>
        <p:nvSpPr>
          <p:cNvPr id="10" name="Shape 8"/>
          <p:cNvSpPr/>
          <p:nvPr/>
        </p:nvSpPr>
        <p:spPr>
          <a:xfrm>
            <a:off x="5212080" y="1371600"/>
            <a:ext cx="6400800" cy="1234440"/>
          </a:xfrm>
          <a:prstGeom prst="roundRect">
            <a:avLst>
              <a:gd name="adj" fmla="val 8889"/>
            </a:avLst>
          </a:prstGeom>
          <a:solidFill>
            <a:schemeClr val="bg2"/>
          </a:solidFill>
          <a:ln/>
        </p:spPr>
      </p:sp>
      <p:sp>
        <p:nvSpPr>
          <p:cNvPr id="11" name="Shape 9"/>
          <p:cNvSpPr/>
          <p:nvPr/>
        </p:nvSpPr>
        <p:spPr>
          <a:xfrm>
            <a:off x="5440680" y="1645920"/>
            <a:ext cx="685800" cy="685800"/>
          </a:xfrm>
          <a:prstGeom prst="ellipse">
            <a:avLst/>
          </a:prstGeom>
          <a:solidFill>
            <a:schemeClr val="accent2"/>
          </a:solidFill>
          <a:ln/>
        </p:spPr>
      </p:sp>
      <p:pic>
        <p:nvPicPr>
          <p:cNvPr id="12" name="Image 0" descr="preencoded.png">    </p:cNvPr>
          <p:cNvPicPr>
            <a:picLocks noChangeAspect="1"/>
          </p:cNvPicPr>
          <p:nvPr/>
        </p:nvPicPr>
        <p:blipFill>
          <a:blip r:embed="rId1"/>
          <a:stretch>
            <a:fillRect/>
          </a:stretch>
        </p:blipFill>
        <p:spPr>
          <a:xfrm>
            <a:off x="5605272" y="1810512"/>
            <a:ext cx="356616" cy="356616"/>
          </a:xfrm>
          <a:prstGeom prst="rect">
            <a:avLst/>
          </a:prstGeom>
        </p:spPr>
      </p:pic>
      <p:sp>
        <p:nvSpPr>
          <p:cNvPr id="13" name="Text 10"/>
          <p:cNvSpPr txBox="1"/>
          <p:nvPr/>
        </p:nvSpPr>
        <p:spPr>
          <a:xfrm>
            <a:off x="6355080" y="1554480"/>
            <a:ext cx="5029200" cy="365760"/>
          </a:xfrm>
          <a:prstGeom prst="rect">
            <a:avLst/>
          </a:prstGeom>
          <a:noFill/>
          <a:ln/>
        </p:spPr>
        <p:txBody>
          <a:bodyPr wrap="square" lIns="0" tIns="0" rIns="0" bIns="0" rtlCol="0" anchor="t"/>
          <a:lstStyle/>
          <a:p>
            <a:pPr indent="0" marL="0">
              <a:buNone/>
            </a:pPr>
            <a:r>
              <a:rPr lang="en-US" sz="1800" b="1" dirty="0">
                <a:solidFill>
                  <a:schemeClr val="tx2"/>
                </a:solidFill>
              </a:rPr>
              <a:t>5 continuous  →  scaled</a:t>
            </a:r>
            <a:endParaRPr lang="en-US" sz="1800" dirty="0"/>
          </a:p>
        </p:txBody>
      </p:sp>
      <p:sp>
        <p:nvSpPr>
          <p:cNvPr id="14" name="Text 11"/>
          <p:cNvSpPr txBox="1"/>
          <p:nvPr/>
        </p:nvSpPr>
        <p:spPr>
          <a:xfrm>
            <a:off x="6355080" y="1965960"/>
            <a:ext cx="5029200" cy="548640"/>
          </a:xfrm>
          <a:prstGeom prst="rect">
            <a:avLst/>
          </a:prstGeom>
          <a:noFill/>
          <a:ln/>
        </p:spPr>
        <p:txBody>
          <a:bodyPr wrap="square" lIns="0" tIns="0" rIns="0" bIns="0" rtlCol="0" anchor="t"/>
          <a:lstStyle/>
          <a:p>
            <a:pPr indent="0" marL="0">
              <a:buNone/>
            </a:pPr>
            <a:r>
              <a:rPr lang="en-US" sz="1400" dirty="0">
                <a:solidFill>
                  <a:schemeClr val="tx1"/>
                </a:solidFill>
              </a:rPr>
              <a:t>age · resting blood pressure · cholesterol · max heart rate · ST depression</a:t>
            </a:r>
            <a:endParaRPr lang="en-US" sz="1400" dirty="0"/>
          </a:p>
        </p:txBody>
      </p:sp>
      <p:sp>
        <p:nvSpPr>
          <p:cNvPr id="15" name="Shape 12"/>
          <p:cNvSpPr/>
          <p:nvPr/>
        </p:nvSpPr>
        <p:spPr>
          <a:xfrm>
            <a:off x="5212080" y="2788920"/>
            <a:ext cx="6400800" cy="1234440"/>
          </a:xfrm>
          <a:prstGeom prst="roundRect">
            <a:avLst>
              <a:gd name="adj" fmla="val 8889"/>
            </a:avLst>
          </a:prstGeom>
          <a:solidFill>
            <a:schemeClr val="bg2"/>
          </a:solidFill>
          <a:ln/>
        </p:spPr>
      </p:sp>
      <p:sp>
        <p:nvSpPr>
          <p:cNvPr id="16" name="Shape 13"/>
          <p:cNvSpPr/>
          <p:nvPr/>
        </p:nvSpPr>
        <p:spPr>
          <a:xfrm>
            <a:off x="5440680" y="3063240"/>
            <a:ext cx="685800" cy="685800"/>
          </a:xfrm>
          <a:prstGeom prst="ellipse">
            <a:avLst/>
          </a:prstGeom>
          <a:solidFill>
            <a:schemeClr val="accent3"/>
          </a:solidFill>
          <a:ln/>
        </p:spPr>
      </p:sp>
      <p:pic>
        <p:nvPicPr>
          <p:cNvPr id="17" name="Image 1" descr="preencoded.png">    </p:cNvPr>
          <p:cNvPicPr>
            <a:picLocks noChangeAspect="1"/>
          </p:cNvPicPr>
          <p:nvPr/>
        </p:nvPicPr>
        <p:blipFill>
          <a:blip r:embed="rId2"/>
          <a:stretch>
            <a:fillRect/>
          </a:stretch>
        </p:blipFill>
        <p:spPr>
          <a:xfrm>
            <a:off x="5605272" y="3227832"/>
            <a:ext cx="356616" cy="356616"/>
          </a:xfrm>
          <a:prstGeom prst="rect">
            <a:avLst/>
          </a:prstGeom>
        </p:spPr>
      </p:pic>
      <p:sp>
        <p:nvSpPr>
          <p:cNvPr id="18" name="Text 14"/>
          <p:cNvSpPr txBox="1"/>
          <p:nvPr/>
        </p:nvSpPr>
        <p:spPr>
          <a:xfrm>
            <a:off x="6355080" y="2971800"/>
            <a:ext cx="5029200" cy="365760"/>
          </a:xfrm>
          <a:prstGeom prst="rect">
            <a:avLst/>
          </a:prstGeom>
          <a:noFill/>
          <a:ln/>
        </p:spPr>
        <p:txBody>
          <a:bodyPr wrap="square" lIns="0" tIns="0" rIns="0" bIns="0" rtlCol="0" anchor="t"/>
          <a:lstStyle/>
          <a:p>
            <a:pPr indent="0" marL="0">
              <a:buNone/>
            </a:pPr>
            <a:r>
              <a:rPr lang="en-US" sz="1800" b="1" dirty="0">
                <a:solidFill>
                  <a:schemeClr val="tx2"/>
                </a:solidFill>
              </a:rPr>
              <a:t>3 binary  →  kept as 0 / 1</a:t>
            </a:r>
            <a:endParaRPr lang="en-US" sz="1800" dirty="0"/>
          </a:p>
        </p:txBody>
      </p:sp>
      <p:sp>
        <p:nvSpPr>
          <p:cNvPr id="19" name="Text 15"/>
          <p:cNvSpPr txBox="1"/>
          <p:nvPr/>
        </p:nvSpPr>
        <p:spPr>
          <a:xfrm>
            <a:off x="6355080" y="3383280"/>
            <a:ext cx="5029200" cy="548640"/>
          </a:xfrm>
          <a:prstGeom prst="rect">
            <a:avLst/>
          </a:prstGeom>
          <a:noFill/>
          <a:ln/>
        </p:spPr>
        <p:txBody>
          <a:bodyPr wrap="square" lIns="0" tIns="0" rIns="0" bIns="0" rtlCol="0" anchor="t"/>
          <a:lstStyle/>
          <a:p>
            <a:pPr indent="0" marL="0">
              <a:buNone/>
            </a:pPr>
            <a:r>
              <a:rPr lang="en-US" sz="1400" dirty="0">
                <a:solidFill>
                  <a:schemeClr val="tx1"/>
                </a:solidFill>
              </a:rPr>
              <a:t>sex · fasting blood sugar · exercise-induced angina</a:t>
            </a:r>
            <a:endParaRPr lang="en-US" sz="1400" dirty="0"/>
          </a:p>
        </p:txBody>
      </p:sp>
      <p:sp>
        <p:nvSpPr>
          <p:cNvPr id="20" name="Shape 16"/>
          <p:cNvSpPr/>
          <p:nvPr/>
        </p:nvSpPr>
        <p:spPr>
          <a:xfrm>
            <a:off x="5212080" y="4206240"/>
            <a:ext cx="6400800" cy="1234440"/>
          </a:xfrm>
          <a:prstGeom prst="roundRect">
            <a:avLst>
              <a:gd name="adj" fmla="val 8889"/>
            </a:avLst>
          </a:prstGeom>
          <a:solidFill>
            <a:schemeClr val="bg2"/>
          </a:solidFill>
          <a:ln/>
        </p:spPr>
      </p:sp>
      <p:sp>
        <p:nvSpPr>
          <p:cNvPr id="21" name="Shape 17"/>
          <p:cNvSpPr/>
          <p:nvPr/>
        </p:nvSpPr>
        <p:spPr>
          <a:xfrm>
            <a:off x="5440680" y="4480560"/>
            <a:ext cx="685800" cy="685800"/>
          </a:xfrm>
          <a:prstGeom prst="ellipse">
            <a:avLst/>
          </a:prstGeom>
          <a:solidFill>
            <a:schemeClr val="accent1"/>
          </a:solidFill>
          <a:ln/>
        </p:spPr>
      </p:sp>
      <p:pic>
        <p:nvPicPr>
          <p:cNvPr id="22" name="Image 2" descr="preencoded.png">    </p:cNvPr>
          <p:cNvPicPr>
            <a:picLocks noChangeAspect="1"/>
          </p:cNvPicPr>
          <p:nvPr/>
        </p:nvPicPr>
        <p:blipFill>
          <a:blip r:embed="rId3"/>
          <a:stretch>
            <a:fillRect/>
          </a:stretch>
        </p:blipFill>
        <p:spPr>
          <a:xfrm>
            <a:off x="5605272" y="4645152"/>
            <a:ext cx="356616" cy="356616"/>
          </a:xfrm>
          <a:prstGeom prst="rect">
            <a:avLst/>
          </a:prstGeom>
        </p:spPr>
      </p:pic>
      <p:sp>
        <p:nvSpPr>
          <p:cNvPr id="23" name="Text 18"/>
          <p:cNvSpPr txBox="1"/>
          <p:nvPr/>
        </p:nvSpPr>
        <p:spPr>
          <a:xfrm>
            <a:off x="6355080" y="4389120"/>
            <a:ext cx="5029200" cy="365760"/>
          </a:xfrm>
          <a:prstGeom prst="rect">
            <a:avLst/>
          </a:prstGeom>
          <a:noFill/>
          <a:ln/>
        </p:spPr>
        <p:txBody>
          <a:bodyPr wrap="square" lIns="0" tIns="0" rIns="0" bIns="0" rtlCol="0" anchor="t"/>
          <a:lstStyle/>
          <a:p>
            <a:pPr indent="0" marL="0">
              <a:buNone/>
            </a:pPr>
            <a:r>
              <a:rPr lang="en-US" sz="1800" b="1" dirty="0">
                <a:solidFill>
                  <a:schemeClr val="tx2"/>
                </a:solidFill>
              </a:rPr>
              <a:t>5 categorical  →  one-hot encoded</a:t>
            </a:r>
            <a:endParaRPr lang="en-US" sz="1800" dirty="0"/>
          </a:p>
        </p:txBody>
      </p:sp>
      <p:sp>
        <p:nvSpPr>
          <p:cNvPr id="24" name="Text 19"/>
          <p:cNvSpPr txBox="1"/>
          <p:nvPr/>
        </p:nvSpPr>
        <p:spPr>
          <a:xfrm>
            <a:off x="6355080" y="4800600"/>
            <a:ext cx="5029200" cy="548640"/>
          </a:xfrm>
          <a:prstGeom prst="rect">
            <a:avLst/>
          </a:prstGeom>
          <a:noFill/>
          <a:ln/>
        </p:spPr>
        <p:txBody>
          <a:bodyPr wrap="square" lIns="0" tIns="0" rIns="0" bIns="0" rtlCol="0" anchor="t"/>
          <a:lstStyle/>
          <a:p>
            <a:pPr indent="0" marL="0">
              <a:buNone/>
            </a:pPr>
            <a:r>
              <a:rPr lang="en-US" sz="1400" dirty="0">
                <a:solidFill>
                  <a:schemeClr val="tx1"/>
                </a:solidFill>
              </a:rPr>
              <a:t>chest pain type · resting ECG · ST slope · vessels coloured · thal</a:t>
            </a:r>
            <a:endParaRPr lang="en-US" sz="1400" dirty="0"/>
          </a:p>
        </p:txBody>
      </p:sp>
      <p:sp>
        <p:nvSpPr>
          <p:cNvPr id="25" name="Text 20"/>
          <p:cNvSpPr txBox="1"/>
          <p:nvPr/>
        </p:nvSpPr>
        <p:spPr>
          <a:xfrm>
            <a:off x="5212080" y="5669280"/>
            <a:ext cx="6400800" cy="548640"/>
          </a:xfrm>
          <a:prstGeom prst="rect">
            <a:avLst/>
          </a:prstGeom>
          <a:noFill/>
          <a:ln/>
        </p:spPr>
        <p:txBody>
          <a:bodyPr wrap="square" lIns="0" tIns="0" rIns="0" bIns="0" rtlCol="0" anchor="t"/>
          <a:lstStyle/>
          <a:p>
            <a:pPr indent="0" marL="0">
              <a:buNone/>
            </a:pPr>
            <a:r>
              <a:rPr lang="en-US" sz="1400" b="1" dirty="0">
                <a:solidFill>
                  <a:schemeClr val="tx2"/>
                </a:solidFill>
              </a:rPr>
              <a:t>Why one-hot? </a:t>
            </a:r>
            <a:pPr indent="0" marL="0">
              <a:buNone/>
            </a:pPr>
            <a:r>
              <a:rPr lang="en-US" sz="1400" dirty="0">
                <a:solidFill>
                  <a:schemeClr val="tx1"/>
                </a:solidFill>
              </a:rPr>
              <a:t>Chest pain type 3 is not "more" than type 1. It is a category, not a number.</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chemeClr val="tx2"/>
                </a:solidFill>
              </a:rPr>
              <a:t>Data quality: we found the labels were inverted</a:t>
            </a:r>
            <a:endParaRPr lang="en-US" sz="3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914400"/>
        </p:xfrm>
        <a:graphic>
          <a:graphicData uri="http://schemas.openxmlformats.org/drawingml/2006/table">
            <a:tbl>
              <a:tblPr/>
              <a:tblGrid>
                <a:gridCol w="2377440"/>
                <a:gridCol w="1737360"/>
                <a:gridCol w="1417320"/>
                <a:gridCol w="1417320"/>
              </a:tblGrid>
              <a:tr h="566928">
                <a:tc>
                  <a:txBody>
                    <a:bodyPr/>
                    <a:lstStyle/>
                    <a:p>
                      <a:pPr algn="l" indent="0" marL="0">
                        <a:buNone/>
                      </a:pPr>
                      <a:r>
                        <a:rPr lang="en-US" sz="1500" b="1" dirty="0">
                          <a:solidFill>
                            <a:schemeClr val="bg1"/>
                          </a:solidFill>
                        </a:rPr>
                        <a:t>Clinical sign</a:t>
                      </a:r>
                      <a:endParaRPr lang="en-US" sz="15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Expected with disease</a:t>
                      </a:r>
                      <a:endParaRPr lang="en-US" sz="15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CSV target = 0</a:t>
                      </a:r>
                      <a:endParaRPr lang="en-US" sz="15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accent1"/>
                    </a:solidFill>
                  </a:tcPr>
                </a:tc>
                <a:tc>
                  <a:txBody>
                    <a:bodyPr/>
                    <a:lstStyle/>
                    <a:p>
                      <a:pPr algn="l" indent="0" marL="0">
                        <a:buNone/>
                      </a:pPr>
                      <a:r>
                        <a:rPr lang="en-US" sz="1500" b="1" dirty="0">
                          <a:solidFill>
                            <a:schemeClr val="bg1"/>
                          </a:solidFill>
                        </a:rPr>
                        <a:t>CSV target = 1</a:t>
                      </a:r>
                      <a:endParaRPr lang="en-US" sz="15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tx2"/>
                    </a:solidFill>
                  </a:tcPr>
                </a:tc>
              </a:tr>
              <a:tr h="566928">
                <a:tc>
                  <a:txBody>
                    <a:bodyPr/>
                    <a:lstStyle/>
                    <a:p>
                      <a:pPr algn="l" indent="0" marL="0">
                        <a:buNone/>
                      </a:pPr>
                      <a:r>
                        <a:rPr lang="en-US" sz="1500" dirty="0">
                          <a:solidFill>
                            <a:schemeClr val="tx1"/>
                          </a:solidFill>
                        </a:rPr>
                        <a:t>Exercise-induced angina</a:t>
                      </a:r>
                      <a:endParaRPr lang="en-US" sz="15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accent4"/>
                          </a:solidFill>
                        </a:rPr>
                        <a:t>higher</a:t>
                      </a:r>
                      <a:endParaRPr lang="en-US" sz="15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bg1"/>
                    </a:solidFill>
                  </a:tcPr>
                </a:tc>
                <a:tc>
                  <a:txBody>
                    <a:bodyPr/>
                    <a:lstStyle/>
                    <a:p>
                      <a:pPr algn="l" indent="0" marL="0">
                        <a:buNone/>
                      </a:pPr>
                      <a:r>
                        <a:rPr lang="en-US" sz="1500" b="1" dirty="0">
                          <a:solidFill>
                            <a:schemeClr val="accent1"/>
                          </a:solidFill>
                        </a:rPr>
                        <a:t>55%</a:t>
                      </a:r>
                      <a:endParaRPr lang="en-US" sz="15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accent6"/>
                    </a:solidFill>
                  </a:tcPr>
                </a:tc>
                <a:tc>
                  <a:txBody>
                    <a:bodyPr/>
                    <a:lstStyle/>
                    <a:p>
                      <a:pPr algn="l" indent="0" marL="0">
                        <a:buNone/>
                      </a:pPr>
                      <a:r>
                        <a:rPr lang="en-US" sz="1500" dirty="0">
                          <a:solidFill>
                            <a:schemeClr val="tx1"/>
                          </a:solidFill>
                        </a:rPr>
                        <a:t>14%</a:t>
                      </a:r>
                      <a:endParaRPr lang="en-US" sz="15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bg1"/>
                    </a:solidFill>
                  </a:tcPr>
                </a:tc>
              </a:tr>
              <a:tr h="566928">
                <a:tc>
                  <a:txBody>
                    <a:bodyPr/>
                    <a:lstStyle/>
                    <a:p>
                      <a:pPr algn="l" indent="0" marL="0">
                        <a:buNone/>
                      </a:pPr>
                      <a:r>
                        <a:rPr lang="en-US" sz="1500" dirty="0">
                          <a:solidFill>
                            <a:schemeClr val="tx1"/>
                          </a:solidFill>
                        </a:rPr>
                        <a:t>ST depression (mm)</a:t>
                      </a:r>
                      <a:endParaRPr lang="en-US" sz="15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accent4"/>
                          </a:solidFill>
                        </a:rPr>
                        <a:t>higher</a:t>
                      </a:r>
                      <a:endParaRPr lang="en-US" sz="15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bg1"/>
                    </a:solidFill>
                  </a:tcPr>
                </a:tc>
                <a:tc>
                  <a:txBody>
                    <a:bodyPr/>
                    <a:lstStyle/>
                    <a:p>
                      <a:pPr algn="l" indent="0" marL="0">
                        <a:buNone/>
                      </a:pPr>
                      <a:r>
                        <a:rPr lang="en-US" sz="1500" b="1" dirty="0">
                          <a:solidFill>
                            <a:schemeClr val="accent1"/>
                          </a:solidFill>
                        </a:rPr>
                        <a:t>1.59</a:t>
                      </a:r>
                      <a:endParaRPr lang="en-US" sz="15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accent6"/>
                    </a:solidFill>
                  </a:tcPr>
                </a:tc>
                <a:tc>
                  <a:txBody>
                    <a:bodyPr/>
                    <a:lstStyle/>
                    <a:p>
                      <a:pPr algn="l" indent="0" marL="0">
                        <a:buNone/>
                      </a:pPr>
                      <a:r>
                        <a:rPr lang="en-US" sz="1500" dirty="0">
                          <a:solidFill>
                            <a:schemeClr val="tx1"/>
                          </a:solidFill>
                        </a:rPr>
                        <a:t>0.58</a:t>
                      </a:r>
                      <a:endParaRPr lang="en-US" sz="15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bg1"/>
                    </a:solidFill>
                  </a:tcPr>
                </a:tc>
              </a:tr>
              <a:tr h="566928">
                <a:tc>
                  <a:txBody>
                    <a:bodyPr/>
                    <a:lstStyle/>
                    <a:p>
                      <a:pPr algn="l" indent="0" marL="0">
                        <a:buNone/>
                      </a:pPr>
                      <a:r>
                        <a:rPr lang="en-US" sz="1500" dirty="0">
                          <a:solidFill>
                            <a:schemeClr val="tx1"/>
                          </a:solidFill>
                        </a:rPr>
                        <a:t>Major vessels coloured</a:t>
                      </a:r>
                      <a:endParaRPr lang="en-US" sz="15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accent4"/>
                          </a:solidFill>
                        </a:rPr>
                        <a:t>higher</a:t>
                      </a:r>
                      <a:endParaRPr lang="en-US" sz="15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bg1"/>
                    </a:solidFill>
                  </a:tcPr>
                </a:tc>
                <a:tc>
                  <a:txBody>
                    <a:bodyPr/>
                    <a:lstStyle/>
                    <a:p>
                      <a:pPr algn="l" indent="0" marL="0">
                        <a:buNone/>
                      </a:pPr>
                      <a:r>
                        <a:rPr lang="en-US" sz="1500" b="1" dirty="0">
                          <a:solidFill>
                            <a:schemeClr val="accent1"/>
                          </a:solidFill>
                        </a:rPr>
                        <a:t>1.17</a:t>
                      </a:r>
                      <a:endParaRPr lang="en-US" sz="15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accent6"/>
                    </a:solidFill>
                  </a:tcPr>
                </a:tc>
                <a:tc>
                  <a:txBody>
                    <a:bodyPr/>
                    <a:lstStyle/>
                    <a:p>
                      <a:pPr algn="l" indent="0" marL="0">
                        <a:buNone/>
                      </a:pPr>
                      <a:r>
                        <a:rPr lang="en-US" sz="1500" dirty="0">
                          <a:solidFill>
                            <a:schemeClr val="tx1"/>
                          </a:solidFill>
                        </a:rPr>
                        <a:t>0.36</a:t>
                      </a:r>
                      <a:endParaRPr lang="en-US" sz="15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bg1"/>
                    </a:solidFill>
                  </a:tcPr>
                </a:tc>
              </a:tr>
              <a:tr h="566928">
                <a:tc>
                  <a:txBody>
                    <a:bodyPr/>
                    <a:lstStyle/>
                    <a:p>
                      <a:pPr algn="l" indent="0" marL="0">
                        <a:buNone/>
                      </a:pPr>
                      <a:r>
                        <a:rPr lang="en-US" sz="1500" dirty="0">
                          <a:solidFill>
                            <a:schemeClr val="tx1"/>
                          </a:solidFill>
                        </a:rPr>
                        <a:t>Max heart rate (bpm)</a:t>
                      </a:r>
                      <a:endParaRPr lang="en-US" sz="15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accent4"/>
                          </a:solidFill>
                        </a:rPr>
                        <a:t>lower</a:t>
                      </a:r>
                      <a:endParaRPr lang="en-US" sz="15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bg1"/>
                    </a:solidFill>
                  </a:tcPr>
                </a:tc>
                <a:tc>
                  <a:txBody>
                    <a:bodyPr/>
                    <a:lstStyle/>
                    <a:p>
                      <a:pPr algn="l" indent="0" marL="0">
                        <a:buNone/>
                      </a:pPr>
                      <a:r>
                        <a:rPr lang="en-US" sz="1500" b="1" dirty="0">
                          <a:solidFill>
                            <a:schemeClr val="accent1"/>
                          </a:solidFill>
                        </a:rPr>
                        <a:t>139</a:t>
                      </a:r>
                      <a:endParaRPr lang="en-US" sz="15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accent6"/>
                    </a:solidFill>
                  </a:tcPr>
                </a:tc>
                <a:tc>
                  <a:txBody>
                    <a:bodyPr/>
                    <a:lstStyle/>
                    <a:p>
                      <a:pPr algn="l" indent="0" marL="0">
                        <a:buNone/>
                      </a:pPr>
                      <a:r>
                        <a:rPr lang="en-US" sz="1500" dirty="0">
                          <a:solidFill>
                            <a:schemeClr val="tx1"/>
                          </a:solidFill>
                        </a:rPr>
                        <a:t>158</a:t>
                      </a:r>
                      <a:endParaRPr lang="en-US" sz="1500" dirty="0"/>
                    </a:p>
                  </a:txBody>
                  <a:tcPr marL="109728" marR="109728" marT="45720" marB="45720"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4526280"/>
            <a:ext cx="6949440" cy="640080"/>
          </a:xfrm>
          <a:prstGeom prst="rect">
            <a:avLst/>
          </a:prstGeom>
          <a:noFill/>
          <a:ln/>
        </p:spPr>
        <p:txBody>
          <a:bodyPr wrap="square" lIns="0" tIns="0" rIns="0" bIns="0" rtlCol="0" anchor="t"/>
          <a:lstStyle/>
          <a:p>
            <a:pPr indent="0" marL="0">
              <a:buNone/>
            </a:pPr>
            <a:r>
              <a:rPr lang="en-US" sz="1600" i="1" dirty="0">
                <a:solidFill>
                  <a:schemeClr val="tx2"/>
                </a:solidFill>
              </a:rPr>
              <a:t>The group the CSV calls "no disease" (target = 0) shows every sign of disease.</a:t>
            </a:r>
            <a:endParaRPr lang="en-US" sz="1600" dirty="0"/>
          </a:p>
        </p:txBody>
      </p:sp>
      <p:sp>
        <p:nvSpPr>
          <p:cNvPr id="5" name="Text 2"/>
          <p:cNvSpPr txBox="1"/>
          <p:nvPr/>
        </p:nvSpPr>
        <p:spPr>
          <a:xfrm>
            <a:off x="548640" y="5257800"/>
            <a:ext cx="6949440" cy="640080"/>
          </a:xfrm>
          <a:prstGeom prst="rect">
            <a:avLst/>
          </a:prstGeom>
          <a:noFill/>
          <a:ln/>
        </p:spPr>
        <p:txBody>
          <a:bodyPr wrap="square" lIns="0" tIns="0" rIns="0" bIns="0" rtlCol="0" anchor="t"/>
          <a:lstStyle/>
          <a:p>
            <a:pPr indent="0" marL="0">
              <a:buNone/>
            </a:pPr>
            <a:r>
              <a:rPr lang="en-US" sz="1500" dirty="0">
                <a:solidFill>
                  <a:schemeClr val="tx1"/>
                </a:solidFill>
              </a:rPr>
              <a:t>Also: 165 rows have target = 1, matching the 164 healthy patients in the original UCI data.</a:t>
            </a:r>
            <a:endParaRPr lang="en-US" sz="1500" dirty="0"/>
          </a:p>
        </p:txBody>
      </p:sp>
      <p:sp>
        <p:nvSpPr>
          <p:cNvPr id="6" name="Shape 3"/>
          <p:cNvSpPr/>
          <p:nvPr/>
        </p:nvSpPr>
        <p:spPr>
          <a:xfrm>
            <a:off x="7863840" y="1371600"/>
            <a:ext cx="3749040" cy="2240280"/>
          </a:xfrm>
          <a:prstGeom prst="roundRect">
            <a:avLst>
              <a:gd name="adj" fmla="val 4898"/>
            </a:avLst>
          </a:prstGeom>
          <a:solidFill>
            <a:schemeClr val="accent1"/>
          </a:solidFill>
          <a:ln/>
        </p:spPr>
      </p:sp>
      <p:sp>
        <p:nvSpPr>
          <p:cNvPr id="7" name="Text 4"/>
          <p:cNvSpPr txBox="1"/>
          <p:nvPr/>
        </p:nvSpPr>
        <p:spPr>
          <a:xfrm>
            <a:off x="8138160" y="1554480"/>
            <a:ext cx="3200400" cy="365760"/>
          </a:xfrm>
          <a:prstGeom prst="rect">
            <a:avLst/>
          </a:prstGeom>
          <a:noFill/>
          <a:ln/>
        </p:spPr>
        <p:txBody>
          <a:bodyPr wrap="square" lIns="0" tIns="0" rIns="0" bIns="0" rtlCol="0" anchor="t"/>
          <a:lstStyle/>
          <a:p>
            <a:pPr indent="0" marL="0">
              <a:buNone/>
            </a:pPr>
            <a:r>
              <a:rPr lang="en-US" sz="1400" b="1" dirty="0">
                <a:solidFill>
                  <a:schemeClr val="bg1"/>
                </a:solidFill>
              </a:rPr>
              <a:t>Fix</a:t>
            </a:r>
            <a:endParaRPr lang="en-US" sz="1400" dirty="0"/>
          </a:p>
        </p:txBody>
      </p:sp>
      <p:sp>
        <p:nvSpPr>
          <p:cNvPr id="8" name="Text 5"/>
          <p:cNvSpPr txBox="1"/>
          <p:nvPr/>
        </p:nvSpPr>
        <p:spPr>
          <a:xfrm>
            <a:off x="8138160" y="1920240"/>
            <a:ext cx="3200400" cy="54864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disease = 1 − target</a:t>
            </a:r>
            <a:endParaRPr lang="en-US" sz="2400" dirty="0"/>
          </a:p>
        </p:txBody>
      </p:sp>
      <p:sp>
        <p:nvSpPr>
          <p:cNvPr id="9" name="Text 6"/>
          <p:cNvSpPr txBox="1"/>
          <p:nvPr/>
        </p:nvSpPr>
        <p:spPr>
          <a:xfrm>
            <a:off x="8138160" y="2560320"/>
            <a:ext cx="3200400" cy="868680"/>
          </a:xfrm>
          <a:prstGeom prst="rect">
            <a:avLst/>
          </a:prstGeom>
          <a:noFill/>
          <a:ln/>
        </p:spPr>
        <p:txBody>
          <a:bodyPr wrap="square" lIns="0" tIns="0" rIns="0" bIns="0" rtlCol="0" anchor="t"/>
          <a:lstStyle/>
          <a:p>
            <a:pPr indent="0" marL="0">
              <a:buNone/>
            </a:pPr>
            <a:r>
              <a:rPr lang="en-US" sz="1400" dirty="0">
                <a:solidFill>
                  <a:schemeClr val="bg1"/>
                </a:solidFill>
              </a:rPr>
              <a:t>Without it, "recall" would measure how well we find healthy people.</a:t>
            </a:r>
            <a:endParaRPr lang="en-US" sz="1400" dirty="0"/>
          </a:p>
        </p:txBody>
      </p:sp>
      <p:sp>
        <p:nvSpPr>
          <p:cNvPr id="10" name="Shape 7"/>
          <p:cNvSpPr/>
          <p:nvPr/>
        </p:nvSpPr>
        <p:spPr>
          <a:xfrm>
            <a:off x="7863840" y="3840480"/>
            <a:ext cx="3749040" cy="2331720"/>
          </a:xfrm>
          <a:prstGeom prst="roundRect">
            <a:avLst>
              <a:gd name="adj" fmla="val 4706"/>
            </a:avLst>
          </a:prstGeom>
          <a:solidFill>
            <a:schemeClr val="bg2"/>
          </a:solidFill>
          <a:ln/>
        </p:spPr>
      </p:sp>
      <p:sp>
        <p:nvSpPr>
          <p:cNvPr id="11" name="Text 8"/>
          <p:cNvSpPr txBox="1"/>
          <p:nvPr/>
        </p:nvSpPr>
        <p:spPr>
          <a:xfrm>
            <a:off x="8138160" y="4023360"/>
            <a:ext cx="3200400" cy="365760"/>
          </a:xfrm>
          <a:prstGeom prst="rect">
            <a:avLst/>
          </a:prstGeom>
          <a:noFill/>
          <a:ln/>
        </p:spPr>
        <p:txBody>
          <a:bodyPr wrap="square" lIns="0" tIns="0" rIns="0" bIns="0" rtlCol="0" anchor="t"/>
          <a:lstStyle/>
          <a:p>
            <a:pPr indent="0" marL="0">
              <a:buNone/>
            </a:pPr>
            <a:r>
              <a:rPr lang="en-US" sz="1400" b="1" dirty="0">
                <a:solidFill>
                  <a:schemeClr val="tx2"/>
                </a:solidFill>
              </a:rPr>
              <a:t>Invalid codes</a:t>
            </a:r>
            <a:endParaRPr lang="en-US" sz="1400" dirty="0"/>
          </a:p>
        </p:txBody>
      </p:sp>
      <p:sp>
        <p:nvSpPr>
          <p:cNvPr id="12" name="Text 9"/>
          <p:cNvSpPr txBox="1"/>
          <p:nvPr/>
        </p:nvSpPr>
        <p:spPr>
          <a:xfrm>
            <a:off x="8138160" y="4389120"/>
            <a:ext cx="3200400" cy="1645920"/>
          </a:xfrm>
          <a:prstGeom prst="rect">
            <a:avLst/>
          </a:prstGeom>
          <a:noFill/>
          <a:ln/>
        </p:spPr>
        <p:txBody>
          <a:bodyPr wrap="square" lIns="0" tIns="0" rIns="0" bIns="0" rtlCol="0" anchor="t"/>
          <a:lstStyle/>
          <a:p>
            <a:pPr indent="0" marL="0">
              <a:buNone/>
            </a:pPr>
            <a:r>
              <a:rPr lang="en-US" sz="1400" dirty="0">
                <a:solidFill>
                  <a:schemeClr val="tx1"/>
                </a:solidFill>
              </a:rPr>
              <a:t>ca = 4 (5 rows) and thal = 0 (2 rows) do not exist in the UCI codebook. They are treated as missing and filled in inside each training fold, so all 303 patients are kept.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chemeClr val="tx2"/>
                </a:solidFill>
              </a:rPr>
              <a:t>Preprocessing: 13 raw features become 25 model inputs</a:t>
            </a:r>
            <a:endParaRPr lang="en-US" sz="3400" dirty="0"/>
          </a:p>
        </p:txBody>
      </p:sp>
      <p:sp>
        <p:nvSpPr>
          <p:cNvPr id="3" name="Shape 1"/>
          <p:cNvSpPr/>
          <p:nvPr/>
        </p:nvSpPr>
        <p:spPr>
          <a:xfrm>
            <a:off x="548640" y="2606040"/>
            <a:ext cx="2011680" cy="1371600"/>
          </a:xfrm>
          <a:prstGeom prst="roundRect">
            <a:avLst>
              <a:gd name="adj" fmla="val 8000"/>
            </a:avLst>
          </a:prstGeom>
          <a:solidFill>
            <a:schemeClr val="tx2"/>
          </a:solidFill>
          <a:ln/>
        </p:spPr>
      </p:sp>
      <p:sp>
        <p:nvSpPr>
          <p:cNvPr id="4" name="Text 2"/>
          <p:cNvSpPr txBox="1"/>
          <p:nvPr/>
        </p:nvSpPr>
        <p:spPr>
          <a:xfrm>
            <a:off x="548640" y="2606040"/>
            <a:ext cx="2011680" cy="1371600"/>
          </a:xfrm>
          <a:prstGeom prst="rect">
            <a:avLst/>
          </a:prstGeom>
          <a:noFill/>
          <a:ln/>
        </p:spPr>
        <p:txBody>
          <a:bodyPr wrap="square" lIns="0" tIns="0" rIns="0" bIns="0" rtlCol="0" anchor="ctr"/>
          <a:lstStyle/>
          <a:p>
            <a:pPr algn="ctr" indent="0" marL="0">
              <a:buNone/>
            </a:pPr>
            <a:r>
              <a:rPr lang="en-US" sz="1600" b="1" dirty="0">
                <a:solidFill>
                  <a:schemeClr val="bg1"/>
                </a:solidFill>
              </a:rPr>
              <a:t>Raw patient</a:t>
            </a:r>
            <a:endParaRPr lang="en-US" sz="1600" dirty="0"/>
          </a:p>
          <a:p>
            <a:pPr algn="ctr" indent="0" marL="0">
              <a:buNone/>
            </a:pPr>
            <a:r>
              <a:rPr lang="en-US" sz="1600" dirty="0">
                <a:solidFill>
                  <a:schemeClr val="bg1"/>
                </a:solidFill>
              </a:rPr>
              <a:t>13 features</a:t>
            </a:r>
            <a:endParaRPr lang="en-US" sz="1600" dirty="0"/>
          </a:p>
        </p:txBody>
      </p:sp>
      <p:sp>
        <p:nvSpPr>
          <p:cNvPr id="5" name="Shape 3"/>
          <p:cNvSpPr/>
          <p:nvPr/>
        </p:nvSpPr>
        <p:spPr>
          <a:xfrm flipV="1">
            <a:off x="2606040" y="1965960"/>
            <a:ext cx="640080" cy="1325880"/>
          </a:xfrm>
          <a:prstGeom prst="line">
            <a:avLst/>
          </a:prstGeom>
          <a:noFill/>
          <a:ln w="25400">
            <a:solidFill>
              <a:schemeClr val="accent4"/>
            </a:solidFill>
            <a:prstDash val="solid"/>
            <a:tailEnd type="triangle"/>
          </a:ln>
        </p:spPr>
      </p:sp>
      <p:sp>
        <p:nvSpPr>
          <p:cNvPr id="6" name="Shape 4"/>
          <p:cNvSpPr/>
          <p:nvPr/>
        </p:nvSpPr>
        <p:spPr>
          <a:xfrm>
            <a:off x="3291840" y="1417320"/>
            <a:ext cx="3017520" cy="1097280"/>
          </a:xfrm>
          <a:prstGeom prst="roundRect">
            <a:avLst>
              <a:gd name="adj" fmla="val 10000"/>
            </a:avLst>
          </a:prstGeom>
          <a:solidFill>
            <a:schemeClr val="accent2"/>
          </a:solidFill>
          <a:ln/>
        </p:spPr>
      </p:sp>
      <p:sp>
        <p:nvSpPr>
          <p:cNvPr id="7" name="Text 5"/>
          <p:cNvSpPr txBox="1"/>
          <p:nvPr/>
        </p:nvSpPr>
        <p:spPr>
          <a:xfrm>
            <a:off x="3474720" y="1417320"/>
            <a:ext cx="2651760" cy="1097280"/>
          </a:xfrm>
          <a:prstGeom prst="rect">
            <a:avLst/>
          </a:prstGeom>
          <a:noFill/>
          <a:ln/>
        </p:spPr>
        <p:txBody>
          <a:bodyPr wrap="square" lIns="0" tIns="0" rIns="0" bIns="0" rtlCol="0" anchor="ctr"/>
          <a:lstStyle/>
          <a:p>
            <a:pPr indent="0" marL="0">
              <a:buNone/>
            </a:pPr>
            <a:r>
              <a:rPr lang="en-US" sz="1700" b="1" dirty="0">
                <a:solidFill>
                  <a:schemeClr val="bg1"/>
                </a:solidFill>
              </a:rPr>
              <a:t>StandardScaler</a:t>
            </a:r>
            <a:endParaRPr lang="en-US" sz="1500" dirty="0"/>
          </a:p>
          <a:p>
            <a:pPr indent="0" marL="0">
              <a:buNone/>
            </a:pPr>
            <a:r>
              <a:rPr lang="en-US" sz="1400" dirty="0">
                <a:solidFill>
                  <a:schemeClr val="bg1"/>
                </a:solidFill>
              </a:rPr>
              <a:t>5 continuous → mean 0, std 1</a:t>
            </a:r>
            <a:endParaRPr lang="en-US" sz="1500" dirty="0"/>
          </a:p>
        </p:txBody>
      </p:sp>
      <p:sp>
        <p:nvSpPr>
          <p:cNvPr id="8" name="Shape 6"/>
          <p:cNvSpPr/>
          <p:nvPr/>
        </p:nvSpPr>
        <p:spPr>
          <a:xfrm>
            <a:off x="6355080" y="1965960"/>
            <a:ext cx="640080" cy="1325880"/>
          </a:xfrm>
          <a:prstGeom prst="line">
            <a:avLst/>
          </a:prstGeom>
          <a:noFill/>
          <a:ln w="25400">
            <a:solidFill>
              <a:schemeClr val="accent4"/>
            </a:solidFill>
            <a:prstDash val="solid"/>
            <a:tailEnd type="triangle"/>
          </a:ln>
        </p:spPr>
      </p:sp>
      <p:sp>
        <p:nvSpPr>
          <p:cNvPr id="9" name="Shape 7"/>
          <p:cNvSpPr/>
          <p:nvPr/>
        </p:nvSpPr>
        <p:spPr>
          <a:xfrm>
            <a:off x="2606040" y="3291840"/>
            <a:ext cx="640080" cy="0"/>
          </a:xfrm>
          <a:prstGeom prst="line">
            <a:avLst/>
          </a:prstGeom>
          <a:noFill/>
          <a:ln w="25400">
            <a:solidFill>
              <a:schemeClr val="accent4"/>
            </a:solidFill>
            <a:prstDash val="solid"/>
            <a:tailEnd type="triangle"/>
          </a:ln>
        </p:spPr>
      </p:sp>
      <p:sp>
        <p:nvSpPr>
          <p:cNvPr id="10" name="Shape 8"/>
          <p:cNvSpPr/>
          <p:nvPr/>
        </p:nvSpPr>
        <p:spPr>
          <a:xfrm>
            <a:off x="3291840" y="2743200"/>
            <a:ext cx="3017520" cy="1097280"/>
          </a:xfrm>
          <a:prstGeom prst="roundRect">
            <a:avLst>
              <a:gd name="adj" fmla="val 10000"/>
            </a:avLst>
          </a:prstGeom>
          <a:solidFill>
            <a:schemeClr val="accent3"/>
          </a:solidFill>
          <a:ln/>
        </p:spPr>
      </p:sp>
      <p:sp>
        <p:nvSpPr>
          <p:cNvPr id="11" name="Text 9"/>
          <p:cNvSpPr txBox="1"/>
          <p:nvPr/>
        </p:nvSpPr>
        <p:spPr>
          <a:xfrm>
            <a:off x="3474720" y="2743200"/>
            <a:ext cx="2651760" cy="1097280"/>
          </a:xfrm>
          <a:prstGeom prst="rect">
            <a:avLst/>
          </a:prstGeom>
          <a:noFill/>
          <a:ln/>
        </p:spPr>
        <p:txBody>
          <a:bodyPr wrap="square" lIns="0" tIns="0" rIns="0" bIns="0" rtlCol="0" anchor="ctr"/>
          <a:lstStyle/>
          <a:p>
            <a:pPr indent="0" marL="0">
              <a:buNone/>
            </a:pPr>
            <a:r>
              <a:rPr lang="en-US" sz="1700" b="1" dirty="0">
                <a:solidFill>
                  <a:schemeClr val="bg1"/>
                </a:solidFill>
              </a:rPr>
              <a:t>Passthrough</a:t>
            </a:r>
            <a:endParaRPr lang="en-US" sz="1500" dirty="0"/>
          </a:p>
          <a:p>
            <a:pPr indent="0" marL="0">
              <a:buNone/>
            </a:pPr>
            <a:r>
              <a:rPr lang="en-US" sz="1400" dirty="0">
                <a:solidFill>
                  <a:schemeClr val="bg1"/>
                </a:solidFill>
              </a:rPr>
              <a:t>3 binary → already 0 / 1</a:t>
            </a:r>
            <a:endParaRPr lang="en-US" sz="1500" dirty="0"/>
          </a:p>
        </p:txBody>
      </p:sp>
      <p:sp>
        <p:nvSpPr>
          <p:cNvPr id="12" name="Shape 10"/>
          <p:cNvSpPr/>
          <p:nvPr/>
        </p:nvSpPr>
        <p:spPr>
          <a:xfrm>
            <a:off x="6355080" y="3291840"/>
            <a:ext cx="640080" cy="0"/>
          </a:xfrm>
          <a:prstGeom prst="line">
            <a:avLst/>
          </a:prstGeom>
          <a:noFill/>
          <a:ln w="25400">
            <a:solidFill>
              <a:schemeClr val="accent4"/>
            </a:solidFill>
            <a:prstDash val="solid"/>
            <a:tailEnd type="triangle"/>
          </a:ln>
        </p:spPr>
      </p:sp>
      <p:sp>
        <p:nvSpPr>
          <p:cNvPr id="13" name="Shape 11"/>
          <p:cNvSpPr/>
          <p:nvPr/>
        </p:nvSpPr>
        <p:spPr>
          <a:xfrm>
            <a:off x="2606040" y="3291840"/>
            <a:ext cx="640080" cy="1325880"/>
          </a:xfrm>
          <a:prstGeom prst="line">
            <a:avLst/>
          </a:prstGeom>
          <a:noFill/>
          <a:ln w="25400">
            <a:solidFill>
              <a:schemeClr val="accent4"/>
            </a:solidFill>
            <a:prstDash val="solid"/>
            <a:tailEnd type="triangle"/>
          </a:ln>
        </p:spPr>
      </p:sp>
      <p:sp>
        <p:nvSpPr>
          <p:cNvPr id="14" name="Shape 12"/>
          <p:cNvSpPr/>
          <p:nvPr/>
        </p:nvSpPr>
        <p:spPr>
          <a:xfrm>
            <a:off x="3291840" y="4069080"/>
            <a:ext cx="3017520" cy="1097280"/>
          </a:xfrm>
          <a:prstGeom prst="roundRect">
            <a:avLst>
              <a:gd name="adj" fmla="val 10000"/>
            </a:avLst>
          </a:prstGeom>
          <a:solidFill>
            <a:schemeClr val="accent1"/>
          </a:solidFill>
          <a:ln/>
        </p:spPr>
      </p:sp>
      <p:sp>
        <p:nvSpPr>
          <p:cNvPr id="15" name="Text 13"/>
          <p:cNvSpPr txBox="1"/>
          <p:nvPr/>
        </p:nvSpPr>
        <p:spPr>
          <a:xfrm>
            <a:off x="3474720" y="4069080"/>
            <a:ext cx="2651760" cy="1097280"/>
          </a:xfrm>
          <a:prstGeom prst="rect">
            <a:avLst/>
          </a:prstGeom>
          <a:noFill/>
          <a:ln/>
        </p:spPr>
        <p:txBody>
          <a:bodyPr wrap="square" lIns="0" tIns="0" rIns="0" bIns="0" rtlCol="0" anchor="ctr"/>
          <a:lstStyle/>
          <a:p>
            <a:pPr indent="0" marL="0">
              <a:buNone/>
            </a:pPr>
            <a:r>
              <a:rPr lang="en-US" sz="1700" b="1" dirty="0">
                <a:solidFill>
                  <a:schemeClr val="bg1"/>
                </a:solidFill>
              </a:rPr>
              <a:t>Impute + one-hot</a:t>
            </a:r>
            <a:endParaRPr lang="en-US" sz="1500" dirty="0"/>
          </a:p>
          <a:p>
            <a:pPr indent="0" marL="0">
              <a:buNone/>
            </a:pPr>
            <a:r>
              <a:rPr lang="en-US" sz="1400" dirty="0">
                <a:solidFill>
                  <a:schemeClr val="bg1"/>
                </a:solidFill>
              </a:rPr>
              <a:t>5 categorical → 17 columns</a:t>
            </a:r>
            <a:endParaRPr lang="en-US" sz="1500" dirty="0"/>
          </a:p>
        </p:txBody>
      </p:sp>
      <p:sp>
        <p:nvSpPr>
          <p:cNvPr id="16" name="Shape 14"/>
          <p:cNvSpPr/>
          <p:nvPr/>
        </p:nvSpPr>
        <p:spPr>
          <a:xfrm flipV="1">
            <a:off x="6355080" y="3291840"/>
            <a:ext cx="640080" cy="1325880"/>
          </a:xfrm>
          <a:prstGeom prst="line">
            <a:avLst/>
          </a:prstGeom>
          <a:noFill/>
          <a:ln w="25400">
            <a:solidFill>
              <a:schemeClr val="accent4"/>
            </a:solidFill>
            <a:prstDash val="solid"/>
            <a:tailEnd type="triangle"/>
          </a:ln>
        </p:spPr>
      </p:sp>
      <p:sp>
        <p:nvSpPr>
          <p:cNvPr id="17" name="Shape 15"/>
          <p:cNvSpPr/>
          <p:nvPr/>
        </p:nvSpPr>
        <p:spPr>
          <a:xfrm>
            <a:off x="7040880" y="2606040"/>
            <a:ext cx="2011680" cy="1371600"/>
          </a:xfrm>
          <a:prstGeom prst="roundRect">
            <a:avLst>
              <a:gd name="adj" fmla="val 8000"/>
            </a:avLst>
          </a:prstGeom>
          <a:solidFill>
            <a:schemeClr val="tx2"/>
          </a:solidFill>
          <a:ln/>
        </p:spPr>
      </p:sp>
      <p:sp>
        <p:nvSpPr>
          <p:cNvPr id="18" name="Text 16"/>
          <p:cNvSpPr txBox="1"/>
          <p:nvPr/>
        </p:nvSpPr>
        <p:spPr>
          <a:xfrm>
            <a:off x="7040880" y="2606040"/>
            <a:ext cx="2011680" cy="1371600"/>
          </a:xfrm>
          <a:prstGeom prst="rect">
            <a:avLst/>
          </a:prstGeom>
          <a:noFill/>
          <a:ln/>
        </p:spPr>
        <p:txBody>
          <a:bodyPr wrap="square" lIns="0" tIns="0" rIns="0" bIns="0" rtlCol="0" anchor="ctr"/>
          <a:lstStyle/>
          <a:p>
            <a:pPr algn="ctr" indent="0" marL="0">
              <a:buNone/>
            </a:pPr>
            <a:r>
              <a:rPr lang="en-US" sz="1600" b="1" dirty="0">
                <a:solidFill>
                  <a:schemeClr val="bg1"/>
                </a:solidFill>
              </a:rPr>
              <a:t>25 features</a:t>
            </a:r>
            <a:endParaRPr lang="en-US" sz="1600" dirty="0"/>
          </a:p>
          <a:p>
            <a:pPr algn="ctr" indent="0" marL="0">
              <a:buNone/>
            </a:pPr>
            <a:r>
              <a:rPr lang="en-US" sz="1600" dirty="0">
                <a:solidFill>
                  <a:schemeClr val="bg1"/>
                </a:solidFill>
              </a:rPr>
              <a:t>model-ready</a:t>
            </a:r>
            <a:endParaRPr lang="en-US" sz="1600" dirty="0"/>
          </a:p>
        </p:txBody>
      </p:sp>
      <p:sp>
        <p:nvSpPr>
          <p:cNvPr id="19" name="Shape 17"/>
          <p:cNvSpPr/>
          <p:nvPr/>
        </p:nvSpPr>
        <p:spPr>
          <a:xfrm>
            <a:off x="9098280" y="3291840"/>
            <a:ext cx="457200" cy="0"/>
          </a:xfrm>
          <a:prstGeom prst="line">
            <a:avLst/>
          </a:prstGeom>
          <a:noFill/>
          <a:ln w="25400">
            <a:solidFill>
              <a:schemeClr val="accent4"/>
            </a:solidFill>
            <a:prstDash val="solid"/>
            <a:tailEnd type="triangle"/>
          </a:ln>
        </p:spPr>
      </p:sp>
      <p:sp>
        <p:nvSpPr>
          <p:cNvPr id="20" name="Shape 18"/>
          <p:cNvSpPr/>
          <p:nvPr/>
        </p:nvSpPr>
        <p:spPr>
          <a:xfrm>
            <a:off x="9601200" y="2606040"/>
            <a:ext cx="2011680" cy="1371600"/>
          </a:xfrm>
          <a:prstGeom prst="roundRect">
            <a:avLst>
              <a:gd name="adj" fmla="val 8000"/>
            </a:avLst>
          </a:prstGeom>
          <a:solidFill>
            <a:schemeClr val="accent2"/>
          </a:solidFill>
          <a:ln/>
        </p:spPr>
      </p:sp>
      <p:sp>
        <p:nvSpPr>
          <p:cNvPr id="21" name="Text 19"/>
          <p:cNvSpPr txBox="1"/>
          <p:nvPr/>
        </p:nvSpPr>
        <p:spPr>
          <a:xfrm>
            <a:off x="9601200" y="2606040"/>
            <a:ext cx="2011680" cy="1371600"/>
          </a:xfrm>
          <a:prstGeom prst="rect">
            <a:avLst/>
          </a:prstGeom>
          <a:noFill/>
          <a:ln/>
        </p:spPr>
        <p:txBody>
          <a:bodyPr wrap="square" lIns="0" tIns="0" rIns="0" bIns="0" rtlCol="0" anchor="ctr"/>
          <a:lstStyle/>
          <a:p>
            <a:pPr algn="ctr" indent="0" marL="0">
              <a:buNone/>
            </a:pPr>
            <a:r>
              <a:rPr lang="en-US" sz="1600" b="1" dirty="0">
                <a:solidFill>
                  <a:schemeClr val="bg1"/>
                </a:solidFill>
              </a:rPr>
              <a:t>Model</a:t>
            </a:r>
            <a:endParaRPr lang="en-US" sz="1600" dirty="0"/>
          </a:p>
          <a:p>
            <a:pPr algn="ctr" indent="0" marL="0">
              <a:buNone/>
            </a:pPr>
            <a:r>
              <a:rPr lang="en-US" sz="1600" dirty="0">
                <a:solidFill>
                  <a:schemeClr val="bg1"/>
                </a:solidFill>
              </a:rPr>
              <a:t>LR · MLP · XGBoost</a:t>
            </a:r>
            <a:endParaRPr lang="en-US" sz="1600" dirty="0"/>
          </a:p>
        </p:txBody>
      </p:sp>
      <p:sp>
        <p:nvSpPr>
          <p:cNvPr id="22" name="Shape 20"/>
          <p:cNvSpPr/>
          <p:nvPr/>
        </p:nvSpPr>
        <p:spPr>
          <a:xfrm>
            <a:off x="548640" y="5440680"/>
            <a:ext cx="11064240" cy="777240"/>
          </a:xfrm>
          <a:prstGeom prst="roundRect">
            <a:avLst>
              <a:gd name="adj" fmla="val 14118"/>
            </a:avLst>
          </a:prstGeom>
          <a:solidFill>
            <a:schemeClr val="bg2"/>
          </a:solidFill>
          <a:ln/>
        </p:spPr>
      </p:sp>
      <p:sp>
        <p:nvSpPr>
          <p:cNvPr id="23" name="Shape 21"/>
          <p:cNvSpPr/>
          <p:nvPr/>
        </p:nvSpPr>
        <p:spPr>
          <a:xfrm>
            <a:off x="777240" y="5532120"/>
            <a:ext cx="594360" cy="594360"/>
          </a:xfrm>
          <a:prstGeom prst="ellipse">
            <a:avLst/>
          </a:prstGeom>
          <a:solidFill>
            <a:schemeClr val="tx2"/>
          </a:solidFill>
          <a:ln/>
        </p:spPr>
      </p:sp>
      <p:pic>
        <p:nvPicPr>
          <p:cNvPr id="24" name="Image 0" descr="preencoded.png">    </p:cNvPr>
          <p:cNvPicPr>
            <a:picLocks noChangeAspect="1"/>
          </p:cNvPicPr>
          <p:nvPr/>
        </p:nvPicPr>
        <p:blipFill>
          <a:blip r:embed="rId1"/>
          <a:stretch>
            <a:fillRect/>
          </a:stretch>
        </p:blipFill>
        <p:spPr>
          <a:xfrm>
            <a:off x="919886" y="5674766"/>
            <a:ext cx="309067" cy="309067"/>
          </a:xfrm>
          <a:prstGeom prst="rect">
            <a:avLst/>
          </a:prstGeom>
        </p:spPr>
      </p:pic>
      <p:sp>
        <p:nvSpPr>
          <p:cNvPr id="25" name="Text 22"/>
          <p:cNvSpPr txBox="1"/>
          <p:nvPr/>
        </p:nvSpPr>
        <p:spPr>
          <a:xfrm>
            <a:off x="1600200" y="5440680"/>
            <a:ext cx="9829800" cy="777240"/>
          </a:xfrm>
          <a:prstGeom prst="rect">
            <a:avLst/>
          </a:prstGeom>
          <a:noFill/>
          <a:ln/>
        </p:spPr>
        <p:txBody>
          <a:bodyPr wrap="square" lIns="0" tIns="0" rIns="0" bIns="0" rtlCol="0" anchor="ctr"/>
          <a:lstStyle/>
          <a:p>
            <a:pPr indent="0" marL="0">
              <a:buNone/>
            </a:pPr>
            <a:r>
              <a:rPr lang="en-US" sz="1500" b="1" dirty="0">
                <a:solidFill>
                  <a:schemeClr val="tx2"/>
                </a:solidFill>
              </a:rPr>
              <a:t>No data leakage: </a:t>
            </a:r>
            <a:pPr indent="0" marL="0">
              <a:buNone/>
            </a:pPr>
            <a:r>
              <a:rPr lang="en-US" sz="1500" dirty="0">
                <a:solidFill>
                  <a:schemeClr val="tx1"/>
                </a:solidFill>
              </a:rPr>
              <a:t>every step sits inside one scikit-learn Pipeline and is re-fitted on each training fold. Test patients never influence scaling or encoding.</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chemeClr val="tx2"/>
                </a:solidFill>
              </a:rPr>
              <a:t>Fair testing: stratified 5-fold cross-validation</a:t>
            </a:r>
            <a:endParaRPr lang="en-US" sz="3400" dirty="0"/>
          </a:p>
        </p:txBody>
      </p:sp>
      <p:sp>
        <p:nvSpPr>
          <p:cNvPr id="3" name="Text 1"/>
          <p:cNvSpPr txBox="1"/>
          <p:nvPr/>
        </p:nvSpPr>
        <p:spPr>
          <a:xfrm>
            <a:off x="548640" y="1600200"/>
            <a:ext cx="1005840" cy="548640"/>
          </a:xfrm>
          <a:prstGeom prst="rect">
            <a:avLst/>
          </a:prstGeom>
          <a:noFill/>
          <a:ln/>
        </p:spPr>
        <p:txBody>
          <a:bodyPr wrap="square" lIns="0" tIns="0" rIns="0" bIns="0" rtlCol="0" anchor="ctr"/>
          <a:lstStyle/>
          <a:p>
            <a:pPr indent="0" marL="0">
              <a:buNone/>
            </a:pPr>
            <a:r>
              <a:rPr lang="en-US" sz="1400" b="1" dirty="0">
                <a:solidFill>
                  <a:schemeClr val="tx2"/>
                </a:solidFill>
              </a:rPr>
              <a:t>Round 1</a:t>
            </a:r>
            <a:endParaRPr lang="en-US" sz="1400" dirty="0"/>
          </a:p>
        </p:txBody>
      </p:sp>
      <p:sp>
        <p:nvSpPr>
          <p:cNvPr id="4" name="Shape 2"/>
          <p:cNvSpPr/>
          <p:nvPr/>
        </p:nvSpPr>
        <p:spPr>
          <a:xfrm>
            <a:off x="1645920" y="1600200"/>
            <a:ext cx="804672" cy="548640"/>
          </a:xfrm>
          <a:prstGeom prst="roundRect">
            <a:avLst>
              <a:gd name="adj" fmla="val 10000"/>
            </a:avLst>
          </a:prstGeom>
          <a:solidFill>
            <a:schemeClr val="accent1"/>
          </a:solidFill>
          <a:ln/>
        </p:spPr>
      </p:sp>
      <p:sp>
        <p:nvSpPr>
          <p:cNvPr id="5" name="Text 3"/>
          <p:cNvSpPr txBox="1"/>
          <p:nvPr/>
        </p:nvSpPr>
        <p:spPr>
          <a:xfrm>
            <a:off x="1645920" y="1600200"/>
            <a:ext cx="804672" cy="548640"/>
          </a:xfrm>
          <a:prstGeom prst="rect">
            <a:avLst/>
          </a:prstGeom>
          <a:noFill/>
          <a:ln/>
        </p:spPr>
        <p:txBody>
          <a:bodyPr wrap="square" lIns="0" tIns="0" rIns="0" bIns="0" rtlCol="0" anchor="ctr"/>
          <a:lstStyle/>
          <a:p>
            <a:pPr algn="ctr" indent="0" marL="0">
              <a:buNone/>
            </a:pPr>
            <a:r>
              <a:rPr lang="en-US" sz="1300" b="1" dirty="0">
                <a:solidFill>
                  <a:schemeClr val="bg1"/>
                </a:solidFill>
              </a:rPr>
              <a:t>test</a:t>
            </a:r>
            <a:endParaRPr lang="en-US" sz="1300" dirty="0"/>
          </a:p>
        </p:txBody>
      </p:sp>
      <p:sp>
        <p:nvSpPr>
          <p:cNvPr id="6" name="Shape 4"/>
          <p:cNvSpPr/>
          <p:nvPr/>
        </p:nvSpPr>
        <p:spPr>
          <a:xfrm>
            <a:off x="2542032" y="1600200"/>
            <a:ext cx="804672" cy="548640"/>
          </a:xfrm>
          <a:prstGeom prst="roundRect">
            <a:avLst>
              <a:gd name="adj" fmla="val 10000"/>
            </a:avLst>
          </a:prstGeom>
          <a:solidFill>
            <a:schemeClr val="accent5"/>
          </a:solidFill>
          <a:ln/>
        </p:spPr>
      </p:sp>
      <p:sp>
        <p:nvSpPr>
          <p:cNvPr id="7" name="Shape 5"/>
          <p:cNvSpPr/>
          <p:nvPr/>
        </p:nvSpPr>
        <p:spPr>
          <a:xfrm>
            <a:off x="3438144" y="1600200"/>
            <a:ext cx="804672" cy="548640"/>
          </a:xfrm>
          <a:prstGeom prst="roundRect">
            <a:avLst>
              <a:gd name="adj" fmla="val 10000"/>
            </a:avLst>
          </a:prstGeom>
          <a:solidFill>
            <a:schemeClr val="accent5"/>
          </a:solidFill>
          <a:ln/>
        </p:spPr>
      </p:sp>
      <p:sp>
        <p:nvSpPr>
          <p:cNvPr id="8" name="Shape 6"/>
          <p:cNvSpPr/>
          <p:nvPr/>
        </p:nvSpPr>
        <p:spPr>
          <a:xfrm>
            <a:off x="4334256" y="1600200"/>
            <a:ext cx="804672" cy="548640"/>
          </a:xfrm>
          <a:prstGeom prst="roundRect">
            <a:avLst>
              <a:gd name="adj" fmla="val 10000"/>
            </a:avLst>
          </a:prstGeom>
          <a:solidFill>
            <a:schemeClr val="accent5"/>
          </a:solidFill>
          <a:ln/>
        </p:spPr>
      </p:sp>
      <p:sp>
        <p:nvSpPr>
          <p:cNvPr id="9" name="Shape 7"/>
          <p:cNvSpPr/>
          <p:nvPr/>
        </p:nvSpPr>
        <p:spPr>
          <a:xfrm>
            <a:off x="5230368" y="1600200"/>
            <a:ext cx="804672" cy="548640"/>
          </a:xfrm>
          <a:prstGeom prst="roundRect">
            <a:avLst>
              <a:gd name="adj" fmla="val 10000"/>
            </a:avLst>
          </a:prstGeom>
          <a:solidFill>
            <a:schemeClr val="accent5"/>
          </a:solidFill>
          <a:ln/>
        </p:spPr>
      </p:sp>
      <p:sp>
        <p:nvSpPr>
          <p:cNvPr id="10" name="Text 8"/>
          <p:cNvSpPr txBox="1"/>
          <p:nvPr/>
        </p:nvSpPr>
        <p:spPr>
          <a:xfrm>
            <a:off x="548640" y="2331720"/>
            <a:ext cx="1005840" cy="548640"/>
          </a:xfrm>
          <a:prstGeom prst="rect">
            <a:avLst/>
          </a:prstGeom>
          <a:noFill/>
          <a:ln/>
        </p:spPr>
        <p:txBody>
          <a:bodyPr wrap="square" lIns="0" tIns="0" rIns="0" bIns="0" rtlCol="0" anchor="ctr"/>
          <a:lstStyle/>
          <a:p>
            <a:pPr indent="0" marL="0">
              <a:buNone/>
            </a:pPr>
            <a:r>
              <a:rPr lang="en-US" sz="1400" b="1" dirty="0">
                <a:solidFill>
                  <a:schemeClr val="tx2"/>
                </a:solidFill>
              </a:rPr>
              <a:t>Round 2</a:t>
            </a:r>
            <a:endParaRPr lang="en-US" sz="1400" dirty="0"/>
          </a:p>
        </p:txBody>
      </p:sp>
      <p:sp>
        <p:nvSpPr>
          <p:cNvPr id="11" name="Shape 9"/>
          <p:cNvSpPr/>
          <p:nvPr/>
        </p:nvSpPr>
        <p:spPr>
          <a:xfrm>
            <a:off x="1645920" y="2331720"/>
            <a:ext cx="804672" cy="548640"/>
          </a:xfrm>
          <a:prstGeom prst="roundRect">
            <a:avLst>
              <a:gd name="adj" fmla="val 10000"/>
            </a:avLst>
          </a:prstGeom>
          <a:solidFill>
            <a:schemeClr val="accent5"/>
          </a:solidFill>
          <a:ln/>
        </p:spPr>
      </p:sp>
      <p:sp>
        <p:nvSpPr>
          <p:cNvPr id="12" name="Shape 10"/>
          <p:cNvSpPr/>
          <p:nvPr/>
        </p:nvSpPr>
        <p:spPr>
          <a:xfrm>
            <a:off x="2542032" y="2331720"/>
            <a:ext cx="804672" cy="548640"/>
          </a:xfrm>
          <a:prstGeom prst="roundRect">
            <a:avLst>
              <a:gd name="adj" fmla="val 10000"/>
            </a:avLst>
          </a:prstGeom>
          <a:solidFill>
            <a:schemeClr val="accent1"/>
          </a:solidFill>
          <a:ln/>
        </p:spPr>
      </p:sp>
      <p:sp>
        <p:nvSpPr>
          <p:cNvPr id="13" name="Text 11"/>
          <p:cNvSpPr txBox="1"/>
          <p:nvPr/>
        </p:nvSpPr>
        <p:spPr>
          <a:xfrm>
            <a:off x="2542032" y="2331720"/>
            <a:ext cx="804672" cy="548640"/>
          </a:xfrm>
          <a:prstGeom prst="rect">
            <a:avLst/>
          </a:prstGeom>
          <a:noFill/>
          <a:ln/>
        </p:spPr>
        <p:txBody>
          <a:bodyPr wrap="square" lIns="0" tIns="0" rIns="0" bIns="0" rtlCol="0" anchor="ctr"/>
          <a:lstStyle/>
          <a:p>
            <a:pPr algn="ctr" indent="0" marL="0">
              <a:buNone/>
            </a:pPr>
            <a:r>
              <a:rPr lang="en-US" sz="1300" b="1" dirty="0">
                <a:solidFill>
                  <a:schemeClr val="bg1"/>
                </a:solidFill>
              </a:rPr>
              <a:t>test</a:t>
            </a:r>
            <a:endParaRPr lang="en-US" sz="1300" dirty="0"/>
          </a:p>
        </p:txBody>
      </p:sp>
      <p:sp>
        <p:nvSpPr>
          <p:cNvPr id="14" name="Shape 12"/>
          <p:cNvSpPr/>
          <p:nvPr/>
        </p:nvSpPr>
        <p:spPr>
          <a:xfrm>
            <a:off x="3438144" y="2331720"/>
            <a:ext cx="804672" cy="548640"/>
          </a:xfrm>
          <a:prstGeom prst="roundRect">
            <a:avLst>
              <a:gd name="adj" fmla="val 10000"/>
            </a:avLst>
          </a:prstGeom>
          <a:solidFill>
            <a:schemeClr val="accent5"/>
          </a:solidFill>
          <a:ln/>
        </p:spPr>
      </p:sp>
      <p:sp>
        <p:nvSpPr>
          <p:cNvPr id="15" name="Shape 13"/>
          <p:cNvSpPr/>
          <p:nvPr/>
        </p:nvSpPr>
        <p:spPr>
          <a:xfrm>
            <a:off x="4334256" y="2331720"/>
            <a:ext cx="804672" cy="548640"/>
          </a:xfrm>
          <a:prstGeom prst="roundRect">
            <a:avLst>
              <a:gd name="adj" fmla="val 10000"/>
            </a:avLst>
          </a:prstGeom>
          <a:solidFill>
            <a:schemeClr val="accent5"/>
          </a:solidFill>
          <a:ln/>
        </p:spPr>
      </p:sp>
      <p:sp>
        <p:nvSpPr>
          <p:cNvPr id="16" name="Shape 14"/>
          <p:cNvSpPr/>
          <p:nvPr/>
        </p:nvSpPr>
        <p:spPr>
          <a:xfrm>
            <a:off x="5230368" y="2331720"/>
            <a:ext cx="804672" cy="548640"/>
          </a:xfrm>
          <a:prstGeom prst="roundRect">
            <a:avLst>
              <a:gd name="adj" fmla="val 10000"/>
            </a:avLst>
          </a:prstGeom>
          <a:solidFill>
            <a:schemeClr val="accent5"/>
          </a:solidFill>
          <a:ln/>
        </p:spPr>
      </p:sp>
      <p:sp>
        <p:nvSpPr>
          <p:cNvPr id="17" name="Text 15"/>
          <p:cNvSpPr txBox="1"/>
          <p:nvPr/>
        </p:nvSpPr>
        <p:spPr>
          <a:xfrm>
            <a:off x="548640" y="3063240"/>
            <a:ext cx="1005840" cy="548640"/>
          </a:xfrm>
          <a:prstGeom prst="rect">
            <a:avLst/>
          </a:prstGeom>
          <a:noFill/>
          <a:ln/>
        </p:spPr>
        <p:txBody>
          <a:bodyPr wrap="square" lIns="0" tIns="0" rIns="0" bIns="0" rtlCol="0" anchor="ctr"/>
          <a:lstStyle/>
          <a:p>
            <a:pPr indent="0" marL="0">
              <a:buNone/>
            </a:pPr>
            <a:r>
              <a:rPr lang="en-US" sz="1400" b="1" dirty="0">
                <a:solidFill>
                  <a:schemeClr val="tx2"/>
                </a:solidFill>
              </a:rPr>
              <a:t>Round 3</a:t>
            </a:r>
            <a:endParaRPr lang="en-US" sz="1400" dirty="0"/>
          </a:p>
        </p:txBody>
      </p:sp>
      <p:sp>
        <p:nvSpPr>
          <p:cNvPr id="18" name="Shape 16"/>
          <p:cNvSpPr/>
          <p:nvPr/>
        </p:nvSpPr>
        <p:spPr>
          <a:xfrm>
            <a:off x="1645920" y="3063240"/>
            <a:ext cx="804672" cy="548640"/>
          </a:xfrm>
          <a:prstGeom prst="roundRect">
            <a:avLst>
              <a:gd name="adj" fmla="val 10000"/>
            </a:avLst>
          </a:prstGeom>
          <a:solidFill>
            <a:schemeClr val="accent5"/>
          </a:solidFill>
          <a:ln/>
        </p:spPr>
      </p:sp>
      <p:sp>
        <p:nvSpPr>
          <p:cNvPr id="19" name="Shape 17"/>
          <p:cNvSpPr/>
          <p:nvPr/>
        </p:nvSpPr>
        <p:spPr>
          <a:xfrm>
            <a:off x="2542032" y="3063240"/>
            <a:ext cx="804672" cy="548640"/>
          </a:xfrm>
          <a:prstGeom prst="roundRect">
            <a:avLst>
              <a:gd name="adj" fmla="val 10000"/>
            </a:avLst>
          </a:prstGeom>
          <a:solidFill>
            <a:schemeClr val="accent5"/>
          </a:solidFill>
          <a:ln/>
        </p:spPr>
      </p:sp>
      <p:sp>
        <p:nvSpPr>
          <p:cNvPr id="20" name="Shape 18"/>
          <p:cNvSpPr/>
          <p:nvPr/>
        </p:nvSpPr>
        <p:spPr>
          <a:xfrm>
            <a:off x="3438144" y="3063240"/>
            <a:ext cx="804672" cy="548640"/>
          </a:xfrm>
          <a:prstGeom prst="roundRect">
            <a:avLst>
              <a:gd name="adj" fmla="val 10000"/>
            </a:avLst>
          </a:prstGeom>
          <a:solidFill>
            <a:schemeClr val="accent1"/>
          </a:solidFill>
          <a:ln/>
        </p:spPr>
      </p:sp>
      <p:sp>
        <p:nvSpPr>
          <p:cNvPr id="21" name="Text 19"/>
          <p:cNvSpPr txBox="1"/>
          <p:nvPr/>
        </p:nvSpPr>
        <p:spPr>
          <a:xfrm>
            <a:off x="3438144" y="3063240"/>
            <a:ext cx="804672" cy="548640"/>
          </a:xfrm>
          <a:prstGeom prst="rect">
            <a:avLst/>
          </a:prstGeom>
          <a:noFill/>
          <a:ln/>
        </p:spPr>
        <p:txBody>
          <a:bodyPr wrap="square" lIns="0" tIns="0" rIns="0" bIns="0" rtlCol="0" anchor="ctr"/>
          <a:lstStyle/>
          <a:p>
            <a:pPr algn="ctr" indent="0" marL="0">
              <a:buNone/>
            </a:pPr>
            <a:r>
              <a:rPr lang="en-US" sz="1300" b="1" dirty="0">
                <a:solidFill>
                  <a:schemeClr val="bg1"/>
                </a:solidFill>
              </a:rPr>
              <a:t>test</a:t>
            </a:r>
            <a:endParaRPr lang="en-US" sz="1300" dirty="0"/>
          </a:p>
        </p:txBody>
      </p:sp>
      <p:sp>
        <p:nvSpPr>
          <p:cNvPr id="22" name="Shape 20"/>
          <p:cNvSpPr/>
          <p:nvPr/>
        </p:nvSpPr>
        <p:spPr>
          <a:xfrm>
            <a:off x="4334256" y="3063240"/>
            <a:ext cx="804672" cy="548640"/>
          </a:xfrm>
          <a:prstGeom prst="roundRect">
            <a:avLst>
              <a:gd name="adj" fmla="val 10000"/>
            </a:avLst>
          </a:prstGeom>
          <a:solidFill>
            <a:schemeClr val="accent5"/>
          </a:solidFill>
          <a:ln/>
        </p:spPr>
      </p:sp>
      <p:sp>
        <p:nvSpPr>
          <p:cNvPr id="23" name="Shape 21"/>
          <p:cNvSpPr/>
          <p:nvPr/>
        </p:nvSpPr>
        <p:spPr>
          <a:xfrm>
            <a:off x="5230368" y="3063240"/>
            <a:ext cx="804672" cy="548640"/>
          </a:xfrm>
          <a:prstGeom prst="roundRect">
            <a:avLst>
              <a:gd name="adj" fmla="val 10000"/>
            </a:avLst>
          </a:prstGeom>
          <a:solidFill>
            <a:schemeClr val="accent5"/>
          </a:solidFill>
          <a:ln/>
        </p:spPr>
      </p:sp>
      <p:sp>
        <p:nvSpPr>
          <p:cNvPr id="24" name="Text 22"/>
          <p:cNvSpPr txBox="1"/>
          <p:nvPr/>
        </p:nvSpPr>
        <p:spPr>
          <a:xfrm>
            <a:off x="548640" y="3794760"/>
            <a:ext cx="1005840" cy="548640"/>
          </a:xfrm>
          <a:prstGeom prst="rect">
            <a:avLst/>
          </a:prstGeom>
          <a:noFill/>
          <a:ln/>
        </p:spPr>
        <p:txBody>
          <a:bodyPr wrap="square" lIns="0" tIns="0" rIns="0" bIns="0" rtlCol="0" anchor="ctr"/>
          <a:lstStyle/>
          <a:p>
            <a:pPr indent="0" marL="0">
              <a:buNone/>
            </a:pPr>
            <a:r>
              <a:rPr lang="en-US" sz="1400" b="1" dirty="0">
                <a:solidFill>
                  <a:schemeClr val="tx2"/>
                </a:solidFill>
              </a:rPr>
              <a:t>Round 4</a:t>
            </a:r>
            <a:endParaRPr lang="en-US" sz="1400" dirty="0"/>
          </a:p>
        </p:txBody>
      </p:sp>
      <p:sp>
        <p:nvSpPr>
          <p:cNvPr id="25" name="Shape 23"/>
          <p:cNvSpPr/>
          <p:nvPr/>
        </p:nvSpPr>
        <p:spPr>
          <a:xfrm>
            <a:off x="1645920" y="3794760"/>
            <a:ext cx="804672" cy="548640"/>
          </a:xfrm>
          <a:prstGeom prst="roundRect">
            <a:avLst>
              <a:gd name="adj" fmla="val 10000"/>
            </a:avLst>
          </a:prstGeom>
          <a:solidFill>
            <a:schemeClr val="accent5"/>
          </a:solidFill>
          <a:ln/>
        </p:spPr>
      </p:sp>
      <p:sp>
        <p:nvSpPr>
          <p:cNvPr id="26" name="Shape 24"/>
          <p:cNvSpPr/>
          <p:nvPr/>
        </p:nvSpPr>
        <p:spPr>
          <a:xfrm>
            <a:off x="2542032" y="3794760"/>
            <a:ext cx="804672" cy="548640"/>
          </a:xfrm>
          <a:prstGeom prst="roundRect">
            <a:avLst>
              <a:gd name="adj" fmla="val 10000"/>
            </a:avLst>
          </a:prstGeom>
          <a:solidFill>
            <a:schemeClr val="accent5"/>
          </a:solidFill>
          <a:ln/>
        </p:spPr>
      </p:sp>
      <p:sp>
        <p:nvSpPr>
          <p:cNvPr id="27" name="Shape 25"/>
          <p:cNvSpPr/>
          <p:nvPr/>
        </p:nvSpPr>
        <p:spPr>
          <a:xfrm>
            <a:off x="3438144" y="3794760"/>
            <a:ext cx="804672" cy="548640"/>
          </a:xfrm>
          <a:prstGeom prst="roundRect">
            <a:avLst>
              <a:gd name="adj" fmla="val 10000"/>
            </a:avLst>
          </a:prstGeom>
          <a:solidFill>
            <a:schemeClr val="accent5"/>
          </a:solidFill>
          <a:ln/>
        </p:spPr>
      </p:sp>
      <p:sp>
        <p:nvSpPr>
          <p:cNvPr id="28" name="Shape 26"/>
          <p:cNvSpPr/>
          <p:nvPr/>
        </p:nvSpPr>
        <p:spPr>
          <a:xfrm>
            <a:off x="4334256" y="3794760"/>
            <a:ext cx="804672" cy="548640"/>
          </a:xfrm>
          <a:prstGeom prst="roundRect">
            <a:avLst>
              <a:gd name="adj" fmla="val 10000"/>
            </a:avLst>
          </a:prstGeom>
          <a:solidFill>
            <a:schemeClr val="accent1"/>
          </a:solidFill>
          <a:ln/>
        </p:spPr>
      </p:sp>
      <p:sp>
        <p:nvSpPr>
          <p:cNvPr id="29" name="Text 27"/>
          <p:cNvSpPr txBox="1"/>
          <p:nvPr/>
        </p:nvSpPr>
        <p:spPr>
          <a:xfrm>
            <a:off x="4334256" y="3794760"/>
            <a:ext cx="804672" cy="548640"/>
          </a:xfrm>
          <a:prstGeom prst="rect">
            <a:avLst/>
          </a:prstGeom>
          <a:noFill/>
          <a:ln/>
        </p:spPr>
        <p:txBody>
          <a:bodyPr wrap="square" lIns="0" tIns="0" rIns="0" bIns="0" rtlCol="0" anchor="ctr"/>
          <a:lstStyle/>
          <a:p>
            <a:pPr algn="ctr" indent="0" marL="0">
              <a:buNone/>
            </a:pPr>
            <a:r>
              <a:rPr lang="en-US" sz="1300" b="1" dirty="0">
                <a:solidFill>
                  <a:schemeClr val="bg1"/>
                </a:solidFill>
              </a:rPr>
              <a:t>test</a:t>
            </a:r>
            <a:endParaRPr lang="en-US" sz="1300" dirty="0"/>
          </a:p>
        </p:txBody>
      </p:sp>
      <p:sp>
        <p:nvSpPr>
          <p:cNvPr id="30" name="Shape 28"/>
          <p:cNvSpPr/>
          <p:nvPr/>
        </p:nvSpPr>
        <p:spPr>
          <a:xfrm>
            <a:off x="5230368" y="3794760"/>
            <a:ext cx="804672" cy="548640"/>
          </a:xfrm>
          <a:prstGeom prst="roundRect">
            <a:avLst>
              <a:gd name="adj" fmla="val 10000"/>
            </a:avLst>
          </a:prstGeom>
          <a:solidFill>
            <a:schemeClr val="accent5"/>
          </a:solidFill>
          <a:ln/>
        </p:spPr>
      </p:sp>
      <p:sp>
        <p:nvSpPr>
          <p:cNvPr id="31" name="Text 29"/>
          <p:cNvSpPr txBox="1"/>
          <p:nvPr/>
        </p:nvSpPr>
        <p:spPr>
          <a:xfrm>
            <a:off x="548640" y="4526280"/>
            <a:ext cx="1005840" cy="548640"/>
          </a:xfrm>
          <a:prstGeom prst="rect">
            <a:avLst/>
          </a:prstGeom>
          <a:noFill/>
          <a:ln/>
        </p:spPr>
        <p:txBody>
          <a:bodyPr wrap="square" lIns="0" tIns="0" rIns="0" bIns="0" rtlCol="0" anchor="ctr"/>
          <a:lstStyle/>
          <a:p>
            <a:pPr indent="0" marL="0">
              <a:buNone/>
            </a:pPr>
            <a:r>
              <a:rPr lang="en-US" sz="1400" b="1" dirty="0">
                <a:solidFill>
                  <a:schemeClr val="tx2"/>
                </a:solidFill>
              </a:rPr>
              <a:t>Round 5</a:t>
            </a:r>
            <a:endParaRPr lang="en-US" sz="1400" dirty="0"/>
          </a:p>
        </p:txBody>
      </p:sp>
      <p:sp>
        <p:nvSpPr>
          <p:cNvPr id="32" name="Shape 30"/>
          <p:cNvSpPr/>
          <p:nvPr/>
        </p:nvSpPr>
        <p:spPr>
          <a:xfrm>
            <a:off x="1645920" y="4526280"/>
            <a:ext cx="804672" cy="548640"/>
          </a:xfrm>
          <a:prstGeom prst="roundRect">
            <a:avLst>
              <a:gd name="adj" fmla="val 10000"/>
            </a:avLst>
          </a:prstGeom>
          <a:solidFill>
            <a:schemeClr val="accent5"/>
          </a:solidFill>
          <a:ln/>
        </p:spPr>
      </p:sp>
      <p:sp>
        <p:nvSpPr>
          <p:cNvPr id="33" name="Shape 31"/>
          <p:cNvSpPr/>
          <p:nvPr/>
        </p:nvSpPr>
        <p:spPr>
          <a:xfrm>
            <a:off x="2542032" y="4526280"/>
            <a:ext cx="804672" cy="548640"/>
          </a:xfrm>
          <a:prstGeom prst="roundRect">
            <a:avLst>
              <a:gd name="adj" fmla="val 10000"/>
            </a:avLst>
          </a:prstGeom>
          <a:solidFill>
            <a:schemeClr val="accent5"/>
          </a:solidFill>
          <a:ln/>
        </p:spPr>
      </p:sp>
      <p:sp>
        <p:nvSpPr>
          <p:cNvPr id="34" name="Shape 32"/>
          <p:cNvSpPr/>
          <p:nvPr/>
        </p:nvSpPr>
        <p:spPr>
          <a:xfrm>
            <a:off x="3438144" y="4526280"/>
            <a:ext cx="804672" cy="548640"/>
          </a:xfrm>
          <a:prstGeom prst="roundRect">
            <a:avLst>
              <a:gd name="adj" fmla="val 10000"/>
            </a:avLst>
          </a:prstGeom>
          <a:solidFill>
            <a:schemeClr val="accent5"/>
          </a:solidFill>
          <a:ln/>
        </p:spPr>
      </p:sp>
      <p:sp>
        <p:nvSpPr>
          <p:cNvPr id="35" name="Shape 33"/>
          <p:cNvSpPr/>
          <p:nvPr/>
        </p:nvSpPr>
        <p:spPr>
          <a:xfrm>
            <a:off x="4334256" y="4526280"/>
            <a:ext cx="804672" cy="548640"/>
          </a:xfrm>
          <a:prstGeom prst="roundRect">
            <a:avLst>
              <a:gd name="adj" fmla="val 10000"/>
            </a:avLst>
          </a:prstGeom>
          <a:solidFill>
            <a:schemeClr val="accent5"/>
          </a:solidFill>
          <a:ln/>
        </p:spPr>
      </p:sp>
      <p:sp>
        <p:nvSpPr>
          <p:cNvPr id="36" name="Shape 34"/>
          <p:cNvSpPr/>
          <p:nvPr/>
        </p:nvSpPr>
        <p:spPr>
          <a:xfrm>
            <a:off x="5230368" y="4526280"/>
            <a:ext cx="804672" cy="548640"/>
          </a:xfrm>
          <a:prstGeom prst="roundRect">
            <a:avLst>
              <a:gd name="adj" fmla="val 10000"/>
            </a:avLst>
          </a:prstGeom>
          <a:solidFill>
            <a:schemeClr val="accent1"/>
          </a:solidFill>
          <a:ln/>
        </p:spPr>
      </p:sp>
      <p:sp>
        <p:nvSpPr>
          <p:cNvPr id="37" name="Text 35"/>
          <p:cNvSpPr txBox="1"/>
          <p:nvPr/>
        </p:nvSpPr>
        <p:spPr>
          <a:xfrm>
            <a:off x="5230368" y="4526280"/>
            <a:ext cx="804672" cy="548640"/>
          </a:xfrm>
          <a:prstGeom prst="rect">
            <a:avLst/>
          </a:prstGeom>
          <a:noFill/>
          <a:ln/>
        </p:spPr>
        <p:txBody>
          <a:bodyPr wrap="square" lIns="0" tIns="0" rIns="0" bIns="0" rtlCol="0" anchor="ctr"/>
          <a:lstStyle/>
          <a:p>
            <a:pPr algn="ctr" indent="0" marL="0">
              <a:buNone/>
            </a:pPr>
            <a:r>
              <a:rPr lang="en-US" sz="1300" b="1" dirty="0">
                <a:solidFill>
                  <a:schemeClr val="bg1"/>
                </a:solidFill>
              </a:rPr>
              <a:t>test</a:t>
            </a:r>
            <a:endParaRPr lang="en-US" sz="1300" dirty="0"/>
          </a:p>
        </p:txBody>
      </p:sp>
      <p:sp>
        <p:nvSpPr>
          <p:cNvPr id="38" name="Shape 36"/>
          <p:cNvSpPr/>
          <p:nvPr/>
        </p:nvSpPr>
        <p:spPr>
          <a:xfrm>
            <a:off x="1645920" y="5440680"/>
            <a:ext cx="274320" cy="274320"/>
          </a:xfrm>
          <a:prstGeom prst="roundRect">
            <a:avLst>
              <a:gd name="adj" fmla="val 13333"/>
            </a:avLst>
          </a:prstGeom>
          <a:solidFill>
            <a:schemeClr val="accent5"/>
          </a:solidFill>
          <a:ln/>
        </p:spPr>
      </p:sp>
      <p:sp>
        <p:nvSpPr>
          <p:cNvPr id="39" name="Text 37"/>
          <p:cNvSpPr txBox="1"/>
          <p:nvPr/>
        </p:nvSpPr>
        <p:spPr>
          <a:xfrm>
            <a:off x="2011680" y="5413248"/>
            <a:ext cx="1828800" cy="320040"/>
          </a:xfrm>
          <a:prstGeom prst="rect">
            <a:avLst/>
          </a:prstGeom>
          <a:noFill/>
          <a:ln/>
        </p:spPr>
        <p:txBody>
          <a:bodyPr wrap="square" lIns="0" tIns="0" rIns="0" bIns="0" rtlCol="0" anchor="ctr"/>
          <a:lstStyle/>
          <a:p>
            <a:pPr indent="0" marL="0">
              <a:buNone/>
            </a:pPr>
            <a:r>
              <a:rPr lang="en-US" sz="1300" dirty="0">
                <a:solidFill>
                  <a:schemeClr val="accent4"/>
                </a:solidFill>
              </a:rPr>
              <a:t>train (242 patients)</a:t>
            </a:r>
            <a:endParaRPr lang="en-US" sz="1300" dirty="0"/>
          </a:p>
        </p:txBody>
      </p:sp>
      <p:sp>
        <p:nvSpPr>
          <p:cNvPr id="40" name="Shape 38"/>
          <p:cNvSpPr/>
          <p:nvPr/>
        </p:nvSpPr>
        <p:spPr>
          <a:xfrm>
            <a:off x="3931920" y="5440680"/>
            <a:ext cx="274320" cy="274320"/>
          </a:xfrm>
          <a:prstGeom prst="roundRect">
            <a:avLst>
              <a:gd name="adj" fmla="val 13333"/>
            </a:avLst>
          </a:prstGeom>
          <a:solidFill>
            <a:schemeClr val="accent1"/>
          </a:solidFill>
          <a:ln/>
        </p:spPr>
      </p:sp>
      <p:sp>
        <p:nvSpPr>
          <p:cNvPr id="41" name="Text 39"/>
          <p:cNvSpPr txBox="1"/>
          <p:nvPr/>
        </p:nvSpPr>
        <p:spPr>
          <a:xfrm>
            <a:off x="4297680" y="5413248"/>
            <a:ext cx="1371600" cy="320040"/>
          </a:xfrm>
          <a:prstGeom prst="rect">
            <a:avLst/>
          </a:prstGeom>
          <a:noFill/>
          <a:ln/>
        </p:spPr>
        <p:txBody>
          <a:bodyPr wrap="square" lIns="0" tIns="0" rIns="0" bIns="0" rtlCol="0" anchor="ctr"/>
          <a:lstStyle/>
          <a:p>
            <a:pPr indent="0" marL="0">
              <a:buNone/>
            </a:pPr>
            <a:r>
              <a:rPr lang="en-US" sz="1300" dirty="0">
                <a:solidFill>
                  <a:schemeClr val="accent4"/>
                </a:solidFill>
              </a:rPr>
              <a:t>test (61)</a:t>
            </a:r>
            <a:endParaRPr lang="en-US" sz="1300" dirty="0"/>
          </a:p>
        </p:txBody>
      </p:sp>
      <p:sp>
        <p:nvSpPr>
          <p:cNvPr id="42" name="Shape 40"/>
          <p:cNvSpPr/>
          <p:nvPr/>
        </p:nvSpPr>
        <p:spPr>
          <a:xfrm>
            <a:off x="6675120" y="1508760"/>
            <a:ext cx="594360" cy="594360"/>
          </a:xfrm>
          <a:prstGeom prst="ellipse">
            <a:avLst/>
          </a:prstGeom>
          <a:solidFill>
            <a:schemeClr val="accent2"/>
          </a:solidFill>
          <a:ln/>
        </p:spPr>
      </p:sp>
      <p:pic>
        <p:nvPicPr>
          <p:cNvPr id="43" name="Image 0" descr="preencoded.png">    </p:cNvPr>
          <p:cNvPicPr>
            <a:picLocks noChangeAspect="1"/>
          </p:cNvPicPr>
          <p:nvPr/>
        </p:nvPicPr>
        <p:blipFill>
          <a:blip r:embed="rId1"/>
          <a:stretch>
            <a:fillRect/>
          </a:stretch>
        </p:blipFill>
        <p:spPr>
          <a:xfrm>
            <a:off x="6817766" y="1651406"/>
            <a:ext cx="309067" cy="309067"/>
          </a:xfrm>
          <a:prstGeom prst="rect">
            <a:avLst/>
          </a:prstGeom>
        </p:spPr>
      </p:pic>
      <p:sp>
        <p:nvSpPr>
          <p:cNvPr id="44" name="Text 41"/>
          <p:cNvSpPr txBox="1"/>
          <p:nvPr/>
        </p:nvSpPr>
        <p:spPr>
          <a:xfrm>
            <a:off x="7498080" y="1463040"/>
            <a:ext cx="4114800" cy="1051560"/>
          </a:xfrm>
          <a:prstGeom prst="rect">
            <a:avLst/>
          </a:prstGeom>
          <a:noFill/>
          <a:ln/>
        </p:spPr>
        <p:txBody>
          <a:bodyPr wrap="square" lIns="0" tIns="0" rIns="0" bIns="0" rtlCol="0" anchor="t"/>
          <a:lstStyle/>
          <a:p>
            <a:pPr indent="0" marL="0">
              <a:buNone/>
            </a:pPr>
            <a:r>
              <a:rPr lang="en-US" sz="1500" b="1" dirty="0">
                <a:solidFill>
                  <a:schemeClr val="tx2"/>
                </a:solidFill>
              </a:rPr>
              <a:t>Every patient is tested exactly once</a:t>
            </a:r>
            <a:endParaRPr lang="en-US" sz="1500" dirty="0"/>
          </a:p>
          <a:p>
            <a:pPr indent="0" marL="0">
              <a:buNone/>
            </a:pPr>
            <a:r>
              <a:rPr lang="en-US" sz="1500" dirty="0">
                <a:solidFill>
                  <a:schemeClr val="tx1"/>
                </a:solidFill>
              </a:rPr>
              <a:t>always by a model that never saw them in training.</a:t>
            </a:r>
            <a:endParaRPr lang="en-US" sz="1500" dirty="0"/>
          </a:p>
        </p:txBody>
      </p:sp>
      <p:sp>
        <p:nvSpPr>
          <p:cNvPr id="45" name="Shape 42"/>
          <p:cNvSpPr/>
          <p:nvPr/>
        </p:nvSpPr>
        <p:spPr>
          <a:xfrm>
            <a:off x="6675120" y="2697480"/>
            <a:ext cx="594360" cy="594360"/>
          </a:xfrm>
          <a:prstGeom prst="ellipse">
            <a:avLst/>
          </a:prstGeom>
          <a:solidFill>
            <a:schemeClr val="accent2"/>
          </a:solidFill>
          <a:ln/>
        </p:spPr>
      </p:sp>
      <p:pic>
        <p:nvPicPr>
          <p:cNvPr id="46" name="Image 1" descr="preencoded.png">    </p:cNvPr>
          <p:cNvPicPr>
            <a:picLocks noChangeAspect="1"/>
          </p:cNvPicPr>
          <p:nvPr/>
        </p:nvPicPr>
        <p:blipFill>
          <a:blip r:embed="rId2"/>
          <a:stretch>
            <a:fillRect/>
          </a:stretch>
        </p:blipFill>
        <p:spPr>
          <a:xfrm>
            <a:off x="6817766" y="2840126"/>
            <a:ext cx="309067" cy="309067"/>
          </a:xfrm>
          <a:prstGeom prst="rect">
            <a:avLst/>
          </a:prstGeom>
        </p:spPr>
      </p:pic>
      <p:sp>
        <p:nvSpPr>
          <p:cNvPr id="47" name="Text 43"/>
          <p:cNvSpPr txBox="1"/>
          <p:nvPr/>
        </p:nvSpPr>
        <p:spPr>
          <a:xfrm>
            <a:off x="7498080" y="2651760"/>
            <a:ext cx="4114800" cy="1051560"/>
          </a:xfrm>
          <a:prstGeom prst="rect">
            <a:avLst/>
          </a:prstGeom>
          <a:noFill/>
          <a:ln/>
        </p:spPr>
        <p:txBody>
          <a:bodyPr wrap="square" lIns="0" tIns="0" rIns="0" bIns="0" rtlCol="0" anchor="t"/>
          <a:lstStyle/>
          <a:p>
            <a:pPr indent="0" marL="0">
              <a:buNone/>
            </a:pPr>
            <a:r>
              <a:rPr lang="en-US" sz="1500" b="1" dirty="0">
                <a:solidFill>
                  <a:schemeClr val="tx2"/>
                </a:solidFill>
              </a:rPr>
              <a:t>Stratified</a:t>
            </a:r>
            <a:endParaRPr lang="en-US" sz="1500" dirty="0"/>
          </a:p>
          <a:p>
            <a:pPr indent="0" marL="0">
              <a:buNone/>
            </a:pPr>
            <a:r>
              <a:rPr lang="en-US" sz="1500" dirty="0">
                <a:solidFill>
                  <a:schemeClr val="tx1"/>
                </a:solidFill>
              </a:rPr>
              <a:t>each fold keeps the same disease / no-disease ratio.</a:t>
            </a:r>
            <a:endParaRPr lang="en-US" sz="1500" dirty="0"/>
          </a:p>
        </p:txBody>
      </p:sp>
      <p:sp>
        <p:nvSpPr>
          <p:cNvPr id="48" name="Shape 44"/>
          <p:cNvSpPr/>
          <p:nvPr/>
        </p:nvSpPr>
        <p:spPr>
          <a:xfrm>
            <a:off x="6675120" y="3886200"/>
            <a:ext cx="594360" cy="594360"/>
          </a:xfrm>
          <a:prstGeom prst="ellipse">
            <a:avLst/>
          </a:prstGeom>
          <a:solidFill>
            <a:schemeClr val="accent2"/>
          </a:solidFill>
          <a:ln/>
        </p:spPr>
      </p:sp>
      <p:pic>
        <p:nvPicPr>
          <p:cNvPr id="49" name="Image 2" descr="preencoded.png">    </p:cNvPr>
          <p:cNvPicPr>
            <a:picLocks noChangeAspect="1"/>
          </p:cNvPicPr>
          <p:nvPr/>
        </p:nvPicPr>
        <p:blipFill>
          <a:blip r:embed="rId3"/>
          <a:stretch>
            <a:fillRect/>
          </a:stretch>
        </p:blipFill>
        <p:spPr>
          <a:xfrm>
            <a:off x="6817766" y="4028846"/>
            <a:ext cx="309067" cy="309067"/>
          </a:xfrm>
          <a:prstGeom prst="rect">
            <a:avLst/>
          </a:prstGeom>
        </p:spPr>
      </p:pic>
      <p:sp>
        <p:nvSpPr>
          <p:cNvPr id="50" name="Text 45"/>
          <p:cNvSpPr txBox="1"/>
          <p:nvPr/>
        </p:nvSpPr>
        <p:spPr>
          <a:xfrm>
            <a:off x="7498080" y="3840480"/>
            <a:ext cx="4114800" cy="1051560"/>
          </a:xfrm>
          <a:prstGeom prst="rect">
            <a:avLst/>
          </a:prstGeom>
          <a:noFill/>
          <a:ln/>
        </p:spPr>
        <p:txBody>
          <a:bodyPr wrap="square" lIns="0" tIns="0" rIns="0" bIns="0" rtlCol="0" anchor="t"/>
          <a:lstStyle/>
          <a:p>
            <a:pPr indent="0" marL="0">
              <a:buNone/>
            </a:pPr>
            <a:r>
              <a:rPr lang="en-US" sz="1500" b="1" dirty="0">
                <a:solidFill>
                  <a:schemeClr val="tx2"/>
                </a:solidFill>
              </a:rPr>
              <a:t>Nested tuning</a:t>
            </a:r>
            <a:endParaRPr lang="en-US" sz="1500" dirty="0"/>
          </a:p>
          <a:p>
            <a:pPr indent="0" marL="0">
              <a:buNone/>
            </a:pPr>
            <a:r>
              <a:rPr lang="en-US" sz="1500" dirty="0">
                <a:solidFill>
                  <a:schemeClr val="tx1"/>
                </a:solidFill>
              </a:rPr>
              <a:t>hyperparameters are chosen by a second 5-fold split inside the training part only.</a:t>
            </a:r>
            <a:endParaRPr lang="en-US" sz="1500" dirty="0"/>
          </a:p>
        </p:txBody>
      </p:sp>
      <p:sp>
        <p:nvSpPr>
          <p:cNvPr id="51" name="Shape 46"/>
          <p:cNvSpPr/>
          <p:nvPr/>
        </p:nvSpPr>
        <p:spPr>
          <a:xfrm>
            <a:off x="6675120" y="5074920"/>
            <a:ext cx="594360" cy="594360"/>
          </a:xfrm>
          <a:prstGeom prst="ellipse">
            <a:avLst/>
          </a:prstGeom>
          <a:solidFill>
            <a:schemeClr val="accent2"/>
          </a:solidFill>
          <a:ln/>
        </p:spPr>
      </p:sp>
      <p:pic>
        <p:nvPicPr>
          <p:cNvPr id="52" name="Image 3" descr="preencoded.png">    </p:cNvPr>
          <p:cNvPicPr>
            <a:picLocks noChangeAspect="1"/>
          </p:cNvPicPr>
          <p:nvPr/>
        </p:nvPicPr>
        <p:blipFill>
          <a:blip r:embed="rId4"/>
          <a:stretch>
            <a:fillRect/>
          </a:stretch>
        </p:blipFill>
        <p:spPr>
          <a:xfrm>
            <a:off x="6817766" y="5217566"/>
            <a:ext cx="309067" cy="309067"/>
          </a:xfrm>
          <a:prstGeom prst="rect">
            <a:avLst/>
          </a:prstGeom>
        </p:spPr>
      </p:pic>
      <p:sp>
        <p:nvSpPr>
          <p:cNvPr id="53" name="Text 47"/>
          <p:cNvSpPr txBox="1"/>
          <p:nvPr/>
        </p:nvSpPr>
        <p:spPr>
          <a:xfrm>
            <a:off x="7498080" y="5029200"/>
            <a:ext cx="4114800" cy="1051560"/>
          </a:xfrm>
          <a:prstGeom prst="rect">
            <a:avLst/>
          </a:prstGeom>
          <a:noFill/>
          <a:ln/>
        </p:spPr>
        <p:txBody>
          <a:bodyPr wrap="square" lIns="0" tIns="0" rIns="0" bIns="0" rtlCol="0" anchor="t"/>
          <a:lstStyle/>
          <a:p>
            <a:pPr indent="0" marL="0">
              <a:buNone/>
            </a:pPr>
            <a:r>
              <a:rPr lang="en-US" sz="1500" b="1" dirty="0">
                <a:solidFill>
                  <a:schemeClr val="tx2"/>
                </a:solidFill>
              </a:rPr>
              <a:t>Why not one 80/20 split?</a:t>
            </a:r>
            <a:endParaRPr lang="en-US" sz="1500" dirty="0"/>
          </a:p>
          <a:p>
            <a:pPr indent="0" marL="0">
              <a:buNone/>
            </a:pPr>
            <a:r>
              <a:rPr lang="en-US" sz="1500" dirty="0">
                <a:solidFill>
                  <a:schemeClr val="tx1"/>
                </a:solidFill>
              </a:rPr>
              <a:t>With 61 test patients, 1 patient moves accuracy by 1.6 points. One split is too noisy.</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chemeClr val="tx2"/>
                </a:solidFill>
              </a:rPr>
              <a:t>Three models, from simple to complex</a:t>
            </a:r>
            <a:endParaRPr lang="en-US" sz="3400" dirty="0"/>
          </a:p>
        </p:txBody>
      </p:sp>
      <p:sp>
        <p:nvSpPr>
          <p:cNvPr id="3" name="Shape 1"/>
          <p:cNvSpPr/>
          <p:nvPr/>
        </p:nvSpPr>
        <p:spPr>
          <a:xfrm>
            <a:off x="548640" y="1325880"/>
            <a:ext cx="3520440" cy="3200400"/>
          </a:xfrm>
          <a:prstGeom prst="roundRect">
            <a:avLst>
              <a:gd name="adj" fmla="val 3429"/>
            </a:avLst>
          </a:prstGeom>
          <a:solidFill>
            <a:schemeClr val="bg2"/>
          </a:solidFill>
          <a:ln/>
        </p:spPr>
      </p:sp>
      <p:sp>
        <p:nvSpPr>
          <p:cNvPr id="4" name="Shape 2"/>
          <p:cNvSpPr/>
          <p:nvPr/>
        </p:nvSpPr>
        <p:spPr>
          <a:xfrm>
            <a:off x="822960" y="1600200"/>
            <a:ext cx="731520" cy="731520"/>
          </a:xfrm>
          <a:prstGeom prst="ellipse">
            <a:avLst/>
          </a:prstGeom>
          <a:solidFill>
            <a:schemeClr val="tx2"/>
          </a:solidFill>
          <a:ln/>
        </p:spPr>
      </p:sp>
      <p:pic>
        <p:nvPicPr>
          <p:cNvPr id="5" name="Image 0" descr="preencoded.png">    </p:cNvPr>
          <p:cNvPicPr>
            <a:picLocks noChangeAspect="1"/>
          </p:cNvPicPr>
          <p:nvPr/>
        </p:nvPicPr>
        <p:blipFill>
          <a:blip r:embed="rId1"/>
          <a:stretch>
            <a:fillRect/>
          </a:stretch>
        </p:blipFill>
        <p:spPr>
          <a:xfrm>
            <a:off x="998525" y="1775765"/>
            <a:ext cx="380390" cy="380390"/>
          </a:xfrm>
          <a:prstGeom prst="rect">
            <a:avLst/>
          </a:prstGeom>
        </p:spPr>
      </p:pic>
      <p:sp>
        <p:nvSpPr>
          <p:cNvPr id="6" name="Text 3"/>
          <p:cNvSpPr txBox="1"/>
          <p:nvPr/>
        </p:nvSpPr>
        <p:spPr>
          <a:xfrm>
            <a:off x="822960" y="2468880"/>
            <a:ext cx="2971800" cy="41148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Logistic Regression</a:t>
            </a:r>
            <a:endParaRPr lang="en-US" sz="1900" dirty="0"/>
          </a:p>
        </p:txBody>
      </p:sp>
      <p:sp>
        <p:nvSpPr>
          <p:cNvPr id="7" name="Text 4"/>
          <p:cNvSpPr txBox="1"/>
          <p:nvPr/>
        </p:nvSpPr>
        <p:spPr>
          <a:xfrm>
            <a:off x="822960" y="2926080"/>
            <a:ext cx="2971800" cy="868680"/>
          </a:xfrm>
          <a:prstGeom prst="rect">
            <a:avLst/>
          </a:prstGeom>
          <a:noFill/>
          <a:ln/>
        </p:spPr>
        <p:txBody>
          <a:bodyPr wrap="square" lIns="0" tIns="0" rIns="0" bIns="0" rtlCol="0" anchor="t"/>
          <a:lstStyle/>
          <a:p>
            <a:pPr indent="0" marL="0">
              <a:buNone/>
            </a:pPr>
            <a:r>
              <a:rPr lang="en-US" sz="1500" dirty="0">
                <a:solidFill>
                  <a:schemeClr val="tx1"/>
                </a:solidFill>
              </a:rPr>
              <a:t>A weighted sum of the features, turned into a probability.</a:t>
            </a:r>
            <a:endParaRPr lang="en-US" sz="1500" dirty="0"/>
          </a:p>
        </p:txBody>
      </p:sp>
      <p:sp>
        <p:nvSpPr>
          <p:cNvPr id="8" name="Text 5"/>
          <p:cNvSpPr txBox="1"/>
          <p:nvPr/>
        </p:nvSpPr>
        <p:spPr>
          <a:xfrm>
            <a:off x="822960" y="3840480"/>
            <a:ext cx="2971800" cy="731520"/>
          </a:xfrm>
          <a:prstGeom prst="rect">
            <a:avLst/>
          </a:prstGeom>
          <a:noFill/>
          <a:ln/>
        </p:spPr>
        <p:txBody>
          <a:bodyPr wrap="square" lIns="0" tIns="0" rIns="0" bIns="0" rtlCol="0" anchor="t"/>
          <a:lstStyle/>
          <a:p>
            <a:pPr indent="0" marL="0">
              <a:buNone/>
            </a:pPr>
            <a:r>
              <a:rPr lang="en-US" sz="1300" dirty="0">
                <a:solidFill>
                  <a:schemeClr val="accent4"/>
                </a:solidFill>
              </a:rPr>
              <a:t>Tuned: regularisation strength C</a:t>
            </a:r>
            <a:endParaRPr lang="en-US" sz="1300" dirty="0"/>
          </a:p>
        </p:txBody>
      </p:sp>
      <p:sp>
        <p:nvSpPr>
          <p:cNvPr id="9" name="Shape 6"/>
          <p:cNvSpPr/>
          <p:nvPr/>
        </p:nvSpPr>
        <p:spPr>
          <a:xfrm>
            <a:off x="548640" y="4846320"/>
            <a:ext cx="1303944" cy="411480"/>
          </a:xfrm>
          <a:prstGeom prst="roundRect">
            <a:avLst>
              <a:gd name="adj" fmla="val 13333"/>
            </a:avLst>
          </a:prstGeom>
          <a:solidFill>
            <a:schemeClr val="accent2"/>
          </a:solidFill>
          <a:ln/>
        </p:spPr>
      </p:sp>
      <p:sp>
        <p:nvSpPr>
          <p:cNvPr id="10" name="Text 7"/>
          <p:cNvSpPr txBox="1"/>
          <p:nvPr/>
        </p:nvSpPr>
        <p:spPr>
          <a:xfrm>
            <a:off x="548640" y="5349240"/>
            <a:ext cx="3520440" cy="320040"/>
          </a:xfrm>
          <a:prstGeom prst="rect">
            <a:avLst/>
          </a:prstGeom>
          <a:noFill/>
          <a:ln/>
        </p:spPr>
        <p:txBody>
          <a:bodyPr wrap="square" lIns="0" tIns="0" rIns="0" bIns="0" rtlCol="0" anchor="t"/>
          <a:lstStyle/>
          <a:p>
            <a:pPr indent="0" marL="0">
              <a:buNone/>
            </a:pPr>
            <a:r>
              <a:rPr lang="en-US" sz="1500" b="1" dirty="0">
                <a:solidFill>
                  <a:schemeClr val="tx2"/>
                </a:solidFill>
              </a:rPr>
              <a:t>26 parameters</a:t>
            </a:r>
            <a:endParaRPr lang="en-US" sz="1500" dirty="0"/>
          </a:p>
        </p:txBody>
      </p:sp>
      <p:sp>
        <p:nvSpPr>
          <p:cNvPr id="11" name="Shape 8"/>
          <p:cNvSpPr/>
          <p:nvPr/>
        </p:nvSpPr>
        <p:spPr>
          <a:xfrm>
            <a:off x="4343400" y="1325880"/>
            <a:ext cx="3520440" cy="3200400"/>
          </a:xfrm>
          <a:prstGeom prst="roundRect">
            <a:avLst>
              <a:gd name="adj" fmla="val 3429"/>
            </a:avLst>
          </a:prstGeom>
          <a:solidFill>
            <a:schemeClr val="bg2"/>
          </a:solidFill>
          <a:ln/>
        </p:spPr>
      </p:sp>
      <p:sp>
        <p:nvSpPr>
          <p:cNvPr id="12" name="Shape 9"/>
          <p:cNvSpPr/>
          <p:nvPr/>
        </p:nvSpPr>
        <p:spPr>
          <a:xfrm>
            <a:off x="4617720" y="1600200"/>
            <a:ext cx="731520" cy="731520"/>
          </a:xfrm>
          <a:prstGeom prst="ellipse">
            <a:avLst/>
          </a:prstGeom>
          <a:solidFill>
            <a:schemeClr val="tx2"/>
          </a:solidFill>
          <a:ln/>
        </p:spPr>
      </p:sp>
      <p:pic>
        <p:nvPicPr>
          <p:cNvPr id="13" name="Image 1" descr="preencoded.png">    </p:cNvPr>
          <p:cNvPicPr>
            <a:picLocks noChangeAspect="1"/>
          </p:cNvPicPr>
          <p:nvPr/>
        </p:nvPicPr>
        <p:blipFill>
          <a:blip r:embed="rId2"/>
          <a:stretch>
            <a:fillRect/>
          </a:stretch>
        </p:blipFill>
        <p:spPr>
          <a:xfrm>
            <a:off x="4793285" y="1775765"/>
            <a:ext cx="380390" cy="380390"/>
          </a:xfrm>
          <a:prstGeom prst="rect">
            <a:avLst/>
          </a:prstGeom>
        </p:spPr>
      </p:pic>
      <p:sp>
        <p:nvSpPr>
          <p:cNvPr id="14" name="Text 10"/>
          <p:cNvSpPr txBox="1"/>
          <p:nvPr/>
        </p:nvSpPr>
        <p:spPr>
          <a:xfrm>
            <a:off x="4617720" y="2468880"/>
            <a:ext cx="2971800" cy="41148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Neural network (MLP)</a:t>
            </a:r>
            <a:endParaRPr lang="en-US" sz="1900" dirty="0"/>
          </a:p>
        </p:txBody>
      </p:sp>
      <p:sp>
        <p:nvSpPr>
          <p:cNvPr id="15" name="Text 11"/>
          <p:cNvSpPr txBox="1"/>
          <p:nvPr/>
        </p:nvSpPr>
        <p:spPr>
          <a:xfrm>
            <a:off x="4617720" y="2926080"/>
            <a:ext cx="2971800" cy="868680"/>
          </a:xfrm>
          <a:prstGeom prst="rect">
            <a:avLst/>
          </a:prstGeom>
          <a:noFill/>
          <a:ln/>
        </p:spPr>
        <p:txBody>
          <a:bodyPr wrap="square" lIns="0" tIns="0" rIns="0" bIns="0" rtlCol="0" anchor="t"/>
          <a:lstStyle/>
          <a:p>
            <a:pPr indent="0" marL="0">
              <a:buNone/>
            </a:pPr>
            <a:r>
              <a:rPr lang="en-US" sz="1500" dirty="0">
                <a:solidFill>
                  <a:schemeClr val="tx1"/>
                </a:solidFill>
              </a:rPr>
              <a:t>Layers 25 → 16 → 8 → 1 with dropout and early stopping.</a:t>
            </a:r>
            <a:endParaRPr lang="en-US" sz="1500" dirty="0"/>
          </a:p>
        </p:txBody>
      </p:sp>
      <p:sp>
        <p:nvSpPr>
          <p:cNvPr id="16" name="Text 12"/>
          <p:cNvSpPr txBox="1"/>
          <p:nvPr/>
        </p:nvSpPr>
        <p:spPr>
          <a:xfrm>
            <a:off x="4617720" y="3840480"/>
            <a:ext cx="2971800" cy="731520"/>
          </a:xfrm>
          <a:prstGeom prst="rect">
            <a:avLst/>
          </a:prstGeom>
          <a:noFill/>
          <a:ln/>
        </p:spPr>
        <p:txBody>
          <a:bodyPr wrap="square" lIns="0" tIns="0" rIns="0" bIns="0" rtlCol="0" anchor="t"/>
          <a:lstStyle/>
          <a:p>
            <a:pPr indent="0" marL="0">
              <a:buNone/>
            </a:pPr>
            <a:r>
              <a:rPr lang="en-US" sz="1300" dirty="0">
                <a:solidFill>
                  <a:schemeClr val="accent4"/>
                </a:solidFill>
              </a:rPr>
              <a:t>Trained with Adam, learning rate 0.001</a:t>
            </a:r>
            <a:endParaRPr lang="en-US" sz="1300" dirty="0"/>
          </a:p>
        </p:txBody>
      </p:sp>
      <p:sp>
        <p:nvSpPr>
          <p:cNvPr id="17" name="Shape 13"/>
          <p:cNvSpPr/>
          <p:nvPr/>
        </p:nvSpPr>
        <p:spPr>
          <a:xfrm>
            <a:off x="4343400" y="4846320"/>
            <a:ext cx="2533259" cy="411480"/>
          </a:xfrm>
          <a:prstGeom prst="roundRect">
            <a:avLst>
              <a:gd name="adj" fmla="val 13333"/>
            </a:avLst>
          </a:prstGeom>
          <a:solidFill>
            <a:schemeClr val="accent3"/>
          </a:solidFill>
          <a:ln/>
        </p:spPr>
      </p:sp>
      <p:sp>
        <p:nvSpPr>
          <p:cNvPr id="18" name="Text 14"/>
          <p:cNvSpPr txBox="1"/>
          <p:nvPr/>
        </p:nvSpPr>
        <p:spPr>
          <a:xfrm>
            <a:off x="4343400" y="5349240"/>
            <a:ext cx="3520440" cy="320040"/>
          </a:xfrm>
          <a:prstGeom prst="rect">
            <a:avLst/>
          </a:prstGeom>
          <a:noFill/>
          <a:ln/>
        </p:spPr>
        <p:txBody>
          <a:bodyPr wrap="square" lIns="0" tIns="0" rIns="0" bIns="0" rtlCol="0" anchor="t"/>
          <a:lstStyle/>
          <a:p>
            <a:pPr indent="0" marL="0">
              <a:buNone/>
            </a:pPr>
            <a:r>
              <a:rPr lang="en-US" sz="1500" b="1" dirty="0">
                <a:solidFill>
                  <a:schemeClr val="tx2"/>
                </a:solidFill>
              </a:rPr>
              <a:t>561 parameters</a:t>
            </a:r>
            <a:endParaRPr lang="en-US" sz="1500" dirty="0"/>
          </a:p>
        </p:txBody>
      </p:sp>
      <p:sp>
        <p:nvSpPr>
          <p:cNvPr id="19" name="Shape 15"/>
          <p:cNvSpPr/>
          <p:nvPr/>
        </p:nvSpPr>
        <p:spPr>
          <a:xfrm>
            <a:off x="8138160" y="1325880"/>
            <a:ext cx="3520440" cy="3200400"/>
          </a:xfrm>
          <a:prstGeom prst="roundRect">
            <a:avLst>
              <a:gd name="adj" fmla="val 3429"/>
            </a:avLst>
          </a:prstGeom>
          <a:solidFill>
            <a:schemeClr val="bg2"/>
          </a:solidFill>
          <a:ln/>
        </p:spPr>
      </p:sp>
      <p:sp>
        <p:nvSpPr>
          <p:cNvPr id="20" name="Shape 16"/>
          <p:cNvSpPr/>
          <p:nvPr/>
        </p:nvSpPr>
        <p:spPr>
          <a:xfrm>
            <a:off x="8412480" y="1600200"/>
            <a:ext cx="731520" cy="731520"/>
          </a:xfrm>
          <a:prstGeom prst="ellipse">
            <a:avLst/>
          </a:prstGeom>
          <a:solidFill>
            <a:schemeClr val="tx2"/>
          </a:solidFill>
          <a:ln/>
        </p:spPr>
      </p:sp>
      <p:pic>
        <p:nvPicPr>
          <p:cNvPr id="21" name="Image 2" descr="preencoded.png">    </p:cNvPr>
          <p:cNvPicPr>
            <a:picLocks noChangeAspect="1"/>
          </p:cNvPicPr>
          <p:nvPr/>
        </p:nvPicPr>
        <p:blipFill>
          <a:blip r:embed="rId3"/>
          <a:stretch>
            <a:fillRect/>
          </a:stretch>
        </p:blipFill>
        <p:spPr>
          <a:xfrm>
            <a:off x="8588045" y="1775765"/>
            <a:ext cx="380390" cy="380390"/>
          </a:xfrm>
          <a:prstGeom prst="rect">
            <a:avLst/>
          </a:prstGeom>
        </p:spPr>
      </p:pic>
      <p:sp>
        <p:nvSpPr>
          <p:cNvPr id="22" name="Text 17"/>
          <p:cNvSpPr txBox="1"/>
          <p:nvPr/>
        </p:nvSpPr>
        <p:spPr>
          <a:xfrm>
            <a:off x="8412480" y="2468880"/>
            <a:ext cx="2971800" cy="41148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XGBoost</a:t>
            </a:r>
            <a:endParaRPr lang="en-US" sz="1900" dirty="0"/>
          </a:p>
        </p:txBody>
      </p:sp>
      <p:sp>
        <p:nvSpPr>
          <p:cNvPr id="23" name="Text 18"/>
          <p:cNvSpPr txBox="1"/>
          <p:nvPr/>
        </p:nvSpPr>
        <p:spPr>
          <a:xfrm>
            <a:off x="8412480" y="2926080"/>
            <a:ext cx="2971800" cy="868680"/>
          </a:xfrm>
          <a:prstGeom prst="rect">
            <a:avLst/>
          </a:prstGeom>
          <a:noFill/>
          <a:ln/>
        </p:spPr>
        <p:txBody>
          <a:bodyPr wrap="square" lIns="0" tIns="0" rIns="0" bIns="0" rtlCol="0" anchor="t"/>
          <a:lstStyle/>
          <a:p>
            <a:pPr indent="0" marL="0">
              <a:buNone/>
            </a:pPr>
            <a:r>
              <a:rPr lang="en-US" sz="1500" dirty="0">
                <a:solidFill>
                  <a:schemeClr val="tx1"/>
                </a:solidFill>
              </a:rPr>
              <a:t>Hundreds of small decision trees, each correcting the last one's errors.</a:t>
            </a:r>
            <a:endParaRPr lang="en-US" sz="1500" dirty="0"/>
          </a:p>
        </p:txBody>
      </p:sp>
      <p:sp>
        <p:nvSpPr>
          <p:cNvPr id="24" name="Text 19"/>
          <p:cNvSpPr txBox="1"/>
          <p:nvPr/>
        </p:nvSpPr>
        <p:spPr>
          <a:xfrm>
            <a:off x="8412480" y="3840480"/>
            <a:ext cx="2971800" cy="731520"/>
          </a:xfrm>
          <a:prstGeom prst="rect">
            <a:avLst/>
          </a:prstGeom>
          <a:noFill/>
          <a:ln/>
        </p:spPr>
        <p:txBody>
          <a:bodyPr wrap="square" lIns="0" tIns="0" rIns="0" bIns="0" rtlCol="0" anchor="t"/>
          <a:lstStyle/>
          <a:p>
            <a:pPr indent="0" marL="0">
              <a:buNone/>
            </a:pPr>
            <a:r>
              <a:rPr lang="en-US" sz="1300" dirty="0">
                <a:solidFill>
                  <a:schemeClr val="accent4"/>
                </a:solidFill>
              </a:rPr>
              <a:t>Tuned: trees, depth, learning rate</a:t>
            </a:r>
            <a:endParaRPr lang="en-US" sz="1300" dirty="0"/>
          </a:p>
        </p:txBody>
      </p:sp>
      <p:sp>
        <p:nvSpPr>
          <p:cNvPr id="25" name="Shape 20"/>
          <p:cNvSpPr/>
          <p:nvPr/>
        </p:nvSpPr>
        <p:spPr>
          <a:xfrm>
            <a:off x="8138160" y="4846320"/>
            <a:ext cx="3520440" cy="411480"/>
          </a:xfrm>
          <a:prstGeom prst="roundRect">
            <a:avLst>
              <a:gd name="adj" fmla="val 13333"/>
            </a:avLst>
          </a:prstGeom>
          <a:solidFill>
            <a:schemeClr val="accent1"/>
          </a:solidFill>
          <a:ln/>
        </p:spPr>
      </p:sp>
      <p:sp>
        <p:nvSpPr>
          <p:cNvPr id="26" name="Text 21"/>
          <p:cNvSpPr txBox="1"/>
          <p:nvPr/>
        </p:nvSpPr>
        <p:spPr>
          <a:xfrm>
            <a:off x="8138160" y="5349240"/>
            <a:ext cx="3520440" cy="320040"/>
          </a:xfrm>
          <a:prstGeom prst="rect">
            <a:avLst/>
          </a:prstGeom>
          <a:noFill/>
          <a:ln/>
        </p:spPr>
        <p:txBody>
          <a:bodyPr wrap="square" lIns="0" tIns="0" rIns="0" bIns="0" rtlCol="0" anchor="t"/>
          <a:lstStyle/>
          <a:p>
            <a:pPr indent="0" marL="0">
              <a:buNone/>
            </a:pPr>
            <a:r>
              <a:rPr lang="en-US" sz="1500" b="1" dirty="0">
                <a:solidFill>
                  <a:schemeClr val="tx2"/>
                </a:solidFill>
              </a:rPr>
              <a:t>up to 6,610 tree nodes</a:t>
            </a:r>
            <a:endParaRPr lang="en-US" sz="1500" dirty="0"/>
          </a:p>
        </p:txBody>
      </p:sp>
      <p:sp>
        <p:nvSpPr>
          <p:cNvPr id="27" name="Text 22"/>
          <p:cNvSpPr txBox="1"/>
          <p:nvPr/>
        </p:nvSpPr>
        <p:spPr>
          <a:xfrm>
            <a:off x="548640" y="5760720"/>
            <a:ext cx="7315200" cy="320040"/>
          </a:xfrm>
          <a:prstGeom prst="rect">
            <a:avLst/>
          </a:prstGeom>
          <a:noFill/>
          <a:ln/>
        </p:spPr>
        <p:txBody>
          <a:bodyPr wrap="square" lIns="0" tIns="0" rIns="0" bIns="0" rtlCol="0" anchor="t"/>
          <a:lstStyle/>
          <a:p>
            <a:pPr indent="0" marL="0">
              <a:buNone/>
            </a:pPr>
            <a:r>
              <a:rPr lang="en-US" sz="1200" dirty="0">
                <a:solidFill>
                  <a:schemeClr val="accent4"/>
                </a:solidFill>
              </a:rPr>
              <a:t>Bar length shows model size on a log scale.</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chemeClr val="tx2"/>
                </a:solidFill>
              </a:rPr>
              <a:t>Why recall matters most in diagnosis</a:t>
            </a:r>
            <a:endParaRPr lang="en-US" sz="3400" dirty="0"/>
          </a:p>
        </p:txBody>
      </p:sp>
      <p:sp>
        <p:nvSpPr>
          <p:cNvPr id="3" name="Text 1"/>
          <p:cNvSpPr txBox="1"/>
          <p:nvPr/>
        </p:nvSpPr>
        <p:spPr>
          <a:xfrm>
            <a:off x="548640" y="1280160"/>
            <a:ext cx="5669280" cy="320040"/>
          </a:xfrm>
          <a:prstGeom prst="rect">
            <a:avLst/>
          </a:prstGeom>
          <a:noFill/>
          <a:ln/>
        </p:spPr>
        <p:txBody>
          <a:bodyPr wrap="square" lIns="0" tIns="0" rIns="0" bIns="0" rtlCol="0" anchor="t"/>
          <a:lstStyle/>
          <a:p>
            <a:pPr indent="0" marL="0">
              <a:buNone/>
            </a:pPr>
            <a:r>
              <a:rPr lang="en-US" sz="1400" b="1" dirty="0">
                <a:solidFill>
                  <a:schemeClr val="accent4"/>
                </a:solidFill>
              </a:rPr>
              <a:t>Logistic regression, all 303 patients</a:t>
            </a:r>
            <a:endParaRPr lang="en-US" sz="1400" dirty="0"/>
          </a:p>
        </p:txBody>
      </p:sp>
      <p:sp>
        <p:nvSpPr>
          <p:cNvPr id="4" name="Text 2"/>
          <p:cNvSpPr txBox="1"/>
          <p:nvPr/>
        </p:nvSpPr>
        <p:spPr>
          <a:xfrm>
            <a:off x="2011680" y="1691640"/>
            <a:ext cx="2011680" cy="320040"/>
          </a:xfrm>
          <a:prstGeom prst="rect">
            <a:avLst/>
          </a:prstGeom>
          <a:noFill/>
          <a:ln/>
        </p:spPr>
        <p:txBody>
          <a:bodyPr wrap="square" lIns="0" tIns="0" rIns="0" bIns="0" rtlCol="0" anchor="t"/>
          <a:lstStyle/>
          <a:p>
            <a:pPr algn="ctr" indent="0" marL="0">
              <a:buNone/>
            </a:pPr>
            <a:r>
              <a:rPr lang="en-US" sz="1300" b="1" dirty="0">
                <a:solidFill>
                  <a:schemeClr val="tx2"/>
                </a:solidFill>
              </a:rPr>
              <a:t>Predicted: no disease</a:t>
            </a:r>
            <a:endParaRPr lang="en-US" sz="1300" dirty="0"/>
          </a:p>
        </p:txBody>
      </p:sp>
      <p:sp>
        <p:nvSpPr>
          <p:cNvPr id="5" name="Text 3"/>
          <p:cNvSpPr txBox="1"/>
          <p:nvPr/>
        </p:nvSpPr>
        <p:spPr>
          <a:xfrm>
            <a:off x="4160520" y="1691640"/>
            <a:ext cx="2011680" cy="320040"/>
          </a:xfrm>
          <a:prstGeom prst="rect">
            <a:avLst/>
          </a:prstGeom>
          <a:noFill/>
          <a:ln/>
        </p:spPr>
        <p:txBody>
          <a:bodyPr wrap="square" lIns="0" tIns="0" rIns="0" bIns="0" rtlCol="0" anchor="t"/>
          <a:lstStyle/>
          <a:p>
            <a:pPr algn="ctr" indent="0" marL="0">
              <a:buNone/>
            </a:pPr>
            <a:r>
              <a:rPr lang="en-US" sz="1300" b="1" dirty="0">
                <a:solidFill>
                  <a:schemeClr val="tx2"/>
                </a:solidFill>
              </a:rPr>
              <a:t>Predicted: disease</a:t>
            </a:r>
            <a:endParaRPr lang="en-US" sz="1300" dirty="0"/>
          </a:p>
        </p:txBody>
      </p:sp>
      <p:sp>
        <p:nvSpPr>
          <p:cNvPr id="6" name="Text 4"/>
          <p:cNvSpPr txBox="1"/>
          <p:nvPr/>
        </p:nvSpPr>
        <p:spPr>
          <a:xfrm>
            <a:off x="548640" y="2103120"/>
            <a:ext cx="1371600" cy="1737360"/>
          </a:xfrm>
          <a:prstGeom prst="rect">
            <a:avLst/>
          </a:prstGeom>
          <a:noFill/>
          <a:ln/>
        </p:spPr>
        <p:txBody>
          <a:bodyPr wrap="square" lIns="0" tIns="0" rIns="0" bIns="0" rtlCol="0" anchor="ctr"/>
          <a:lstStyle/>
          <a:p>
            <a:pPr indent="0" marL="0">
              <a:buNone/>
            </a:pPr>
            <a:r>
              <a:rPr lang="en-US" sz="1300" b="1" dirty="0">
                <a:solidFill>
                  <a:schemeClr val="tx2"/>
                </a:solidFill>
              </a:rPr>
              <a:t>Actually healthy</a:t>
            </a:r>
            <a:endParaRPr lang="en-US" sz="1300" dirty="0"/>
          </a:p>
        </p:txBody>
      </p:sp>
      <p:sp>
        <p:nvSpPr>
          <p:cNvPr id="7" name="Text 5"/>
          <p:cNvSpPr txBox="1"/>
          <p:nvPr/>
        </p:nvSpPr>
        <p:spPr>
          <a:xfrm>
            <a:off x="548640" y="3977640"/>
            <a:ext cx="1371600" cy="1737360"/>
          </a:xfrm>
          <a:prstGeom prst="rect">
            <a:avLst/>
          </a:prstGeom>
          <a:noFill/>
          <a:ln/>
        </p:spPr>
        <p:txBody>
          <a:bodyPr wrap="square" lIns="0" tIns="0" rIns="0" bIns="0" rtlCol="0" anchor="ctr"/>
          <a:lstStyle/>
          <a:p>
            <a:pPr indent="0" marL="0">
              <a:buNone/>
            </a:pPr>
            <a:r>
              <a:rPr lang="en-US" sz="1300" b="1" dirty="0">
                <a:solidFill>
                  <a:schemeClr val="tx2"/>
                </a:solidFill>
              </a:rPr>
              <a:t>Actually sick</a:t>
            </a:r>
            <a:endParaRPr lang="en-US" sz="1300" dirty="0"/>
          </a:p>
        </p:txBody>
      </p:sp>
      <p:sp>
        <p:nvSpPr>
          <p:cNvPr id="8" name="Shape 6"/>
          <p:cNvSpPr/>
          <p:nvPr/>
        </p:nvSpPr>
        <p:spPr>
          <a:xfrm>
            <a:off x="2011680" y="2103120"/>
            <a:ext cx="2011680" cy="1737360"/>
          </a:xfrm>
          <a:prstGeom prst="roundRect">
            <a:avLst>
              <a:gd name="adj" fmla="val 6316"/>
            </a:avLst>
          </a:prstGeom>
          <a:solidFill>
            <a:schemeClr val="bg2"/>
          </a:solidFill>
          <a:ln/>
        </p:spPr>
      </p:sp>
      <p:sp>
        <p:nvSpPr>
          <p:cNvPr id="9" name="Text 7"/>
          <p:cNvSpPr txBox="1"/>
          <p:nvPr/>
        </p:nvSpPr>
        <p:spPr>
          <a:xfrm>
            <a:off x="2011680" y="2103120"/>
            <a:ext cx="2011680" cy="1737360"/>
          </a:xfrm>
          <a:prstGeom prst="rect">
            <a:avLst/>
          </a:prstGeom>
          <a:noFill/>
          <a:ln/>
        </p:spPr>
        <p:txBody>
          <a:bodyPr wrap="square" lIns="0" tIns="0" rIns="0" bIns="0" rtlCol="0" anchor="ctr"/>
          <a:lstStyle/>
          <a:p>
            <a:pPr algn="ctr" indent="0" marL="0">
              <a:buNone/>
            </a:pPr>
            <a:r>
              <a:rPr lang="en-US" sz="4000" b="1" dirty="0">
                <a:solidFill>
                  <a:schemeClr val="tx2"/>
                </a:solidFill>
                <a:latin typeface="Cambria" pitchFamily="34" charset="0"/>
                <a:ea typeface="Cambria" pitchFamily="34" charset="-122"/>
                <a:cs typeface="Cambria" pitchFamily="34" charset="-120"/>
              </a:rPr>
              <a:t>146</a:t>
            </a:r>
            <a:endParaRPr lang="en-US" sz="1500" dirty="0"/>
          </a:p>
          <a:p>
            <a:pPr algn="ctr" indent="0" marL="0">
              <a:buNone/>
            </a:pPr>
            <a:r>
              <a:rPr lang="en-US" sz="1400" dirty="0">
                <a:solidFill>
                  <a:schemeClr val="tx2"/>
                </a:solidFill>
              </a:rPr>
              <a:t>correctly cleared</a:t>
            </a:r>
            <a:endParaRPr lang="en-US" sz="1500" dirty="0"/>
          </a:p>
        </p:txBody>
      </p:sp>
      <p:sp>
        <p:nvSpPr>
          <p:cNvPr id="10" name="Shape 8"/>
          <p:cNvSpPr/>
          <p:nvPr/>
        </p:nvSpPr>
        <p:spPr>
          <a:xfrm>
            <a:off x="4160520" y="2103120"/>
            <a:ext cx="2011680" cy="1737360"/>
          </a:xfrm>
          <a:prstGeom prst="roundRect">
            <a:avLst>
              <a:gd name="adj" fmla="val 6316"/>
            </a:avLst>
          </a:prstGeom>
          <a:solidFill>
            <a:schemeClr val="bg2"/>
          </a:solidFill>
          <a:ln/>
        </p:spPr>
      </p:sp>
      <p:sp>
        <p:nvSpPr>
          <p:cNvPr id="11" name="Text 9"/>
          <p:cNvSpPr txBox="1"/>
          <p:nvPr/>
        </p:nvSpPr>
        <p:spPr>
          <a:xfrm>
            <a:off x="4160520" y="2103120"/>
            <a:ext cx="2011680" cy="1737360"/>
          </a:xfrm>
          <a:prstGeom prst="rect">
            <a:avLst/>
          </a:prstGeom>
          <a:noFill/>
          <a:ln/>
        </p:spPr>
        <p:txBody>
          <a:bodyPr wrap="square" lIns="0" tIns="0" rIns="0" bIns="0" rtlCol="0" anchor="ctr"/>
          <a:lstStyle/>
          <a:p>
            <a:pPr algn="ctr" indent="0" marL="0">
              <a:buNone/>
            </a:pPr>
            <a:r>
              <a:rPr lang="en-US" sz="4000" b="1" dirty="0">
                <a:solidFill>
                  <a:schemeClr val="tx2"/>
                </a:solidFill>
                <a:latin typeface="Cambria" pitchFamily="34" charset="0"/>
                <a:ea typeface="Cambria" pitchFamily="34" charset="-122"/>
                <a:cs typeface="Cambria" pitchFamily="34" charset="-120"/>
              </a:rPr>
              <a:t>19</a:t>
            </a:r>
            <a:endParaRPr lang="en-US" sz="1500" dirty="0"/>
          </a:p>
          <a:p>
            <a:pPr algn="ctr" indent="0" marL="0">
              <a:buNone/>
            </a:pPr>
            <a:r>
              <a:rPr lang="en-US" sz="1400" dirty="0">
                <a:solidFill>
                  <a:schemeClr val="tx2"/>
                </a:solidFill>
              </a:rPr>
              <a:t>false alarm</a:t>
            </a:r>
            <a:endParaRPr lang="en-US" sz="1500" dirty="0"/>
          </a:p>
        </p:txBody>
      </p:sp>
      <p:sp>
        <p:nvSpPr>
          <p:cNvPr id="12" name="Shape 10"/>
          <p:cNvSpPr/>
          <p:nvPr/>
        </p:nvSpPr>
        <p:spPr>
          <a:xfrm>
            <a:off x="2011680" y="3977640"/>
            <a:ext cx="2011680" cy="1737360"/>
          </a:xfrm>
          <a:prstGeom prst="roundRect">
            <a:avLst>
              <a:gd name="adj" fmla="val 6316"/>
            </a:avLst>
          </a:prstGeom>
          <a:solidFill>
            <a:schemeClr val="accent1"/>
          </a:solidFill>
          <a:ln/>
        </p:spPr>
      </p:sp>
      <p:sp>
        <p:nvSpPr>
          <p:cNvPr id="13" name="Text 11"/>
          <p:cNvSpPr txBox="1"/>
          <p:nvPr/>
        </p:nvSpPr>
        <p:spPr>
          <a:xfrm>
            <a:off x="2011680" y="3977640"/>
            <a:ext cx="2011680" cy="1737360"/>
          </a:xfrm>
          <a:prstGeom prst="rect">
            <a:avLst/>
          </a:prstGeom>
          <a:noFill/>
          <a:ln/>
        </p:spPr>
        <p:txBody>
          <a:bodyPr wrap="square" lIns="0" tIns="0" rIns="0" bIns="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26</a:t>
            </a:r>
            <a:endParaRPr lang="en-US" sz="1500" dirty="0"/>
          </a:p>
          <a:p>
            <a:pPr algn="ctr" indent="0" marL="0">
              <a:buNone/>
            </a:pPr>
            <a:r>
              <a:rPr lang="en-US" sz="1400" dirty="0">
                <a:solidFill>
                  <a:schemeClr val="bg1"/>
                </a:solidFill>
              </a:rPr>
              <a:t>missed disease</a:t>
            </a:r>
            <a:endParaRPr lang="en-US" sz="1500" dirty="0"/>
          </a:p>
        </p:txBody>
      </p:sp>
      <p:sp>
        <p:nvSpPr>
          <p:cNvPr id="14" name="Shape 12"/>
          <p:cNvSpPr/>
          <p:nvPr/>
        </p:nvSpPr>
        <p:spPr>
          <a:xfrm>
            <a:off x="4160520" y="3977640"/>
            <a:ext cx="2011680" cy="1737360"/>
          </a:xfrm>
          <a:prstGeom prst="roundRect">
            <a:avLst>
              <a:gd name="adj" fmla="val 6316"/>
            </a:avLst>
          </a:prstGeom>
          <a:solidFill>
            <a:schemeClr val="accent2"/>
          </a:solidFill>
          <a:ln/>
        </p:spPr>
      </p:sp>
      <p:sp>
        <p:nvSpPr>
          <p:cNvPr id="15" name="Text 13"/>
          <p:cNvSpPr txBox="1"/>
          <p:nvPr/>
        </p:nvSpPr>
        <p:spPr>
          <a:xfrm>
            <a:off x="4160520" y="3977640"/>
            <a:ext cx="2011680" cy="1737360"/>
          </a:xfrm>
          <a:prstGeom prst="rect">
            <a:avLst/>
          </a:prstGeom>
          <a:noFill/>
          <a:ln/>
        </p:spPr>
        <p:txBody>
          <a:bodyPr wrap="square" lIns="0" tIns="0" rIns="0" bIns="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112</a:t>
            </a:r>
            <a:endParaRPr lang="en-US" sz="1500" dirty="0"/>
          </a:p>
          <a:p>
            <a:pPr algn="ctr" indent="0" marL="0">
              <a:buNone/>
            </a:pPr>
            <a:r>
              <a:rPr lang="en-US" sz="1400" dirty="0">
                <a:solidFill>
                  <a:schemeClr val="bg1"/>
                </a:solidFill>
              </a:rPr>
              <a:t>disease caught</a:t>
            </a:r>
            <a:endParaRPr lang="en-US" sz="1500" dirty="0"/>
          </a:p>
        </p:txBody>
      </p:sp>
      <p:sp>
        <p:nvSpPr>
          <p:cNvPr id="16" name="Text 14"/>
          <p:cNvSpPr txBox="1"/>
          <p:nvPr/>
        </p:nvSpPr>
        <p:spPr>
          <a:xfrm>
            <a:off x="6766560" y="1325880"/>
            <a:ext cx="4846320" cy="777240"/>
          </a:xfrm>
          <a:prstGeom prst="rect">
            <a:avLst/>
          </a:prstGeom>
          <a:noFill/>
          <a:ln/>
        </p:spPr>
        <p:txBody>
          <a:bodyPr wrap="square" lIns="0" tIns="0" rIns="0" bIns="0" rtlCol="0" anchor="t"/>
          <a:lstStyle/>
          <a:p>
            <a:pPr indent="0" marL="0">
              <a:buNone/>
            </a:pPr>
            <a:r>
              <a:rPr lang="en-US" sz="1500" b="1" dirty="0">
                <a:solidFill>
                  <a:schemeClr val="accent2"/>
                </a:solidFill>
              </a:rPr>
              <a:t>Recall</a:t>
            </a:r>
            <a:endParaRPr lang="en-US" sz="1500" dirty="0"/>
          </a:p>
          <a:p>
            <a:pPr indent="0" marL="0">
              <a:buNone/>
            </a:pPr>
            <a:r>
              <a:rPr lang="en-US" sz="1500" dirty="0">
                <a:solidFill>
                  <a:schemeClr val="tx1"/>
                </a:solidFill>
              </a:rPr>
              <a:t>sick patients caught ÷ all sick = 112 ÷ 138 = 81%</a:t>
            </a:r>
            <a:endParaRPr lang="en-US" sz="1500" dirty="0"/>
          </a:p>
        </p:txBody>
      </p:sp>
      <p:sp>
        <p:nvSpPr>
          <p:cNvPr id="17" name="Text 15"/>
          <p:cNvSpPr txBox="1"/>
          <p:nvPr/>
        </p:nvSpPr>
        <p:spPr>
          <a:xfrm>
            <a:off x="6766560" y="2194560"/>
            <a:ext cx="4846320" cy="777240"/>
          </a:xfrm>
          <a:prstGeom prst="rect">
            <a:avLst/>
          </a:prstGeom>
          <a:noFill/>
          <a:ln/>
        </p:spPr>
        <p:txBody>
          <a:bodyPr wrap="square" lIns="0" tIns="0" rIns="0" bIns="0" rtlCol="0" anchor="t"/>
          <a:lstStyle/>
          <a:p>
            <a:pPr indent="0" marL="0">
              <a:buNone/>
            </a:pPr>
            <a:r>
              <a:rPr lang="en-US" sz="1500" b="1" dirty="0">
                <a:solidFill>
                  <a:schemeClr val="accent2"/>
                </a:solidFill>
              </a:rPr>
              <a:t>Precision</a:t>
            </a:r>
            <a:endParaRPr lang="en-US" sz="1500" dirty="0"/>
          </a:p>
          <a:p>
            <a:pPr indent="0" marL="0">
              <a:buNone/>
            </a:pPr>
            <a:r>
              <a:rPr lang="en-US" sz="1500" dirty="0">
                <a:solidFill>
                  <a:schemeClr val="tx1"/>
                </a:solidFill>
              </a:rPr>
              <a:t>correct disease calls ÷ all disease calls = 112 ÷ 131 = 85.5%</a:t>
            </a:r>
            <a:endParaRPr lang="en-US" sz="1500" dirty="0"/>
          </a:p>
        </p:txBody>
      </p:sp>
      <p:sp>
        <p:nvSpPr>
          <p:cNvPr id="18" name="Text 16"/>
          <p:cNvSpPr txBox="1"/>
          <p:nvPr/>
        </p:nvSpPr>
        <p:spPr>
          <a:xfrm>
            <a:off x="6766560" y="3063240"/>
            <a:ext cx="4846320" cy="777240"/>
          </a:xfrm>
          <a:prstGeom prst="rect">
            <a:avLst/>
          </a:prstGeom>
          <a:noFill/>
          <a:ln/>
        </p:spPr>
        <p:txBody>
          <a:bodyPr wrap="square" lIns="0" tIns="0" rIns="0" bIns="0" rtlCol="0" anchor="t"/>
          <a:lstStyle/>
          <a:p>
            <a:pPr indent="0" marL="0">
              <a:buNone/>
            </a:pPr>
            <a:r>
              <a:rPr lang="en-US" sz="1500" b="1" dirty="0">
                <a:solidFill>
                  <a:schemeClr val="accent2"/>
                </a:solidFill>
              </a:rPr>
              <a:t>F2 score</a:t>
            </a:r>
            <a:endParaRPr lang="en-US" sz="1500" dirty="0"/>
          </a:p>
          <a:p>
            <a:pPr indent="0" marL="0">
              <a:buNone/>
            </a:pPr>
            <a:r>
              <a:rPr lang="en-US" sz="1500" dirty="0">
                <a:solidFill>
                  <a:schemeClr val="tx1"/>
                </a:solidFill>
              </a:rPr>
              <a:t>combines both, weighting recall 2×. Used to pick hyperparameters.</a:t>
            </a:r>
            <a:endParaRPr lang="en-US" sz="1500" dirty="0"/>
          </a:p>
        </p:txBody>
      </p:sp>
      <p:sp>
        <p:nvSpPr>
          <p:cNvPr id="19" name="Text 17"/>
          <p:cNvSpPr txBox="1"/>
          <p:nvPr/>
        </p:nvSpPr>
        <p:spPr>
          <a:xfrm>
            <a:off x="6766560" y="3931920"/>
            <a:ext cx="4846320" cy="777240"/>
          </a:xfrm>
          <a:prstGeom prst="rect">
            <a:avLst/>
          </a:prstGeom>
          <a:noFill/>
          <a:ln/>
        </p:spPr>
        <p:txBody>
          <a:bodyPr wrap="square" lIns="0" tIns="0" rIns="0" bIns="0" rtlCol="0" anchor="t"/>
          <a:lstStyle/>
          <a:p>
            <a:pPr indent="0" marL="0">
              <a:buNone/>
            </a:pPr>
            <a:r>
              <a:rPr lang="en-US" sz="1500" b="1" dirty="0">
                <a:solidFill>
                  <a:schemeClr val="accent2"/>
                </a:solidFill>
              </a:rPr>
              <a:t>ROC-AUC</a:t>
            </a:r>
            <a:endParaRPr lang="en-US" sz="1500" dirty="0"/>
          </a:p>
          <a:p>
            <a:pPr indent="0" marL="0">
              <a:buNone/>
            </a:pPr>
            <a:r>
              <a:rPr lang="en-US" sz="1500" dirty="0">
                <a:solidFill>
                  <a:schemeClr val="tx1"/>
                </a:solidFill>
              </a:rPr>
              <a:t>how well the model ranks sick above healthy (1.0 = perfect). LR: 0.915</a:t>
            </a:r>
            <a:endParaRPr lang="en-US" sz="1500" dirty="0"/>
          </a:p>
        </p:txBody>
      </p:sp>
      <p:sp>
        <p:nvSpPr>
          <p:cNvPr id="20" name="Shape 18"/>
          <p:cNvSpPr/>
          <p:nvPr/>
        </p:nvSpPr>
        <p:spPr>
          <a:xfrm>
            <a:off x="6766560" y="4937760"/>
            <a:ext cx="4846320" cy="1280160"/>
          </a:xfrm>
          <a:prstGeom prst="roundRect">
            <a:avLst>
              <a:gd name="adj" fmla="val 8571"/>
            </a:avLst>
          </a:prstGeom>
          <a:solidFill>
            <a:schemeClr val="tx2"/>
          </a:solidFill>
          <a:ln/>
        </p:spPr>
      </p:sp>
      <p:sp>
        <p:nvSpPr>
          <p:cNvPr id="21" name="Text 19"/>
          <p:cNvSpPr txBox="1"/>
          <p:nvPr/>
        </p:nvSpPr>
        <p:spPr>
          <a:xfrm>
            <a:off x="6995160" y="4937760"/>
            <a:ext cx="4389120" cy="1280160"/>
          </a:xfrm>
          <a:prstGeom prst="rect">
            <a:avLst/>
          </a:prstGeom>
          <a:noFill/>
          <a:ln/>
        </p:spPr>
        <p:txBody>
          <a:bodyPr wrap="square" lIns="0" tIns="0" rIns="0" bIns="0" rtlCol="0" anchor="ctr"/>
          <a:lstStyle/>
          <a:p>
            <a:pPr indent="0" marL="0">
              <a:buNone/>
            </a:pPr>
            <a:r>
              <a:rPr lang="en-US" sz="1500" dirty="0">
                <a:solidFill>
                  <a:schemeClr val="bg1"/>
                </a:solidFill>
              </a:rPr>
              <a:t>A missed disease can cost a life. A false alarm costs one more test. So recall is the metric we care about most.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chemeClr val="tx2"/>
                </a:solidFill>
              </a:rPr>
              <a:t>Results: logistic regression is best or tied</a:t>
            </a:r>
            <a:endParaRPr lang="en-US" sz="3400" dirty="0"/>
          </a:p>
        </p:txBody>
      </p:sp>
      <p:sp>
        <p:nvSpPr>
          <p:cNvPr id="3" name="Text 1"/>
          <p:cNvSpPr txBox="1"/>
          <p:nvPr/>
        </p:nvSpPr>
        <p:spPr>
          <a:xfrm>
            <a:off x="548640" y="1325880"/>
            <a:ext cx="4572000" cy="320040"/>
          </a:xfrm>
          <a:prstGeom prst="rect">
            <a:avLst/>
          </a:prstGeom>
          <a:noFill/>
          <a:ln/>
        </p:spPr>
        <p:txBody>
          <a:bodyPr wrap="square" lIns="0" tIns="0" rIns="0" bIns="0" rtlCol="0" anchor="t"/>
          <a:lstStyle/>
          <a:p>
            <a:pPr indent="0" marL="0">
              <a:buNone/>
            </a:pPr>
            <a:r>
              <a:rPr lang="en-US" sz="1500" b="1" dirty="0">
                <a:solidFill>
                  <a:schemeClr val="tx2"/>
                </a:solidFill>
              </a:rPr>
              <a:t>Out-of-fold scores, 303 patients (%)</a:t>
            </a:r>
            <a:endParaRPr lang="en-US" sz="1500" dirty="0"/>
          </a:p>
        </p:txBody>
      </p:sp>
      <p:sp>
        <p:nvSpPr>
          <p:cNvPr id="4" name="Shape 2"/>
          <p:cNvSpPr/>
          <p:nvPr/>
        </p:nvSpPr>
        <p:spPr>
          <a:xfrm>
            <a:off x="1097280" y="5669280"/>
            <a:ext cx="6766560" cy="0"/>
          </a:xfrm>
          <a:prstGeom prst="line">
            <a:avLst/>
          </a:prstGeom>
          <a:noFill/>
          <a:ln w="12700">
            <a:solidFill>
              <a:srgbClr val="9AA8B1"/>
            </a:solidFill>
            <a:prstDash val="solid"/>
          </a:ln>
        </p:spPr>
      </p:sp>
      <p:sp>
        <p:nvSpPr>
          <p:cNvPr id="5" name="Text 3"/>
          <p:cNvSpPr txBox="1"/>
          <p:nvPr/>
        </p:nvSpPr>
        <p:spPr>
          <a:xfrm>
            <a:off x="548640" y="5532120"/>
            <a:ext cx="457200" cy="274320"/>
          </a:xfrm>
          <a:prstGeom prst="rect">
            <a:avLst/>
          </a:prstGeom>
          <a:noFill/>
          <a:ln/>
        </p:spPr>
        <p:txBody>
          <a:bodyPr wrap="square" lIns="0" tIns="0" rIns="0" bIns="0" rtlCol="0" anchor="t"/>
          <a:lstStyle/>
          <a:p>
            <a:pPr algn="r" indent="0" marL="0">
              <a:buNone/>
            </a:pPr>
            <a:r>
              <a:rPr lang="en-US" sz="1100" dirty="0">
                <a:solidFill>
                  <a:schemeClr val="accent4"/>
                </a:solidFill>
              </a:rPr>
              <a:t>0</a:t>
            </a:r>
            <a:endParaRPr lang="en-US" sz="1100" dirty="0"/>
          </a:p>
        </p:txBody>
      </p:sp>
      <p:sp>
        <p:nvSpPr>
          <p:cNvPr id="6" name="Shape 4"/>
          <p:cNvSpPr/>
          <p:nvPr/>
        </p:nvSpPr>
        <p:spPr>
          <a:xfrm>
            <a:off x="1097280" y="4974336"/>
            <a:ext cx="6766560" cy="0"/>
          </a:xfrm>
          <a:prstGeom prst="line">
            <a:avLst/>
          </a:prstGeom>
          <a:noFill/>
          <a:ln w="9525">
            <a:solidFill>
              <a:srgbClr val="E3E8EB"/>
            </a:solidFill>
            <a:prstDash val="solid"/>
          </a:ln>
        </p:spPr>
      </p:sp>
      <p:sp>
        <p:nvSpPr>
          <p:cNvPr id="7" name="Text 5"/>
          <p:cNvSpPr txBox="1"/>
          <p:nvPr/>
        </p:nvSpPr>
        <p:spPr>
          <a:xfrm>
            <a:off x="548640" y="4837176"/>
            <a:ext cx="457200" cy="274320"/>
          </a:xfrm>
          <a:prstGeom prst="rect">
            <a:avLst/>
          </a:prstGeom>
          <a:noFill/>
          <a:ln/>
        </p:spPr>
        <p:txBody>
          <a:bodyPr wrap="square" lIns="0" tIns="0" rIns="0" bIns="0" rtlCol="0" anchor="t"/>
          <a:lstStyle/>
          <a:p>
            <a:pPr algn="r" indent="0" marL="0">
              <a:buNone/>
            </a:pPr>
            <a:r>
              <a:rPr lang="en-US" sz="1100" dirty="0">
                <a:solidFill>
                  <a:schemeClr val="accent4"/>
                </a:solidFill>
              </a:rPr>
              <a:t>20</a:t>
            </a:r>
            <a:endParaRPr lang="en-US" sz="1100" dirty="0"/>
          </a:p>
        </p:txBody>
      </p:sp>
      <p:sp>
        <p:nvSpPr>
          <p:cNvPr id="8" name="Shape 6"/>
          <p:cNvSpPr/>
          <p:nvPr/>
        </p:nvSpPr>
        <p:spPr>
          <a:xfrm>
            <a:off x="1097280" y="4279392"/>
            <a:ext cx="6766560" cy="0"/>
          </a:xfrm>
          <a:prstGeom prst="line">
            <a:avLst/>
          </a:prstGeom>
          <a:noFill/>
          <a:ln w="9525">
            <a:solidFill>
              <a:srgbClr val="E3E8EB"/>
            </a:solidFill>
            <a:prstDash val="solid"/>
          </a:ln>
        </p:spPr>
      </p:sp>
      <p:sp>
        <p:nvSpPr>
          <p:cNvPr id="9" name="Text 7"/>
          <p:cNvSpPr txBox="1"/>
          <p:nvPr/>
        </p:nvSpPr>
        <p:spPr>
          <a:xfrm>
            <a:off x="548640" y="4142232"/>
            <a:ext cx="457200" cy="274320"/>
          </a:xfrm>
          <a:prstGeom prst="rect">
            <a:avLst/>
          </a:prstGeom>
          <a:noFill/>
          <a:ln/>
        </p:spPr>
        <p:txBody>
          <a:bodyPr wrap="square" lIns="0" tIns="0" rIns="0" bIns="0" rtlCol="0" anchor="t"/>
          <a:lstStyle/>
          <a:p>
            <a:pPr algn="r" indent="0" marL="0">
              <a:buNone/>
            </a:pPr>
            <a:r>
              <a:rPr lang="en-US" sz="1100" dirty="0">
                <a:solidFill>
                  <a:schemeClr val="accent4"/>
                </a:solidFill>
              </a:rPr>
              <a:t>40</a:t>
            </a:r>
            <a:endParaRPr lang="en-US" sz="1100" dirty="0"/>
          </a:p>
        </p:txBody>
      </p:sp>
      <p:sp>
        <p:nvSpPr>
          <p:cNvPr id="10" name="Shape 8"/>
          <p:cNvSpPr/>
          <p:nvPr/>
        </p:nvSpPr>
        <p:spPr>
          <a:xfrm>
            <a:off x="1097280" y="3584448"/>
            <a:ext cx="6766560" cy="0"/>
          </a:xfrm>
          <a:prstGeom prst="line">
            <a:avLst/>
          </a:prstGeom>
          <a:noFill/>
          <a:ln w="9525">
            <a:solidFill>
              <a:srgbClr val="E3E8EB"/>
            </a:solidFill>
            <a:prstDash val="solid"/>
          </a:ln>
        </p:spPr>
      </p:sp>
      <p:sp>
        <p:nvSpPr>
          <p:cNvPr id="11" name="Text 9"/>
          <p:cNvSpPr txBox="1"/>
          <p:nvPr/>
        </p:nvSpPr>
        <p:spPr>
          <a:xfrm>
            <a:off x="548640" y="3447288"/>
            <a:ext cx="457200" cy="274320"/>
          </a:xfrm>
          <a:prstGeom prst="rect">
            <a:avLst/>
          </a:prstGeom>
          <a:noFill/>
          <a:ln/>
        </p:spPr>
        <p:txBody>
          <a:bodyPr wrap="square" lIns="0" tIns="0" rIns="0" bIns="0" rtlCol="0" anchor="t"/>
          <a:lstStyle/>
          <a:p>
            <a:pPr algn="r" indent="0" marL="0">
              <a:buNone/>
            </a:pPr>
            <a:r>
              <a:rPr lang="en-US" sz="1100" dirty="0">
                <a:solidFill>
                  <a:schemeClr val="accent4"/>
                </a:solidFill>
              </a:rPr>
              <a:t>60</a:t>
            </a:r>
            <a:endParaRPr lang="en-US" sz="1100" dirty="0"/>
          </a:p>
        </p:txBody>
      </p:sp>
      <p:sp>
        <p:nvSpPr>
          <p:cNvPr id="12" name="Shape 10"/>
          <p:cNvSpPr/>
          <p:nvPr/>
        </p:nvSpPr>
        <p:spPr>
          <a:xfrm>
            <a:off x="1097280" y="2889504"/>
            <a:ext cx="6766560" cy="0"/>
          </a:xfrm>
          <a:prstGeom prst="line">
            <a:avLst/>
          </a:prstGeom>
          <a:noFill/>
          <a:ln w="9525">
            <a:solidFill>
              <a:srgbClr val="E3E8EB"/>
            </a:solidFill>
            <a:prstDash val="solid"/>
          </a:ln>
        </p:spPr>
      </p:sp>
      <p:sp>
        <p:nvSpPr>
          <p:cNvPr id="13" name="Text 11"/>
          <p:cNvSpPr txBox="1"/>
          <p:nvPr/>
        </p:nvSpPr>
        <p:spPr>
          <a:xfrm>
            <a:off x="548640" y="2752344"/>
            <a:ext cx="457200" cy="274320"/>
          </a:xfrm>
          <a:prstGeom prst="rect">
            <a:avLst/>
          </a:prstGeom>
          <a:noFill/>
          <a:ln/>
        </p:spPr>
        <p:txBody>
          <a:bodyPr wrap="square" lIns="0" tIns="0" rIns="0" bIns="0" rtlCol="0" anchor="t"/>
          <a:lstStyle/>
          <a:p>
            <a:pPr algn="r" indent="0" marL="0">
              <a:buNone/>
            </a:pPr>
            <a:r>
              <a:rPr lang="en-US" sz="1100" dirty="0">
                <a:solidFill>
                  <a:schemeClr val="accent4"/>
                </a:solidFill>
              </a:rPr>
              <a:t>80</a:t>
            </a:r>
            <a:endParaRPr lang="en-US" sz="1100" dirty="0"/>
          </a:p>
        </p:txBody>
      </p:sp>
      <p:sp>
        <p:nvSpPr>
          <p:cNvPr id="14" name="Shape 12"/>
          <p:cNvSpPr/>
          <p:nvPr/>
        </p:nvSpPr>
        <p:spPr>
          <a:xfrm>
            <a:off x="1097280" y="2194560"/>
            <a:ext cx="6766560" cy="0"/>
          </a:xfrm>
          <a:prstGeom prst="line">
            <a:avLst/>
          </a:prstGeom>
          <a:noFill/>
          <a:ln w="9525">
            <a:solidFill>
              <a:srgbClr val="E3E8EB"/>
            </a:solidFill>
            <a:prstDash val="solid"/>
          </a:ln>
        </p:spPr>
      </p:sp>
      <p:sp>
        <p:nvSpPr>
          <p:cNvPr id="15" name="Text 13"/>
          <p:cNvSpPr txBox="1"/>
          <p:nvPr/>
        </p:nvSpPr>
        <p:spPr>
          <a:xfrm>
            <a:off x="548640" y="2057400"/>
            <a:ext cx="457200" cy="274320"/>
          </a:xfrm>
          <a:prstGeom prst="rect">
            <a:avLst/>
          </a:prstGeom>
          <a:noFill/>
          <a:ln/>
        </p:spPr>
        <p:txBody>
          <a:bodyPr wrap="square" lIns="0" tIns="0" rIns="0" bIns="0" rtlCol="0" anchor="t"/>
          <a:lstStyle/>
          <a:p>
            <a:pPr algn="r" indent="0" marL="0">
              <a:buNone/>
            </a:pPr>
            <a:r>
              <a:rPr lang="en-US" sz="1100" dirty="0">
                <a:solidFill>
                  <a:schemeClr val="accent4"/>
                </a:solidFill>
              </a:rPr>
              <a:t>100</a:t>
            </a:r>
            <a:endParaRPr lang="en-US" sz="1100" dirty="0"/>
          </a:p>
        </p:txBody>
      </p:sp>
      <p:sp>
        <p:nvSpPr>
          <p:cNvPr id="16" name="Shape 14"/>
          <p:cNvSpPr/>
          <p:nvPr/>
        </p:nvSpPr>
        <p:spPr>
          <a:xfrm>
            <a:off x="1097280" y="1755648"/>
            <a:ext cx="201168" cy="201168"/>
          </a:xfrm>
          <a:prstGeom prst="rect">
            <a:avLst/>
          </a:prstGeom>
          <a:solidFill>
            <a:schemeClr val="accent2"/>
          </a:solidFill>
          <a:ln/>
        </p:spPr>
      </p:sp>
      <p:sp>
        <p:nvSpPr>
          <p:cNvPr id="17" name="Text 15"/>
          <p:cNvSpPr txBox="1"/>
          <p:nvPr/>
        </p:nvSpPr>
        <p:spPr>
          <a:xfrm>
            <a:off x="1371600" y="1691640"/>
            <a:ext cx="1371600" cy="320040"/>
          </a:xfrm>
          <a:prstGeom prst="rect">
            <a:avLst/>
          </a:prstGeom>
          <a:noFill/>
          <a:ln/>
        </p:spPr>
        <p:txBody>
          <a:bodyPr wrap="square" lIns="0" tIns="0" rIns="0" bIns="0" rtlCol="0" anchor="ctr"/>
          <a:lstStyle/>
          <a:p>
            <a:pPr indent="0" marL="0">
              <a:buNone/>
            </a:pPr>
            <a:r>
              <a:rPr lang="en-US" sz="1200" dirty="0">
                <a:solidFill>
                  <a:schemeClr val="tx1"/>
                </a:solidFill>
              </a:rPr>
              <a:t>Log. Regression</a:t>
            </a:r>
            <a:endParaRPr lang="en-US" sz="1200" dirty="0"/>
          </a:p>
        </p:txBody>
      </p:sp>
      <p:sp>
        <p:nvSpPr>
          <p:cNvPr id="18" name="Shape 16"/>
          <p:cNvSpPr/>
          <p:nvPr/>
        </p:nvSpPr>
        <p:spPr>
          <a:xfrm>
            <a:off x="2834640" y="1755648"/>
            <a:ext cx="201168" cy="201168"/>
          </a:xfrm>
          <a:prstGeom prst="rect">
            <a:avLst/>
          </a:prstGeom>
          <a:solidFill>
            <a:schemeClr val="accent3"/>
          </a:solidFill>
          <a:ln/>
        </p:spPr>
      </p:sp>
      <p:sp>
        <p:nvSpPr>
          <p:cNvPr id="19" name="Text 17"/>
          <p:cNvSpPr txBox="1"/>
          <p:nvPr/>
        </p:nvSpPr>
        <p:spPr>
          <a:xfrm>
            <a:off x="3108960" y="1691640"/>
            <a:ext cx="777240" cy="320040"/>
          </a:xfrm>
          <a:prstGeom prst="rect">
            <a:avLst/>
          </a:prstGeom>
          <a:noFill/>
          <a:ln/>
        </p:spPr>
        <p:txBody>
          <a:bodyPr wrap="square" lIns="0" tIns="0" rIns="0" bIns="0" rtlCol="0" anchor="ctr"/>
          <a:lstStyle/>
          <a:p>
            <a:pPr indent="0" marL="0">
              <a:buNone/>
            </a:pPr>
            <a:r>
              <a:rPr lang="en-US" sz="1200" dirty="0">
                <a:solidFill>
                  <a:schemeClr val="tx1"/>
                </a:solidFill>
              </a:rPr>
              <a:t>MLP</a:t>
            </a:r>
            <a:endParaRPr lang="en-US" sz="1200" dirty="0"/>
          </a:p>
        </p:txBody>
      </p:sp>
      <p:sp>
        <p:nvSpPr>
          <p:cNvPr id="20" name="Shape 18"/>
          <p:cNvSpPr/>
          <p:nvPr/>
        </p:nvSpPr>
        <p:spPr>
          <a:xfrm>
            <a:off x="3977640" y="1755648"/>
            <a:ext cx="201168" cy="201168"/>
          </a:xfrm>
          <a:prstGeom prst="rect">
            <a:avLst/>
          </a:prstGeom>
          <a:solidFill>
            <a:schemeClr val="accent1"/>
          </a:solidFill>
          <a:ln/>
        </p:spPr>
      </p:sp>
      <p:sp>
        <p:nvSpPr>
          <p:cNvPr id="21" name="Text 19"/>
          <p:cNvSpPr txBox="1"/>
          <p:nvPr/>
        </p:nvSpPr>
        <p:spPr>
          <a:xfrm>
            <a:off x="4251960" y="1691640"/>
            <a:ext cx="777240" cy="320040"/>
          </a:xfrm>
          <a:prstGeom prst="rect">
            <a:avLst/>
          </a:prstGeom>
          <a:noFill/>
          <a:ln/>
        </p:spPr>
        <p:txBody>
          <a:bodyPr wrap="square" lIns="0" tIns="0" rIns="0" bIns="0" rtlCol="0" anchor="ctr"/>
          <a:lstStyle/>
          <a:p>
            <a:pPr indent="0" marL="0">
              <a:buNone/>
            </a:pPr>
            <a:r>
              <a:rPr lang="en-US" sz="1200" dirty="0">
                <a:solidFill>
                  <a:schemeClr val="tx1"/>
                </a:solidFill>
              </a:rPr>
              <a:t>XGBoost</a:t>
            </a:r>
            <a:endParaRPr lang="en-US" sz="1200" dirty="0"/>
          </a:p>
        </p:txBody>
      </p:sp>
      <p:sp>
        <p:nvSpPr>
          <p:cNvPr id="22" name="Shape 20"/>
          <p:cNvSpPr/>
          <p:nvPr/>
        </p:nvSpPr>
        <p:spPr>
          <a:xfrm>
            <a:off x="1325880" y="2712293"/>
            <a:ext cx="384048" cy="2956987"/>
          </a:xfrm>
          <a:prstGeom prst="rect">
            <a:avLst/>
          </a:prstGeom>
          <a:solidFill>
            <a:schemeClr val="accent2"/>
          </a:solidFill>
          <a:ln/>
        </p:spPr>
      </p:sp>
      <p:sp>
        <p:nvSpPr>
          <p:cNvPr id="23" name="Text 21"/>
          <p:cNvSpPr txBox="1"/>
          <p:nvPr/>
        </p:nvSpPr>
        <p:spPr>
          <a:xfrm>
            <a:off x="1234440" y="2437973"/>
            <a:ext cx="566928" cy="256032"/>
          </a:xfrm>
          <a:prstGeom prst="rect">
            <a:avLst/>
          </a:prstGeom>
          <a:noFill/>
          <a:ln/>
        </p:spPr>
        <p:txBody>
          <a:bodyPr wrap="square" lIns="0" tIns="0" rIns="0" bIns="0" rtlCol="0" anchor="t"/>
          <a:lstStyle/>
          <a:p>
            <a:pPr algn="ctr" indent="0" marL="0">
              <a:buNone/>
            </a:pPr>
            <a:r>
              <a:rPr lang="en-US" sz="1100" dirty="0">
                <a:solidFill>
                  <a:schemeClr val="tx1"/>
                </a:solidFill>
              </a:rPr>
              <a:t>85.1</a:t>
            </a:r>
            <a:endParaRPr lang="en-US" sz="1100" dirty="0"/>
          </a:p>
        </p:txBody>
      </p:sp>
      <p:sp>
        <p:nvSpPr>
          <p:cNvPr id="24" name="Shape 22"/>
          <p:cNvSpPr/>
          <p:nvPr/>
        </p:nvSpPr>
        <p:spPr>
          <a:xfrm>
            <a:off x="1764792" y="2767889"/>
            <a:ext cx="384048" cy="2901391"/>
          </a:xfrm>
          <a:prstGeom prst="rect">
            <a:avLst/>
          </a:prstGeom>
          <a:solidFill>
            <a:schemeClr val="accent3"/>
          </a:solidFill>
          <a:ln/>
        </p:spPr>
      </p:sp>
      <p:sp>
        <p:nvSpPr>
          <p:cNvPr id="25" name="Text 23"/>
          <p:cNvSpPr txBox="1"/>
          <p:nvPr/>
        </p:nvSpPr>
        <p:spPr>
          <a:xfrm>
            <a:off x="1673352" y="2493569"/>
            <a:ext cx="566928" cy="256032"/>
          </a:xfrm>
          <a:prstGeom prst="rect">
            <a:avLst/>
          </a:prstGeom>
          <a:noFill/>
          <a:ln/>
        </p:spPr>
        <p:txBody>
          <a:bodyPr wrap="square" lIns="0" tIns="0" rIns="0" bIns="0" rtlCol="0" anchor="t"/>
          <a:lstStyle/>
          <a:p>
            <a:pPr algn="ctr" indent="0" marL="0">
              <a:buNone/>
            </a:pPr>
            <a:r>
              <a:rPr lang="en-US" sz="1100" dirty="0">
                <a:solidFill>
                  <a:schemeClr val="tx1"/>
                </a:solidFill>
              </a:rPr>
              <a:t>83.5</a:t>
            </a:r>
            <a:endParaRPr lang="en-US" sz="1100" dirty="0"/>
          </a:p>
        </p:txBody>
      </p:sp>
      <p:sp>
        <p:nvSpPr>
          <p:cNvPr id="26" name="Shape 24"/>
          <p:cNvSpPr/>
          <p:nvPr/>
        </p:nvSpPr>
        <p:spPr>
          <a:xfrm>
            <a:off x="2203704" y="2882555"/>
            <a:ext cx="384048" cy="2786725"/>
          </a:xfrm>
          <a:prstGeom prst="rect">
            <a:avLst/>
          </a:prstGeom>
          <a:solidFill>
            <a:schemeClr val="accent1"/>
          </a:solidFill>
          <a:ln/>
        </p:spPr>
      </p:sp>
      <p:sp>
        <p:nvSpPr>
          <p:cNvPr id="27" name="Text 25"/>
          <p:cNvSpPr txBox="1"/>
          <p:nvPr/>
        </p:nvSpPr>
        <p:spPr>
          <a:xfrm>
            <a:off x="2112264" y="2608235"/>
            <a:ext cx="566928" cy="256032"/>
          </a:xfrm>
          <a:prstGeom prst="rect">
            <a:avLst/>
          </a:prstGeom>
          <a:noFill/>
          <a:ln/>
        </p:spPr>
        <p:txBody>
          <a:bodyPr wrap="square" lIns="0" tIns="0" rIns="0" bIns="0" rtlCol="0" anchor="t"/>
          <a:lstStyle/>
          <a:p>
            <a:pPr algn="ctr" indent="0" marL="0">
              <a:buNone/>
            </a:pPr>
            <a:r>
              <a:rPr lang="en-US" sz="1100" dirty="0">
                <a:solidFill>
                  <a:schemeClr val="tx1"/>
                </a:solidFill>
              </a:rPr>
              <a:t>80.2</a:t>
            </a:r>
            <a:endParaRPr lang="en-US" sz="1100" dirty="0"/>
          </a:p>
        </p:txBody>
      </p:sp>
      <p:sp>
        <p:nvSpPr>
          <p:cNvPr id="28" name="Text 26"/>
          <p:cNvSpPr txBox="1"/>
          <p:nvPr/>
        </p:nvSpPr>
        <p:spPr>
          <a:xfrm>
            <a:off x="1234440" y="5760720"/>
            <a:ext cx="1463040" cy="320040"/>
          </a:xfrm>
          <a:prstGeom prst="rect">
            <a:avLst/>
          </a:prstGeom>
          <a:noFill/>
          <a:ln/>
        </p:spPr>
        <p:txBody>
          <a:bodyPr wrap="square" lIns="0" tIns="0" rIns="0" bIns="0" rtlCol="0" anchor="t"/>
          <a:lstStyle/>
          <a:p>
            <a:pPr algn="ctr" indent="0" marL="0">
              <a:buNone/>
            </a:pPr>
            <a:r>
              <a:rPr lang="en-US" sz="1400" b="1" dirty="0">
                <a:solidFill>
                  <a:schemeClr val="tx2"/>
                </a:solidFill>
              </a:rPr>
              <a:t>Accuracy</a:t>
            </a:r>
            <a:endParaRPr lang="en-US" sz="1400" dirty="0"/>
          </a:p>
        </p:txBody>
      </p:sp>
      <p:sp>
        <p:nvSpPr>
          <p:cNvPr id="29" name="Shape 27"/>
          <p:cNvSpPr/>
          <p:nvPr/>
        </p:nvSpPr>
        <p:spPr>
          <a:xfrm>
            <a:off x="2999232" y="2698394"/>
            <a:ext cx="384048" cy="2970886"/>
          </a:xfrm>
          <a:prstGeom prst="rect">
            <a:avLst/>
          </a:prstGeom>
          <a:solidFill>
            <a:schemeClr val="accent2"/>
          </a:solidFill>
          <a:ln/>
        </p:spPr>
      </p:sp>
      <p:sp>
        <p:nvSpPr>
          <p:cNvPr id="30" name="Text 28"/>
          <p:cNvSpPr txBox="1"/>
          <p:nvPr/>
        </p:nvSpPr>
        <p:spPr>
          <a:xfrm>
            <a:off x="2907792" y="2424074"/>
            <a:ext cx="566928" cy="256032"/>
          </a:xfrm>
          <a:prstGeom prst="rect">
            <a:avLst/>
          </a:prstGeom>
          <a:noFill/>
          <a:ln/>
        </p:spPr>
        <p:txBody>
          <a:bodyPr wrap="square" lIns="0" tIns="0" rIns="0" bIns="0" rtlCol="0" anchor="t"/>
          <a:lstStyle/>
          <a:p>
            <a:pPr algn="ctr" indent="0" marL="0">
              <a:buNone/>
            </a:pPr>
            <a:r>
              <a:rPr lang="en-US" sz="1100" dirty="0">
                <a:solidFill>
                  <a:schemeClr val="tx1"/>
                </a:solidFill>
              </a:rPr>
              <a:t>85.5</a:t>
            </a:r>
            <a:endParaRPr lang="en-US" sz="1100" dirty="0"/>
          </a:p>
        </p:txBody>
      </p:sp>
      <p:sp>
        <p:nvSpPr>
          <p:cNvPr id="31" name="Shape 29"/>
          <p:cNvSpPr/>
          <p:nvPr/>
        </p:nvSpPr>
        <p:spPr>
          <a:xfrm>
            <a:off x="3438144" y="2823484"/>
            <a:ext cx="384048" cy="2845796"/>
          </a:xfrm>
          <a:prstGeom prst="rect">
            <a:avLst/>
          </a:prstGeom>
          <a:solidFill>
            <a:schemeClr val="accent3"/>
          </a:solidFill>
          <a:ln/>
        </p:spPr>
      </p:sp>
      <p:sp>
        <p:nvSpPr>
          <p:cNvPr id="32" name="Text 30"/>
          <p:cNvSpPr txBox="1"/>
          <p:nvPr/>
        </p:nvSpPr>
        <p:spPr>
          <a:xfrm>
            <a:off x="3346704" y="2549164"/>
            <a:ext cx="566928" cy="256032"/>
          </a:xfrm>
          <a:prstGeom prst="rect">
            <a:avLst/>
          </a:prstGeom>
          <a:noFill/>
          <a:ln/>
        </p:spPr>
        <p:txBody>
          <a:bodyPr wrap="square" lIns="0" tIns="0" rIns="0" bIns="0" rtlCol="0" anchor="t"/>
          <a:lstStyle/>
          <a:p>
            <a:pPr algn="ctr" indent="0" marL="0">
              <a:buNone/>
            </a:pPr>
            <a:r>
              <a:rPr lang="en-US" sz="1100" dirty="0">
                <a:solidFill>
                  <a:schemeClr val="tx1"/>
                </a:solidFill>
              </a:rPr>
              <a:t>81.9</a:t>
            </a:r>
            <a:endParaRPr lang="en-US" sz="1100" dirty="0"/>
          </a:p>
        </p:txBody>
      </p:sp>
      <p:sp>
        <p:nvSpPr>
          <p:cNvPr id="33" name="Shape 31"/>
          <p:cNvSpPr/>
          <p:nvPr/>
        </p:nvSpPr>
        <p:spPr>
          <a:xfrm>
            <a:off x="3877056" y="2889504"/>
            <a:ext cx="384048" cy="2779776"/>
          </a:xfrm>
          <a:prstGeom prst="rect">
            <a:avLst/>
          </a:prstGeom>
          <a:solidFill>
            <a:schemeClr val="accent1"/>
          </a:solidFill>
          <a:ln/>
        </p:spPr>
      </p:sp>
      <p:sp>
        <p:nvSpPr>
          <p:cNvPr id="34" name="Text 32"/>
          <p:cNvSpPr txBox="1"/>
          <p:nvPr/>
        </p:nvSpPr>
        <p:spPr>
          <a:xfrm>
            <a:off x="3785616" y="2615184"/>
            <a:ext cx="566928" cy="256032"/>
          </a:xfrm>
          <a:prstGeom prst="rect">
            <a:avLst/>
          </a:prstGeom>
          <a:noFill/>
          <a:ln/>
        </p:spPr>
        <p:txBody>
          <a:bodyPr wrap="square" lIns="0" tIns="0" rIns="0" bIns="0" rtlCol="0" anchor="t"/>
          <a:lstStyle/>
          <a:p>
            <a:pPr algn="ctr" indent="0" marL="0">
              <a:buNone/>
            </a:pPr>
            <a:r>
              <a:rPr lang="en-US" sz="1100" dirty="0">
                <a:solidFill>
                  <a:schemeClr val="tx1"/>
                </a:solidFill>
              </a:rPr>
              <a:t>80.0</a:t>
            </a:r>
            <a:endParaRPr lang="en-US" sz="1100" dirty="0"/>
          </a:p>
        </p:txBody>
      </p:sp>
      <p:sp>
        <p:nvSpPr>
          <p:cNvPr id="35" name="Text 33"/>
          <p:cNvSpPr txBox="1"/>
          <p:nvPr/>
        </p:nvSpPr>
        <p:spPr>
          <a:xfrm>
            <a:off x="2907792" y="5760720"/>
            <a:ext cx="1463040" cy="320040"/>
          </a:xfrm>
          <a:prstGeom prst="rect">
            <a:avLst/>
          </a:prstGeom>
          <a:noFill/>
          <a:ln/>
        </p:spPr>
        <p:txBody>
          <a:bodyPr wrap="square" lIns="0" tIns="0" rIns="0" bIns="0" rtlCol="0" anchor="t"/>
          <a:lstStyle/>
          <a:p>
            <a:pPr algn="ctr" indent="0" marL="0">
              <a:buNone/>
            </a:pPr>
            <a:r>
              <a:rPr lang="en-US" sz="1400" b="1" dirty="0">
                <a:solidFill>
                  <a:schemeClr val="tx2"/>
                </a:solidFill>
              </a:rPr>
              <a:t>Precision</a:t>
            </a:r>
            <a:endParaRPr lang="en-US" sz="1400" dirty="0"/>
          </a:p>
        </p:txBody>
      </p:sp>
      <p:sp>
        <p:nvSpPr>
          <p:cNvPr id="36" name="Shape 34"/>
          <p:cNvSpPr/>
          <p:nvPr/>
        </p:nvSpPr>
        <p:spPr>
          <a:xfrm>
            <a:off x="4672584" y="2847807"/>
            <a:ext cx="384048" cy="2821473"/>
          </a:xfrm>
          <a:prstGeom prst="rect">
            <a:avLst/>
          </a:prstGeom>
          <a:solidFill>
            <a:schemeClr val="accent2"/>
          </a:solidFill>
          <a:ln/>
        </p:spPr>
      </p:sp>
      <p:sp>
        <p:nvSpPr>
          <p:cNvPr id="37" name="Text 35"/>
          <p:cNvSpPr txBox="1"/>
          <p:nvPr/>
        </p:nvSpPr>
        <p:spPr>
          <a:xfrm>
            <a:off x="4581144" y="2573487"/>
            <a:ext cx="566928" cy="256032"/>
          </a:xfrm>
          <a:prstGeom prst="rect">
            <a:avLst/>
          </a:prstGeom>
          <a:noFill/>
          <a:ln/>
        </p:spPr>
        <p:txBody>
          <a:bodyPr wrap="square" lIns="0" tIns="0" rIns="0" bIns="0" rtlCol="0" anchor="t"/>
          <a:lstStyle/>
          <a:p>
            <a:pPr algn="ctr" indent="0" marL="0">
              <a:buNone/>
            </a:pPr>
            <a:r>
              <a:rPr lang="en-US" sz="1100" dirty="0">
                <a:solidFill>
                  <a:schemeClr val="tx1"/>
                </a:solidFill>
              </a:rPr>
              <a:t>81.2</a:t>
            </a:r>
            <a:endParaRPr lang="en-US" sz="1100" dirty="0"/>
          </a:p>
        </p:txBody>
      </p:sp>
      <p:sp>
        <p:nvSpPr>
          <p:cNvPr id="38" name="Shape 36"/>
          <p:cNvSpPr/>
          <p:nvPr/>
        </p:nvSpPr>
        <p:spPr>
          <a:xfrm>
            <a:off x="5111496" y="2823484"/>
            <a:ext cx="384048" cy="2845796"/>
          </a:xfrm>
          <a:prstGeom prst="rect">
            <a:avLst/>
          </a:prstGeom>
          <a:solidFill>
            <a:schemeClr val="accent3"/>
          </a:solidFill>
          <a:ln/>
        </p:spPr>
      </p:sp>
      <p:sp>
        <p:nvSpPr>
          <p:cNvPr id="39" name="Text 37"/>
          <p:cNvSpPr txBox="1"/>
          <p:nvPr/>
        </p:nvSpPr>
        <p:spPr>
          <a:xfrm>
            <a:off x="5020056" y="2549164"/>
            <a:ext cx="566928" cy="256032"/>
          </a:xfrm>
          <a:prstGeom prst="rect">
            <a:avLst/>
          </a:prstGeom>
          <a:noFill/>
          <a:ln/>
        </p:spPr>
        <p:txBody>
          <a:bodyPr wrap="square" lIns="0" tIns="0" rIns="0" bIns="0" rtlCol="0" anchor="t"/>
          <a:lstStyle/>
          <a:p>
            <a:pPr algn="ctr" indent="0" marL="0">
              <a:buNone/>
            </a:pPr>
            <a:r>
              <a:rPr lang="en-US" sz="1100" dirty="0">
                <a:solidFill>
                  <a:schemeClr val="tx1"/>
                </a:solidFill>
              </a:rPr>
              <a:t>81.9</a:t>
            </a:r>
            <a:endParaRPr lang="en-US" sz="1100" dirty="0"/>
          </a:p>
        </p:txBody>
      </p:sp>
      <p:sp>
        <p:nvSpPr>
          <p:cNvPr id="40" name="Shape 38"/>
          <p:cNvSpPr/>
          <p:nvPr/>
        </p:nvSpPr>
        <p:spPr>
          <a:xfrm>
            <a:off x="5550408" y="3049341"/>
            <a:ext cx="384048" cy="2619939"/>
          </a:xfrm>
          <a:prstGeom prst="rect">
            <a:avLst/>
          </a:prstGeom>
          <a:solidFill>
            <a:schemeClr val="accent1"/>
          </a:solidFill>
          <a:ln/>
        </p:spPr>
      </p:sp>
      <p:sp>
        <p:nvSpPr>
          <p:cNvPr id="41" name="Text 39"/>
          <p:cNvSpPr txBox="1"/>
          <p:nvPr/>
        </p:nvSpPr>
        <p:spPr>
          <a:xfrm>
            <a:off x="5458968" y="2775021"/>
            <a:ext cx="566928" cy="256032"/>
          </a:xfrm>
          <a:prstGeom prst="rect">
            <a:avLst/>
          </a:prstGeom>
          <a:noFill/>
          <a:ln/>
        </p:spPr>
        <p:txBody>
          <a:bodyPr wrap="square" lIns="0" tIns="0" rIns="0" bIns="0" rtlCol="0" anchor="t"/>
          <a:lstStyle/>
          <a:p>
            <a:pPr algn="ctr" indent="0" marL="0">
              <a:buNone/>
            </a:pPr>
            <a:r>
              <a:rPr lang="en-US" sz="1100" dirty="0">
                <a:solidFill>
                  <a:schemeClr val="tx1"/>
                </a:solidFill>
              </a:rPr>
              <a:t>75.4</a:t>
            </a:r>
            <a:endParaRPr lang="en-US" sz="1100" dirty="0"/>
          </a:p>
        </p:txBody>
      </p:sp>
      <p:sp>
        <p:nvSpPr>
          <p:cNvPr id="42" name="Text 40"/>
          <p:cNvSpPr txBox="1"/>
          <p:nvPr/>
        </p:nvSpPr>
        <p:spPr>
          <a:xfrm>
            <a:off x="4581144" y="5760720"/>
            <a:ext cx="1463040" cy="320040"/>
          </a:xfrm>
          <a:prstGeom prst="rect">
            <a:avLst/>
          </a:prstGeom>
          <a:noFill/>
          <a:ln/>
        </p:spPr>
        <p:txBody>
          <a:bodyPr wrap="square" lIns="0" tIns="0" rIns="0" bIns="0" rtlCol="0" anchor="t"/>
          <a:lstStyle/>
          <a:p>
            <a:pPr algn="ctr" indent="0" marL="0">
              <a:buNone/>
            </a:pPr>
            <a:r>
              <a:rPr lang="en-US" sz="1400" b="1" dirty="0">
                <a:solidFill>
                  <a:schemeClr val="tx2"/>
                </a:solidFill>
              </a:rPr>
              <a:t>Recall</a:t>
            </a:r>
            <a:endParaRPr lang="en-US" sz="1400" dirty="0"/>
          </a:p>
        </p:txBody>
      </p:sp>
      <p:sp>
        <p:nvSpPr>
          <p:cNvPr id="43" name="Shape 41"/>
          <p:cNvSpPr/>
          <p:nvPr/>
        </p:nvSpPr>
        <p:spPr>
          <a:xfrm>
            <a:off x="6345936" y="2774838"/>
            <a:ext cx="384048" cy="2894442"/>
          </a:xfrm>
          <a:prstGeom prst="rect">
            <a:avLst/>
          </a:prstGeom>
          <a:solidFill>
            <a:schemeClr val="accent2"/>
          </a:solidFill>
          <a:ln/>
        </p:spPr>
      </p:sp>
      <p:sp>
        <p:nvSpPr>
          <p:cNvPr id="44" name="Text 42"/>
          <p:cNvSpPr txBox="1"/>
          <p:nvPr/>
        </p:nvSpPr>
        <p:spPr>
          <a:xfrm>
            <a:off x="6254496" y="2500518"/>
            <a:ext cx="566928" cy="256032"/>
          </a:xfrm>
          <a:prstGeom prst="rect">
            <a:avLst/>
          </a:prstGeom>
          <a:noFill/>
          <a:ln/>
        </p:spPr>
        <p:txBody>
          <a:bodyPr wrap="square" lIns="0" tIns="0" rIns="0" bIns="0" rtlCol="0" anchor="t"/>
          <a:lstStyle/>
          <a:p>
            <a:pPr algn="ctr" indent="0" marL="0">
              <a:buNone/>
            </a:pPr>
            <a:r>
              <a:rPr lang="en-US" sz="1100" dirty="0">
                <a:solidFill>
                  <a:schemeClr val="tx1"/>
                </a:solidFill>
              </a:rPr>
              <a:t>83.3</a:t>
            </a:r>
            <a:endParaRPr lang="en-US" sz="1100" dirty="0"/>
          </a:p>
        </p:txBody>
      </p:sp>
      <p:sp>
        <p:nvSpPr>
          <p:cNvPr id="45" name="Shape 43"/>
          <p:cNvSpPr/>
          <p:nvPr/>
        </p:nvSpPr>
        <p:spPr>
          <a:xfrm>
            <a:off x="6784848" y="2823484"/>
            <a:ext cx="384048" cy="2845796"/>
          </a:xfrm>
          <a:prstGeom prst="rect">
            <a:avLst/>
          </a:prstGeom>
          <a:solidFill>
            <a:schemeClr val="accent3"/>
          </a:solidFill>
          <a:ln/>
        </p:spPr>
      </p:sp>
      <p:sp>
        <p:nvSpPr>
          <p:cNvPr id="46" name="Text 44"/>
          <p:cNvSpPr txBox="1"/>
          <p:nvPr/>
        </p:nvSpPr>
        <p:spPr>
          <a:xfrm>
            <a:off x="6693408" y="2549164"/>
            <a:ext cx="566928" cy="256032"/>
          </a:xfrm>
          <a:prstGeom prst="rect">
            <a:avLst/>
          </a:prstGeom>
          <a:noFill/>
          <a:ln/>
        </p:spPr>
        <p:txBody>
          <a:bodyPr wrap="square" lIns="0" tIns="0" rIns="0" bIns="0" rtlCol="0" anchor="t"/>
          <a:lstStyle/>
          <a:p>
            <a:pPr algn="ctr" indent="0" marL="0">
              <a:buNone/>
            </a:pPr>
            <a:r>
              <a:rPr lang="en-US" sz="1100" dirty="0">
                <a:solidFill>
                  <a:schemeClr val="tx1"/>
                </a:solidFill>
              </a:rPr>
              <a:t>81.9</a:t>
            </a:r>
            <a:endParaRPr lang="en-US" sz="1100" dirty="0"/>
          </a:p>
        </p:txBody>
      </p:sp>
      <p:sp>
        <p:nvSpPr>
          <p:cNvPr id="47" name="Shape 45"/>
          <p:cNvSpPr/>
          <p:nvPr/>
        </p:nvSpPr>
        <p:spPr>
          <a:xfrm>
            <a:off x="7223760" y="2972897"/>
            <a:ext cx="384048" cy="2696383"/>
          </a:xfrm>
          <a:prstGeom prst="rect">
            <a:avLst/>
          </a:prstGeom>
          <a:solidFill>
            <a:schemeClr val="accent1"/>
          </a:solidFill>
          <a:ln/>
        </p:spPr>
      </p:sp>
      <p:sp>
        <p:nvSpPr>
          <p:cNvPr id="48" name="Text 46"/>
          <p:cNvSpPr txBox="1"/>
          <p:nvPr/>
        </p:nvSpPr>
        <p:spPr>
          <a:xfrm>
            <a:off x="7132320" y="2698577"/>
            <a:ext cx="566928" cy="256032"/>
          </a:xfrm>
          <a:prstGeom prst="rect">
            <a:avLst/>
          </a:prstGeom>
          <a:noFill/>
          <a:ln/>
        </p:spPr>
        <p:txBody>
          <a:bodyPr wrap="square" lIns="0" tIns="0" rIns="0" bIns="0" rtlCol="0" anchor="t"/>
          <a:lstStyle/>
          <a:p>
            <a:pPr algn="ctr" indent="0" marL="0">
              <a:buNone/>
            </a:pPr>
            <a:r>
              <a:rPr lang="en-US" sz="1100" dirty="0">
                <a:solidFill>
                  <a:schemeClr val="tx1"/>
                </a:solidFill>
              </a:rPr>
              <a:t>77.6</a:t>
            </a:r>
            <a:endParaRPr lang="en-US" sz="1100" dirty="0"/>
          </a:p>
        </p:txBody>
      </p:sp>
      <p:sp>
        <p:nvSpPr>
          <p:cNvPr id="49" name="Text 47"/>
          <p:cNvSpPr txBox="1"/>
          <p:nvPr/>
        </p:nvSpPr>
        <p:spPr>
          <a:xfrm>
            <a:off x="6254496" y="5760720"/>
            <a:ext cx="1463040" cy="320040"/>
          </a:xfrm>
          <a:prstGeom prst="rect">
            <a:avLst/>
          </a:prstGeom>
          <a:noFill/>
          <a:ln/>
        </p:spPr>
        <p:txBody>
          <a:bodyPr wrap="square" lIns="0" tIns="0" rIns="0" bIns="0" rtlCol="0" anchor="t"/>
          <a:lstStyle/>
          <a:p>
            <a:pPr algn="ctr" indent="0" marL="0">
              <a:buNone/>
            </a:pPr>
            <a:r>
              <a:rPr lang="en-US" sz="1400" b="1" dirty="0">
                <a:solidFill>
                  <a:schemeClr val="tx2"/>
                </a:solidFill>
              </a:rPr>
              <a:t>F1</a:t>
            </a:r>
            <a:endParaRPr lang="en-US" sz="1400" dirty="0"/>
          </a:p>
        </p:txBody>
      </p:sp>
      <p:sp>
        <p:nvSpPr>
          <p:cNvPr id="50" name="Text 48"/>
          <p:cNvSpPr txBox="1"/>
          <p:nvPr/>
        </p:nvSpPr>
        <p:spPr>
          <a:xfrm>
            <a:off x="8229600" y="1325880"/>
            <a:ext cx="3383280" cy="365760"/>
          </a:xfrm>
          <a:prstGeom prst="rect">
            <a:avLst/>
          </a:prstGeom>
          <a:noFill/>
          <a:ln/>
        </p:spPr>
        <p:txBody>
          <a:bodyPr wrap="square" lIns="0" tIns="0" rIns="0" bIns="0" rtlCol="0" anchor="t"/>
          <a:lstStyle/>
          <a:p>
            <a:pPr indent="0" marL="0">
              <a:buNone/>
            </a:pPr>
            <a:r>
              <a:rPr lang="en-US" sz="1400" b="1" dirty="0">
                <a:solidFill>
                  <a:schemeClr val="tx2"/>
                </a:solidFill>
              </a:rPr>
              <a:t>ROC-AUC</a:t>
            </a:r>
            <a:pPr indent="0" marL="0">
              <a:buNone/>
            </a:pPr>
            <a:r>
              <a:rPr lang="en-US" sz="1400" dirty="0">
                <a:solidFill>
                  <a:schemeClr val="accent4"/>
                </a:solidFill>
              </a:rPr>
              <a:t>   ·   missed disease cases</a:t>
            </a:r>
            <a:endParaRPr lang="en-US" sz="1400" dirty="0"/>
          </a:p>
        </p:txBody>
      </p:sp>
      <p:sp>
        <p:nvSpPr>
          <p:cNvPr id="51" name="Shape 49"/>
          <p:cNvSpPr/>
          <p:nvPr/>
        </p:nvSpPr>
        <p:spPr>
          <a:xfrm>
            <a:off x="8229600" y="1828800"/>
            <a:ext cx="3383280" cy="1234440"/>
          </a:xfrm>
          <a:prstGeom prst="roundRect">
            <a:avLst>
              <a:gd name="adj" fmla="val 8889"/>
            </a:avLst>
          </a:prstGeom>
          <a:solidFill>
            <a:schemeClr val="bg2"/>
          </a:solidFill>
          <a:ln/>
        </p:spPr>
      </p:sp>
      <p:sp>
        <p:nvSpPr>
          <p:cNvPr id="52" name="Text 50"/>
          <p:cNvSpPr txBox="1"/>
          <p:nvPr/>
        </p:nvSpPr>
        <p:spPr>
          <a:xfrm>
            <a:off x="8458200" y="1938528"/>
            <a:ext cx="3017520" cy="320040"/>
          </a:xfrm>
          <a:prstGeom prst="rect">
            <a:avLst/>
          </a:prstGeom>
          <a:noFill/>
          <a:ln/>
        </p:spPr>
        <p:txBody>
          <a:bodyPr wrap="square" lIns="0" tIns="0" rIns="0" bIns="0" rtlCol="0" anchor="t"/>
          <a:lstStyle/>
          <a:p>
            <a:pPr indent="0" marL="0">
              <a:buNone/>
            </a:pPr>
            <a:r>
              <a:rPr lang="en-US" sz="1400" b="1" dirty="0">
                <a:solidFill>
                  <a:schemeClr val="accent2"/>
                </a:solidFill>
              </a:rPr>
              <a:t>Logistic Regression</a:t>
            </a:r>
            <a:endParaRPr lang="en-US" sz="1400" dirty="0"/>
          </a:p>
        </p:txBody>
      </p:sp>
      <p:sp>
        <p:nvSpPr>
          <p:cNvPr id="53" name="Text 51"/>
          <p:cNvSpPr txBox="1"/>
          <p:nvPr/>
        </p:nvSpPr>
        <p:spPr>
          <a:xfrm>
            <a:off x="8458200" y="2286000"/>
            <a:ext cx="1645920" cy="640080"/>
          </a:xfrm>
          <a:prstGeom prst="rect">
            <a:avLst/>
          </a:prstGeom>
          <a:noFill/>
          <a:ln/>
        </p:spPr>
        <p:txBody>
          <a:bodyPr wrap="square" lIns="0" tIns="0" rIns="0" bIns="0" rtlCol="0" anchor="t"/>
          <a:lstStyle/>
          <a:p>
            <a:pPr indent="0" marL="0">
              <a:buNone/>
            </a:pPr>
            <a:r>
              <a:rPr lang="en-US" sz="3200" b="1" dirty="0">
                <a:solidFill>
                  <a:schemeClr val="tx2"/>
                </a:solidFill>
                <a:latin typeface="Cambria" pitchFamily="34" charset="0"/>
                <a:ea typeface="Cambria" pitchFamily="34" charset="-122"/>
                <a:cs typeface="Cambria" pitchFamily="34" charset="-120"/>
              </a:rPr>
              <a:t>0.915</a:t>
            </a:r>
            <a:endParaRPr lang="en-US" sz="3200" dirty="0"/>
          </a:p>
        </p:txBody>
      </p:sp>
      <p:sp>
        <p:nvSpPr>
          <p:cNvPr id="54" name="Text 52"/>
          <p:cNvSpPr txBox="1"/>
          <p:nvPr/>
        </p:nvSpPr>
        <p:spPr>
          <a:xfrm>
            <a:off x="10332720" y="2240280"/>
            <a:ext cx="1097280" cy="731520"/>
          </a:xfrm>
          <a:prstGeom prst="rect">
            <a:avLst/>
          </a:prstGeom>
          <a:noFill/>
          <a:ln/>
        </p:spPr>
        <p:txBody>
          <a:bodyPr wrap="square" lIns="0" tIns="0" rIns="0" bIns="0" rtlCol="0" anchor="t"/>
          <a:lstStyle/>
          <a:p>
            <a:pPr algn="r" indent="0" marL="0">
              <a:buNone/>
            </a:pPr>
            <a:r>
              <a:rPr lang="en-US" sz="2400" b="1" dirty="0">
                <a:solidFill>
                  <a:schemeClr val="accent1"/>
                </a:solidFill>
              </a:rPr>
              <a:t>26</a:t>
            </a:r>
            <a:endParaRPr lang="en-US" sz="1500" dirty="0"/>
          </a:p>
          <a:p>
            <a:pPr algn="r" indent="0" marL="0">
              <a:buNone/>
            </a:pPr>
            <a:r>
              <a:rPr lang="en-US" sz="1200" dirty="0">
                <a:solidFill>
                  <a:schemeClr val="accent4"/>
                </a:solidFill>
              </a:rPr>
              <a:t>missed</a:t>
            </a:r>
            <a:endParaRPr lang="en-US" sz="1500" dirty="0"/>
          </a:p>
        </p:txBody>
      </p:sp>
      <p:sp>
        <p:nvSpPr>
          <p:cNvPr id="55" name="Shape 53"/>
          <p:cNvSpPr/>
          <p:nvPr/>
        </p:nvSpPr>
        <p:spPr>
          <a:xfrm>
            <a:off x="8229600" y="3246120"/>
            <a:ext cx="3383280" cy="1234440"/>
          </a:xfrm>
          <a:prstGeom prst="roundRect">
            <a:avLst>
              <a:gd name="adj" fmla="val 8889"/>
            </a:avLst>
          </a:prstGeom>
          <a:solidFill>
            <a:schemeClr val="bg2"/>
          </a:solidFill>
          <a:ln/>
        </p:spPr>
      </p:sp>
      <p:sp>
        <p:nvSpPr>
          <p:cNvPr id="56" name="Text 54"/>
          <p:cNvSpPr txBox="1"/>
          <p:nvPr/>
        </p:nvSpPr>
        <p:spPr>
          <a:xfrm>
            <a:off x="8458200" y="3355848"/>
            <a:ext cx="3017520" cy="320040"/>
          </a:xfrm>
          <a:prstGeom prst="rect">
            <a:avLst/>
          </a:prstGeom>
          <a:noFill/>
          <a:ln/>
        </p:spPr>
        <p:txBody>
          <a:bodyPr wrap="square" lIns="0" tIns="0" rIns="0" bIns="0" rtlCol="0" anchor="t"/>
          <a:lstStyle/>
          <a:p>
            <a:pPr indent="0" marL="0">
              <a:buNone/>
            </a:pPr>
            <a:r>
              <a:rPr lang="en-US" sz="1400" b="1" dirty="0">
                <a:solidFill>
                  <a:schemeClr val="accent3"/>
                </a:solidFill>
              </a:rPr>
              <a:t>MLP</a:t>
            </a:r>
            <a:endParaRPr lang="en-US" sz="1400" dirty="0"/>
          </a:p>
        </p:txBody>
      </p:sp>
      <p:sp>
        <p:nvSpPr>
          <p:cNvPr id="57" name="Text 55"/>
          <p:cNvSpPr txBox="1"/>
          <p:nvPr/>
        </p:nvSpPr>
        <p:spPr>
          <a:xfrm>
            <a:off x="8458200" y="3703320"/>
            <a:ext cx="1645920" cy="640080"/>
          </a:xfrm>
          <a:prstGeom prst="rect">
            <a:avLst/>
          </a:prstGeom>
          <a:noFill/>
          <a:ln/>
        </p:spPr>
        <p:txBody>
          <a:bodyPr wrap="square" lIns="0" tIns="0" rIns="0" bIns="0" rtlCol="0" anchor="t"/>
          <a:lstStyle/>
          <a:p>
            <a:pPr indent="0" marL="0">
              <a:buNone/>
            </a:pPr>
            <a:r>
              <a:rPr lang="en-US" sz="3200" b="1" dirty="0">
                <a:solidFill>
                  <a:schemeClr val="tx2"/>
                </a:solidFill>
                <a:latin typeface="Cambria" pitchFamily="34" charset="0"/>
                <a:ea typeface="Cambria" pitchFamily="34" charset="-122"/>
                <a:cs typeface="Cambria" pitchFamily="34" charset="-120"/>
              </a:rPr>
              <a:t>0.901</a:t>
            </a:r>
            <a:endParaRPr lang="en-US" sz="3200" dirty="0"/>
          </a:p>
        </p:txBody>
      </p:sp>
      <p:sp>
        <p:nvSpPr>
          <p:cNvPr id="58" name="Text 56"/>
          <p:cNvSpPr txBox="1"/>
          <p:nvPr/>
        </p:nvSpPr>
        <p:spPr>
          <a:xfrm>
            <a:off x="10332720" y="3657600"/>
            <a:ext cx="1097280" cy="731520"/>
          </a:xfrm>
          <a:prstGeom prst="rect">
            <a:avLst/>
          </a:prstGeom>
          <a:noFill/>
          <a:ln/>
        </p:spPr>
        <p:txBody>
          <a:bodyPr wrap="square" lIns="0" tIns="0" rIns="0" bIns="0" rtlCol="0" anchor="t"/>
          <a:lstStyle/>
          <a:p>
            <a:pPr algn="r" indent="0" marL="0">
              <a:buNone/>
            </a:pPr>
            <a:r>
              <a:rPr lang="en-US" sz="2400" b="1" dirty="0">
                <a:solidFill>
                  <a:schemeClr val="accent1"/>
                </a:solidFill>
              </a:rPr>
              <a:t>25</a:t>
            </a:r>
            <a:endParaRPr lang="en-US" sz="1500" dirty="0"/>
          </a:p>
          <a:p>
            <a:pPr algn="r" indent="0" marL="0">
              <a:buNone/>
            </a:pPr>
            <a:r>
              <a:rPr lang="en-US" sz="1200" dirty="0">
                <a:solidFill>
                  <a:schemeClr val="accent4"/>
                </a:solidFill>
              </a:rPr>
              <a:t>missed</a:t>
            </a:r>
            <a:endParaRPr lang="en-US" sz="1500" dirty="0"/>
          </a:p>
        </p:txBody>
      </p:sp>
      <p:sp>
        <p:nvSpPr>
          <p:cNvPr id="59" name="Shape 57"/>
          <p:cNvSpPr/>
          <p:nvPr/>
        </p:nvSpPr>
        <p:spPr>
          <a:xfrm>
            <a:off x="8229600" y="4663440"/>
            <a:ext cx="3383280" cy="1234440"/>
          </a:xfrm>
          <a:prstGeom prst="roundRect">
            <a:avLst>
              <a:gd name="adj" fmla="val 8889"/>
            </a:avLst>
          </a:prstGeom>
          <a:solidFill>
            <a:schemeClr val="bg2"/>
          </a:solidFill>
          <a:ln/>
        </p:spPr>
      </p:sp>
      <p:sp>
        <p:nvSpPr>
          <p:cNvPr id="60" name="Text 58"/>
          <p:cNvSpPr txBox="1"/>
          <p:nvPr/>
        </p:nvSpPr>
        <p:spPr>
          <a:xfrm>
            <a:off x="8458200" y="4773168"/>
            <a:ext cx="3017520" cy="320040"/>
          </a:xfrm>
          <a:prstGeom prst="rect">
            <a:avLst/>
          </a:prstGeom>
          <a:noFill/>
          <a:ln/>
        </p:spPr>
        <p:txBody>
          <a:bodyPr wrap="square" lIns="0" tIns="0" rIns="0" bIns="0" rtlCol="0" anchor="t"/>
          <a:lstStyle/>
          <a:p>
            <a:pPr indent="0" marL="0">
              <a:buNone/>
            </a:pPr>
            <a:r>
              <a:rPr lang="en-US" sz="1400" b="1" dirty="0">
                <a:solidFill>
                  <a:schemeClr val="accent1"/>
                </a:solidFill>
              </a:rPr>
              <a:t>XGBoost</a:t>
            </a:r>
            <a:endParaRPr lang="en-US" sz="1400" dirty="0"/>
          </a:p>
        </p:txBody>
      </p:sp>
      <p:sp>
        <p:nvSpPr>
          <p:cNvPr id="61" name="Text 59"/>
          <p:cNvSpPr txBox="1"/>
          <p:nvPr/>
        </p:nvSpPr>
        <p:spPr>
          <a:xfrm>
            <a:off x="8458200" y="5120640"/>
            <a:ext cx="1645920" cy="640080"/>
          </a:xfrm>
          <a:prstGeom prst="rect">
            <a:avLst/>
          </a:prstGeom>
          <a:noFill/>
          <a:ln/>
        </p:spPr>
        <p:txBody>
          <a:bodyPr wrap="square" lIns="0" tIns="0" rIns="0" bIns="0" rtlCol="0" anchor="t"/>
          <a:lstStyle/>
          <a:p>
            <a:pPr indent="0" marL="0">
              <a:buNone/>
            </a:pPr>
            <a:r>
              <a:rPr lang="en-US" sz="3200" b="1" dirty="0">
                <a:solidFill>
                  <a:schemeClr val="tx2"/>
                </a:solidFill>
                <a:latin typeface="Cambria" pitchFamily="34" charset="0"/>
                <a:ea typeface="Cambria" pitchFamily="34" charset="-122"/>
                <a:cs typeface="Cambria" pitchFamily="34" charset="-120"/>
              </a:rPr>
              <a:t>0.873</a:t>
            </a:r>
            <a:endParaRPr lang="en-US" sz="3200" dirty="0"/>
          </a:p>
        </p:txBody>
      </p:sp>
      <p:sp>
        <p:nvSpPr>
          <p:cNvPr id="62" name="Text 60"/>
          <p:cNvSpPr txBox="1"/>
          <p:nvPr/>
        </p:nvSpPr>
        <p:spPr>
          <a:xfrm>
            <a:off x="10332720" y="5074920"/>
            <a:ext cx="1097280" cy="731520"/>
          </a:xfrm>
          <a:prstGeom prst="rect">
            <a:avLst/>
          </a:prstGeom>
          <a:noFill/>
          <a:ln/>
        </p:spPr>
        <p:txBody>
          <a:bodyPr wrap="square" lIns="0" tIns="0" rIns="0" bIns="0" rtlCol="0" anchor="t"/>
          <a:lstStyle/>
          <a:p>
            <a:pPr algn="r" indent="0" marL="0">
              <a:buNone/>
            </a:pPr>
            <a:r>
              <a:rPr lang="en-US" sz="2400" b="1" dirty="0">
                <a:solidFill>
                  <a:schemeClr val="accent1"/>
                </a:solidFill>
              </a:rPr>
              <a:t>34</a:t>
            </a:r>
            <a:endParaRPr lang="en-US" sz="1500" dirty="0"/>
          </a:p>
          <a:p>
            <a:pPr algn="r" indent="0" marL="0">
              <a:buNone/>
            </a:pPr>
            <a:r>
              <a:rPr lang="en-US" sz="1200" dirty="0">
                <a:solidFill>
                  <a:schemeClr val="accent4"/>
                </a:solidFill>
              </a:rPr>
              <a:t>missed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chemeClr val="tx2"/>
                </a:solidFill>
              </a:rPr>
              <a:t>More complexity did not buy accuracy</a:t>
            </a:r>
            <a:endParaRPr lang="en-US" sz="3400" dirty="0"/>
          </a:p>
        </p:txBody>
      </p:sp>
      <p:sp>
        <p:nvSpPr>
          <p:cNvPr id="3" name="Text 1"/>
          <p:cNvSpPr txBox="1"/>
          <p:nvPr/>
        </p:nvSpPr>
        <p:spPr>
          <a:xfrm>
            <a:off x="548640" y="1325880"/>
            <a:ext cx="6766560" cy="320040"/>
          </a:xfrm>
          <a:prstGeom prst="rect">
            <a:avLst/>
          </a:prstGeom>
          <a:noFill/>
          <a:ln/>
        </p:spPr>
        <p:txBody>
          <a:bodyPr wrap="square" lIns="0" tIns="0" rIns="0" bIns="0" rtlCol="0" anchor="t"/>
          <a:lstStyle/>
          <a:p>
            <a:pPr indent="0" marL="0">
              <a:buNone/>
            </a:pPr>
            <a:r>
              <a:rPr lang="en-US" sz="1400" b="1" dirty="0">
                <a:solidFill>
                  <a:schemeClr val="accent4"/>
                </a:solidFill>
              </a:rPr>
              <a:t>Accuracy across the 5 folds: mean (dot) ± 1 standard deviation (bar)</a:t>
            </a:r>
            <a:endParaRPr lang="en-US" sz="1400" dirty="0"/>
          </a:p>
        </p:txBody>
      </p:sp>
      <p:sp>
        <p:nvSpPr>
          <p:cNvPr id="4" name="Shape 2"/>
          <p:cNvSpPr/>
          <p:nvPr/>
        </p:nvSpPr>
        <p:spPr>
          <a:xfrm>
            <a:off x="2377440" y="1828800"/>
            <a:ext cx="0" cy="3291840"/>
          </a:xfrm>
          <a:prstGeom prst="line">
            <a:avLst/>
          </a:prstGeom>
          <a:noFill/>
          <a:ln w="9525">
            <a:solidFill>
              <a:srgbClr val="D5DEE2"/>
            </a:solidFill>
            <a:prstDash val="dash"/>
          </a:ln>
        </p:spPr>
      </p:sp>
      <p:sp>
        <p:nvSpPr>
          <p:cNvPr id="5" name="Text 3"/>
          <p:cNvSpPr txBox="1"/>
          <p:nvPr/>
        </p:nvSpPr>
        <p:spPr>
          <a:xfrm>
            <a:off x="2011680" y="5212080"/>
            <a:ext cx="731520" cy="274320"/>
          </a:xfrm>
          <a:prstGeom prst="rect">
            <a:avLst/>
          </a:prstGeom>
          <a:noFill/>
          <a:ln/>
        </p:spPr>
        <p:txBody>
          <a:bodyPr wrap="square" lIns="0" tIns="0" rIns="0" bIns="0" rtlCol="0" anchor="t"/>
          <a:lstStyle/>
          <a:p>
            <a:pPr algn="ctr" indent="0" marL="0">
              <a:buNone/>
            </a:pPr>
            <a:r>
              <a:rPr lang="en-US" sz="1200" dirty="0">
                <a:solidFill>
                  <a:schemeClr val="accent4"/>
                </a:solidFill>
              </a:rPr>
              <a:t>70%</a:t>
            </a:r>
            <a:endParaRPr lang="en-US" sz="1200" dirty="0"/>
          </a:p>
        </p:txBody>
      </p:sp>
      <p:sp>
        <p:nvSpPr>
          <p:cNvPr id="6" name="Shape 4"/>
          <p:cNvSpPr/>
          <p:nvPr/>
        </p:nvSpPr>
        <p:spPr>
          <a:xfrm>
            <a:off x="3291840" y="1828800"/>
            <a:ext cx="0" cy="3291840"/>
          </a:xfrm>
          <a:prstGeom prst="line">
            <a:avLst/>
          </a:prstGeom>
          <a:noFill/>
          <a:ln w="9525">
            <a:solidFill>
              <a:srgbClr val="D5DEE2"/>
            </a:solidFill>
            <a:prstDash val="dash"/>
          </a:ln>
        </p:spPr>
      </p:sp>
      <p:sp>
        <p:nvSpPr>
          <p:cNvPr id="7" name="Text 5"/>
          <p:cNvSpPr txBox="1"/>
          <p:nvPr/>
        </p:nvSpPr>
        <p:spPr>
          <a:xfrm>
            <a:off x="2926080" y="5212080"/>
            <a:ext cx="731520" cy="274320"/>
          </a:xfrm>
          <a:prstGeom prst="rect">
            <a:avLst/>
          </a:prstGeom>
          <a:noFill/>
          <a:ln/>
        </p:spPr>
        <p:txBody>
          <a:bodyPr wrap="square" lIns="0" tIns="0" rIns="0" bIns="0" rtlCol="0" anchor="t"/>
          <a:lstStyle/>
          <a:p>
            <a:pPr algn="ctr" indent="0" marL="0">
              <a:buNone/>
            </a:pPr>
            <a:r>
              <a:rPr lang="en-US" sz="1200" dirty="0">
                <a:solidFill>
                  <a:schemeClr val="accent4"/>
                </a:solidFill>
              </a:rPr>
              <a:t>75%</a:t>
            </a:r>
            <a:endParaRPr lang="en-US" sz="1200" dirty="0"/>
          </a:p>
        </p:txBody>
      </p:sp>
      <p:sp>
        <p:nvSpPr>
          <p:cNvPr id="8" name="Shape 6"/>
          <p:cNvSpPr/>
          <p:nvPr/>
        </p:nvSpPr>
        <p:spPr>
          <a:xfrm>
            <a:off x="4206240" y="1828800"/>
            <a:ext cx="0" cy="3291840"/>
          </a:xfrm>
          <a:prstGeom prst="line">
            <a:avLst/>
          </a:prstGeom>
          <a:noFill/>
          <a:ln w="9525">
            <a:solidFill>
              <a:srgbClr val="D5DEE2"/>
            </a:solidFill>
            <a:prstDash val="dash"/>
          </a:ln>
        </p:spPr>
      </p:sp>
      <p:sp>
        <p:nvSpPr>
          <p:cNvPr id="9" name="Text 7"/>
          <p:cNvSpPr txBox="1"/>
          <p:nvPr/>
        </p:nvSpPr>
        <p:spPr>
          <a:xfrm>
            <a:off x="3840480" y="5212080"/>
            <a:ext cx="731520" cy="274320"/>
          </a:xfrm>
          <a:prstGeom prst="rect">
            <a:avLst/>
          </a:prstGeom>
          <a:noFill/>
          <a:ln/>
        </p:spPr>
        <p:txBody>
          <a:bodyPr wrap="square" lIns="0" tIns="0" rIns="0" bIns="0" rtlCol="0" anchor="t"/>
          <a:lstStyle/>
          <a:p>
            <a:pPr algn="ctr" indent="0" marL="0">
              <a:buNone/>
            </a:pPr>
            <a:r>
              <a:rPr lang="en-US" sz="1200" dirty="0">
                <a:solidFill>
                  <a:schemeClr val="accent4"/>
                </a:solidFill>
              </a:rPr>
              <a:t>80%</a:t>
            </a:r>
            <a:endParaRPr lang="en-US" sz="1200" dirty="0"/>
          </a:p>
        </p:txBody>
      </p:sp>
      <p:sp>
        <p:nvSpPr>
          <p:cNvPr id="10" name="Shape 8"/>
          <p:cNvSpPr/>
          <p:nvPr/>
        </p:nvSpPr>
        <p:spPr>
          <a:xfrm>
            <a:off x="5120640" y="1828800"/>
            <a:ext cx="0" cy="3291840"/>
          </a:xfrm>
          <a:prstGeom prst="line">
            <a:avLst/>
          </a:prstGeom>
          <a:noFill/>
          <a:ln w="9525">
            <a:solidFill>
              <a:srgbClr val="D5DEE2"/>
            </a:solidFill>
            <a:prstDash val="dash"/>
          </a:ln>
        </p:spPr>
      </p:sp>
      <p:sp>
        <p:nvSpPr>
          <p:cNvPr id="11" name="Text 9"/>
          <p:cNvSpPr txBox="1"/>
          <p:nvPr/>
        </p:nvSpPr>
        <p:spPr>
          <a:xfrm>
            <a:off x="4754880" y="5212080"/>
            <a:ext cx="731520" cy="274320"/>
          </a:xfrm>
          <a:prstGeom prst="rect">
            <a:avLst/>
          </a:prstGeom>
          <a:noFill/>
          <a:ln/>
        </p:spPr>
        <p:txBody>
          <a:bodyPr wrap="square" lIns="0" tIns="0" rIns="0" bIns="0" rtlCol="0" anchor="t"/>
          <a:lstStyle/>
          <a:p>
            <a:pPr algn="ctr" indent="0" marL="0">
              <a:buNone/>
            </a:pPr>
            <a:r>
              <a:rPr lang="en-US" sz="1200" dirty="0">
                <a:solidFill>
                  <a:schemeClr val="accent4"/>
                </a:solidFill>
              </a:rPr>
              <a:t>85%</a:t>
            </a:r>
            <a:endParaRPr lang="en-US" sz="1200" dirty="0"/>
          </a:p>
        </p:txBody>
      </p:sp>
      <p:sp>
        <p:nvSpPr>
          <p:cNvPr id="12" name="Shape 10"/>
          <p:cNvSpPr/>
          <p:nvPr/>
        </p:nvSpPr>
        <p:spPr>
          <a:xfrm>
            <a:off x="6035040" y="1828800"/>
            <a:ext cx="0" cy="3291840"/>
          </a:xfrm>
          <a:prstGeom prst="line">
            <a:avLst/>
          </a:prstGeom>
          <a:noFill/>
          <a:ln w="9525">
            <a:solidFill>
              <a:srgbClr val="D5DEE2"/>
            </a:solidFill>
            <a:prstDash val="dash"/>
          </a:ln>
        </p:spPr>
      </p:sp>
      <p:sp>
        <p:nvSpPr>
          <p:cNvPr id="13" name="Text 11"/>
          <p:cNvSpPr txBox="1"/>
          <p:nvPr/>
        </p:nvSpPr>
        <p:spPr>
          <a:xfrm>
            <a:off x="5669280" y="5212080"/>
            <a:ext cx="731520" cy="274320"/>
          </a:xfrm>
          <a:prstGeom prst="rect">
            <a:avLst/>
          </a:prstGeom>
          <a:noFill/>
          <a:ln/>
        </p:spPr>
        <p:txBody>
          <a:bodyPr wrap="square" lIns="0" tIns="0" rIns="0" bIns="0" rtlCol="0" anchor="t"/>
          <a:lstStyle/>
          <a:p>
            <a:pPr algn="ctr" indent="0" marL="0">
              <a:buNone/>
            </a:pPr>
            <a:r>
              <a:rPr lang="en-US" sz="1200" dirty="0">
                <a:solidFill>
                  <a:schemeClr val="accent4"/>
                </a:solidFill>
              </a:rPr>
              <a:t>90%</a:t>
            </a:r>
            <a:endParaRPr lang="en-US" sz="1200" dirty="0"/>
          </a:p>
        </p:txBody>
      </p:sp>
      <p:sp>
        <p:nvSpPr>
          <p:cNvPr id="14" name="Shape 12"/>
          <p:cNvSpPr/>
          <p:nvPr/>
        </p:nvSpPr>
        <p:spPr>
          <a:xfrm>
            <a:off x="6949440" y="1828800"/>
            <a:ext cx="0" cy="3291840"/>
          </a:xfrm>
          <a:prstGeom prst="line">
            <a:avLst/>
          </a:prstGeom>
          <a:noFill/>
          <a:ln w="9525">
            <a:solidFill>
              <a:srgbClr val="D5DEE2"/>
            </a:solidFill>
            <a:prstDash val="dash"/>
          </a:ln>
        </p:spPr>
      </p:sp>
      <p:sp>
        <p:nvSpPr>
          <p:cNvPr id="15" name="Text 13"/>
          <p:cNvSpPr txBox="1"/>
          <p:nvPr/>
        </p:nvSpPr>
        <p:spPr>
          <a:xfrm>
            <a:off x="6583680" y="5212080"/>
            <a:ext cx="731520" cy="274320"/>
          </a:xfrm>
          <a:prstGeom prst="rect">
            <a:avLst/>
          </a:prstGeom>
          <a:noFill/>
          <a:ln/>
        </p:spPr>
        <p:txBody>
          <a:bodyPr wrap="square" lIns="0" tIns="0" rIns="0" bIns="0" rtlCol="0" anchor="t"/>
          <a:lstStyle/>
          <a:p>
            <a:pPr algn="ctr" indent="0" marL="0">
              <a:buNone/>
            </a:pPr>
            <a:r>
              <a:rPr lang="en-US" sz="1200" dirty="0">
                <a:solidFill>
                  <a:schemeClr val="accent4"/>
                </a:solidFill>
              </a:rPr>
              <a:t>95%</a:t>
            </a:r>
            <a:endParaRPr lang="en-US" sz="1200" dirty="0"/>
          </a:p>
        </p:txBody>
      </p:sp>
      <p:sp>
        <p:nvSpPr>
          <p:cNvPr id="16" name="Text 14"/>
          <p:cNvSpPr txBox="1"/>
          <p:nvPr/>
        </p:nvSpPr>
        <p:spPr>
          <a:xfrm>
            <a:off x="548640" y="2103120"/>
            <a:ext cx="1737360" cy="640080"/>
          </a:xfrm>
          <a:prstGeom prst="rect">
            <a:avLst/>
          </a:prstGeom>
          <a:noFill/>
          <a:ln/>
        </p:spPr>
        <p:txBody>
          <a:bodyPr wrap="square" lIns="0" tIns="0" rIns="0" bIns="0" rtlCol="0" anchor="t"/>
          <a:lstStyle/>
          <a:p>
            <a:pPr indent="0" marL="0">
              <a:buNone/>
            </a:pPr>
            <a:r>
              <a:rPr lang="en-US" sz="1500" b="1" dirty="0">
                <a:solidFill>
                  <a:schemeClr val="tx2"/>
                </a:solidFill>
              </a:rPr>
              <a:t>Logistic Reg.</a:t>
            </a:r>
            <a:endParaRPr lang="en-US" sz="1500" dirty="0"/>
          </a:p>
          <a:p>
            <a:pPr indent="0" marL="0">
              <a:buNone/>
            </a:pPr>
            <a:r>
              <a:rPr lang="en-US" sz="1200" dirty="0">
                <a:solidFill>
                  <a:schemeClr val="accent4"/>
                </a:solidFill>
              </a:rPr>
              <a:t>26 params</a:t>
            </a:r>
            <a:endParaRPr lang="en-US" sz="1500" dirty="0"/>
          </a:p>
        </p:txBody>
      </p:sp>
      <p:sp>
        <p:nvSpPr>
          <p:cNvPr id="17" name="Shape 15"/>
          <p:cNvSpPr/>
          <p:nvPr/>
        </p:nvSpPr>
        <p:spPr>
          <a:xfrm>
            <a:off x="4059936" y="2350008"/>
            <a:ext cx="2194560" cy="146304"/>
          </a:xfrm>
          <a:prstGeom prst="rect">
            <a:avLst/>
          </a:prstGeom>
          <a:solidFill>
            <a:schemeClr val="accent2">
              <a:alpha val="55000"/>
            </a:schemeClr>
          </a:solidFill>
          <a:ln/>
        </p:spPr>
      </p:sp>
      <p:sp>
        <p:nvSpPr>
          <p:cNvPr id="18" name="Shape 16"/>
          <p:cNvSpPr/>
          <p:nvPr/>
        </p:nvSpPr>
        <p:spPr>
          <a:xfrm>
            <a:off x="5020056" y="2286000"/>
            <a:ext cx="274320" cy="274320"/>
          </a:xfrm>
          <a:prstGeom prst="ellipse">
            <a:avLst/>
          </a:prstGeom>
          <a:solidFill>
            <a:schemeClr val="accent2"/>
          </a:solidFill>
          <a:ln w="19050">
            <a:solidFill>
              <a:schemeClr val="bg1"/>
            </a:solidFill>
            <a:prstDash val="solid"/>
          </a:ln>
        </p:spPr>
      </p:sp>
      <p:sp>
        <p:nvSpPr>
          <p:cNvPr id="19" name="Text 17"/>
          <p:cNvSpPr txBox="1"/>
          <p:nvPr/>
        </p:nvSpPr>
        <p:spPr>
          <a:xfrm>
            <a:off x="6364224" y="2240280"/>
            <a:ext cx="1371600" cy="365760"/>
          </a:xfrm>
          <a:prstGeom prst="rect">
            <a:avLst/>
          </a:prstGeom>
          <a:noFill/>
          <a:ln/>
        </p:spPr>
        <p:txBody>
          <a:bodyPr wrap="square" lIns="0" tIns="0" rIns="0" bIns="0" rtlCol="0" anchor="ctr"/>
          <a:lstStyle/>
          <a:p>
            <a:pPr indent="0" marL="0">
              <a:buNone/>
            </a:pPr>
            <a:r>
              <a:rPr lang="en-US" sz="1300" b="1" dirty="0">
                <a:solidFill>
                  <a:schemeClr val="tx2"/>
                </a:solidFill>
              </a:rPr>
              <a:t>85.2% ± 6</a:t>
            </a:r>
            <a:endParaRPr lang="en-US" sz="1300" dirty="0"/>
          </a:p>
        </p:txBody>
      </p:sp>
      <p:sp>
        <p:nvSpPr>
          <p:cNvPr id="20" name="Text 18"/>
          <p:cNvSpPr txBox="1"/>
          <p:nvPr/>
        </p:nvSpPr>
        <p:spPr>
          <a:xfrm>
            <a:off x="548640" y="3154680"/>
            <a:ext cx="1737360" cy="640080"/>
          </a:xfrm>
          <a:prstGeom prst="rect">
            <a:avLst/>
          </a:prstGeom>
          <a:noFill/>
          <a:ln/>
        </p:spPr>
        <p:txBody>
          <a:bodyPr wrap="square" lIns="0" tIns="0" rIns="0" bIns="0" rtlCol="0" anchor="t"/>
          <a:lstStyle/>
          <a:p>
            <a:pPr indent="0" marL="0">
              <a:buNone/>
            </a:pPr>
            <a:r>
              <a:rPr lang="en-US" sz="1500" b="1" dirty="0">
                <a:solidFill>
                  <a:schemeClr val="tx2"/>
                </a:solidFill>
              </a:rPr>
              <a:t>MLP</a:t>
            </a:r>
            <a:endParaRPr lang="en-US" sz="1500" dirty="0"/>
          </a:p>
          <a:p>
            <a:pPr indent="0" marL="0">
              <a:buNone/>
            </a:pPr>
            <a:r>
              <a:rPr lang="en-US" sz="1200" dirty="0">
                <a:solidFill>
                  <a:schemeClr val="accent4"/>
                </a:solidFill>
              </a:rPr>
              <a:t>561 params</a:t>
            </a:r>
            <a:endParaRPr lang="en-US" sz="1500" dirty="0"/>
          </a:p>
        </p:txBody>
      </p:sp>
      <p:sp>
        <p:nvSpPr>
          <p:cNvPr id="21" name="Shape 19"/>
          <p:cNvSpPr/>
          <p:nvPr/>
        </p:nvSpPr>
        <p:spPr>
          <a:xfrm>
            <a:off x="3840480" y="3401568"/>
            <a:ext cx="2011680" cy="146304"/>
          </a:xfrm>
          <a:prstGeom prst="rect">
            <a:avLst/>
          </a:prstGeom>
          <a:solidFill>
            <a:schemeClr val="accent3">
              <a:alpha val="55000"/>
            </a:schemeClr>
          </a:solidFill>
          <a:ln/>
        </p:spPr>
      </p:sp>
      <p:sp>
        <p:nvSpPr>
          <p:cNvPr id="22" name="Shape 20"/>
          <p:cNvSpPr/>
          <p:nvPr/>
        </p:nvSpPr>
        <p:spPr>
          <a:xfrm>
            <a:off x="4709160" y="3337560"/>
            <a:ext cx="274320" cy="274320"/>
          </a:xfrm>
          <a:prstGeom prst="ellipse">
            <a:avLst/>
          </a:prstGeom>
          <a:solidFill>
            <a:schemeClr val="accent3"/>
          </a:solidFill>
          <a:ln w="19050">
            <a:solidFill>
              <a:schemeClr val="bg1"/>
            </a:solidFill>
            <a:prstDash val="solid"/>
          </a:ln>
        </p:spPr>
      </p:sp>
      <p:sp>
        <p:nvSpPr>
          <p:cNvPr id="23" name="Text 21"/>
          <p:cNvSpPr txBox="1"/>
          <p:nvPr/>
        </p:nvSpPr>
        <p:spPr>
          <a:xfrm>
            <a:off x="5961888" y="3291840"/>
            <a:ext cx="1371600" cy="365760"/>
          </a:xfrm>
          <a:prstGeom prst="rect">
            <a:avLst/>
          </a:prstGeom>
          <a:noFill/>
          <a:ln/>
        </p:spPr>
        <p:txBody>
          <a:bodyPr wrap="square" lIns="0" tIns="0" rIns="0" bIns="0" rtlCol="0" anchor="ctr"/>
          <a:lstStyle/>
          <a:p>
            <a:pPr indent="0" marL="0">
              <a:buNone/>
            </a:pPr>
            <a:r>
              <a:rPr lang="en-US" sz="1300" b="1" dirty="0">
                <a:solidFill>
                  <a:schemeClr val="tx2"/>
                </a:solidFill>
              </a:rPr>
              <a:t>83.5% ± 5.5</a:t>
            </a:r>
            <a:endParaRPr lang="en-US" sz="1300" dirty="0"/>
          </a:p>
        </p:txBody>
      </p:sp>
      <p:sp>
        <p:nvSpPr>
          <p:cNvPr id="24" name="Text 22"/>
          <p:cNvSpPr txBox="1"/>
          <p:nvPr/>
        </p:nvSpPr>
        <p:spPr>
          <a:xfrm>
            <a:off x="548640" y="4206240"/>
            <a:ext cx="1737360" cy="640080"/>
          </a:xfrm>
          <a:prstGeom prst="rect">
            <a:avLst/>
          </a:prstGeom>
          <a:noFill/>
          <a:ln/>
        </p:spPr>
        <p:txBody>
          <a:bodyPr wrap="square" lIns="0" tIns="0" rIns="0" bIns="0" rtlCol="0" anchor="t"/>
          <a:lstStyle/>
          <a:p>
            <a:pPr indent="0" marL="0">
              <a:buNone/>
            </a:pPr>
            <a:r>
              <a:rPr lang="en-US" sz="1500" b="1" dirty="0">
                <a:solidFill>
                  <a:schemeClr val="tx2"/>
                </a:solidFill>
              </a:rPr>
              <a:t>XGBoost</a:t>
            </a:r>
            <a:endParaRPr lang="en-US" sz="1500" dirty="0"/>
          </a:p>
          <a:p>
            <a:pPr indent="0" marL="0">
              <a:buNone/>
            </a:pPr>
            <a:r>
              <a:rPr lang="en-US" sz="1200" dirty="0">
                <a:solidFill>
                  <a:schemeClr val="accent4"/>
                </a:solidFill>
              </a:rPr>
              <a:t>≤ 6,610 nodes</a:t>
            </a:r>
            <a:endParaRPr lang="en-US" sz="1500" dirty="0"/>
          </a:p>
        </p:txBody>
      </p:sp>
      <p:sp>
        <p:nvSpPr>
          <p:cNvPr id="25" name="Shape 23"/>
          <p:cNvSpPr/>
          <p:nvPr/>
        </p:nvSpPr>
        <p:spPr>
          <a:xfrm>
            <a:off x="3602736" y="4453128"/>
            <a:ext cx="1280160" cy="146304"/>
          </a:xfrm>
          <a:prstGeom prst="rect">
            <a:avLst/>
          </a:prstGeom>
          <a:solidFill>
            <a:schemeClr val="accent1">
              <a:alpha val="55000"/>
            </a:schemeClr>
          </a:solidFill>
          <a:ln/>
        </p:spPr>
      </p:sp>
      <p:sp>
        <p:nvSpPr>
          <p:cNvPr id="26" name="Shape 24"/>
          <p:cNvSpPr/>
          <p:nvPr/>
        </p:nvSpPr>
        <p:spPr>
          <a:xfrm>
            <a:off x="4105656" y="4389120"/>
            <a:ext cx="274320" cy="274320"/>
          </a:xfrm>
          <a:prstGeom prst="ellipse">
            <a:avLst/>
          </a:prstGeom>
          <a:solidFill>
            <a:schemeClr val="accent1"/>
          </a:solidFill>
          <a:ln w="19050">
            <a:solidFill>
              <a:schemeClr val="bg1"/>
            </a:solidFill>
            <a:prstDash val="solid"/>
          </a:ln>
        </p:spPr>
      </p:sp>
      <p:sp>
        <p:nvSpPr>
          <p:cNvPr id="27" name="Text 25"/>
          <p:cNvSpPr txBox="1"/>
          <p:nvPr/>
        </p:nvSpPr>
        <p:spPr>
          <a:xfrm>
            <a:off x="4992624" y="4343400"/>
            <a:ext cx="1371600" cy="365760"/>
          </a:xfrm>
          <a:prstGeom prst="rect">
            <a:avLst/>
          </a:prstGeom>
          <a:noFill/>
          <a:ln/>
        </p:spPr>
        <p:txBody>
          <a:bodyPr wrap="square" lIns="0" tIns="0" rIns="0" bIns="0" rtlCol="0" anchor="ctr"/>
          <a:lstStyle/>
          <a:p>
            <a:pPr indent="0" marL="0">
              <a:buNone/>
            </a:pPr>
            <a:r>
              <a:rPr lang="en-US" sz="1300" b="1" dirty="0">
                <a:solidFill>
                  <a:schemeClr val="tx2"/>
                </a:solidFill>
              </a:rPr>
              <a:t>80.2% ± 3.5</a:t>
            </a:r>
            <a:endParaRPr lang="en-US" sz="1300" dirty="0"/>
          </a:p>
        </p:txBody>
      </p:sp>
      <p:sp>
        <p:nvSpPr>
          <p:cNvPr id="28" name="Text 26"/>
          <p:cNvSpPr txBox="1"/>
          <p:nvPr/>
        </p:nvSpPr>
        <p:spPr>
          <a:xfrm>
            <a:off x="548640" y="5623560"/>
            <a:ext cx="6766560" cy="594360"/>
          </a:xfrm>
          <a:prstGeom prst="rect">
            <a:avLst/>
          </a:prstGeom>
          <a:noFill/>
          <a:ln/>
        </p:spPr>
        <p:txBody>
          <a:bodyPr wrap="square" lIns="0" tIns="0" rIns="0" bIns="0" rtlCol="0" anchor="t"/>
          <a:lstStyle/>
          <a:p>
            <a:pPr indent="0" marL="0">
              <a:buNone/>
            </a:pPr>
            <a:r>
              <a:rPr lang="en-US" sz="1400" i="1" dirty="0">
                <a:solidFill>
                  <a:schemeClr val="accent4"/>
                </a:solidFill>
              </a:rPr>
              <a:t>The bars overlap heavily: the differences between models are within normal fold-to-fold noise.</a:t>
            </a:r>
            <a:endParaRPr lang="en-US" sz="1400" dirty="0"/>
          </a:p>
        </p:txBody>
      </p:sp>
      <p:sp>
        <p:nvSpPr>
          <p:cNvPr id="29" name="Shape 27"/>
          <p:cNvSpPr/>
          <p:nvPr/>
        </p:nvSpPr>
        <p:spPr>
          <a:xfrm>
            <a:off x="7863840" y="1325880"/>
            <a:ext cx="3749040" cy="2240280"/>
          </a:xfrm>
          <a:prstGeom prst="roundRect">
            <a:avLst>
              <a:gd name="adj" fmla="val 4898"/>
            </a:avLst>
          </a:prstGeom>
          <a:solidFill>
            <a:schemeClr val="bg2"/>
          </a:solidFill>
          <a:ln/>
        </p:spPr>
      </p:sp>
      <p:sp>
        <p:nvSpPr>
          <p:cNvPr id="30" name="Text 28"/>
          <p:cNvSpPr txBox="1"/>
          <p:nvPr/>
        </p:nvSpPr>
        <p:spPr>
          <a:xfrm>
            <a:off x="8138160" y="1463040"/>
            <a:ext cx="3200400" cy="82296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±3–6</a:t>
            </a:r>
            <a:endParaRPr lang="en-US" sz="4800" dirty="0"/>
          </a:p>
        </p:txBody>
      </p:sp>
      <p:sp>
        <p:nvSpPr>
          <p:cNvPr id="31" name="Text 29"/>
          <p:cNvSpPr txBox="1"/>
          <p:nvPr/>
        </p:nvSpPr>
        <p:spPr>
          <a:xfrm>
            <a:off x="8138160" y="2331720"/>
            <a:ext cx="3200400" cy="1097280"/>
          </a:xfrm>
          <a:prstGeom prst="rect">
            <a:avLst/>
          </a:prstGeom>
          <a:noFill/>
          <a:ln/>
        </p:spPr>
        <p:txBody>
          <a:bodyPr wrap="square" lIns="0" tIns="0" rIns="0" bIns="0" rtlCol="0" anchor="t"/>
          <a:lstStyle/>
          <a:p>
            <a:pPr indent="0" marL="0">
              <a:buNone/>
            </a:pPr>
            <a:r>
              <a:rPr lang="en-US" sz="1500" dirty="0">
                <a:solidFill>
                  <a:schemeClr val="tx1"/>
                </a:solidFill>
              </a:rPr>
              <a:t>points of accuracy change from fold to fold, more than the gap between models.</a:t>
            </a:r>
            <a:endParaRPr lang="en-US" sz="1500" dirty="0"/>
          </a:p>
        </p:txBody>
      </p:sp>
      <p:sp>
        <p:nvSpPr>
          <p:cNvPr id="32" name="Shape 30"/>
          <p:cNvSpPr/>
          <p:nvPr/>
        </p:nvSpPr>
        <p:spPr>
          <a:xfrm>
            <a:off x="7863840" y="3794760"/>
            <a:ext cx="3749040" cy="2423160"/>
          </a:xfrm>
          <a:prstGeom prst="roundRect">
            <a:avLst>
              <a:gd name="adj" fmla="val 4528"/>
            </a:avLst>
          </a:prstGeom>
          <a:solidFill>
            <a:schemeClr val="tx2"/>
          </a:solidFill>
          <a:ln/>
        </p:spPr>
      </p:sp>
      <p:sp>
        <p:nvSpPr>
          <p:cNvPr id="33" name="Text 31"/>
          <p:cNvSpPr txBox="1"/>
          <p:nvPr/>
        </p:nvSpPr>
        <p:spPr>
          <a:xfrm>
            <a:off x="8138160" y="3977640"/>
            <a:ext cx="3200400" cy="2103120"/>
          </a:xfrm>
          <a:prstGeom prst="rect">
            <a:avLst/>
          </a:prstGeom>
          <a:noFill/>
          <a:ln/>
        </p:spPr>
        <p:txBody>
          <a:bodyPr wrap="square" lIns="0" tIns="0" rIns="0" bIns="0" rtlCol="0" anchor="t"/>
          <a:lstStyle/>
          <a:p>
            <a:pPr indent="0" marL="0">
              <a:spcAft>
                <a:spcPts val="600"/>
              </a:spcAft>
              <a:buNone/>
            </a:pPr>
            <a:r>
              <a:rPr lang="en-US" sz="1400" b="1" dirty="0">
                <a:solidFill>
                  <a:schemeClr val="accent5"/>
                </a:solidFill>
              </a:rPr>
              <a:t>Answer to Question 1</a:t>
            </a:r>
            <a:endParaRPr lang="en-US" sz="1500" dirty="0"/>
          </a:p>
          <a:p>
            <a:pPr indent="0" marL="0">
              <a:spcAft>
                <a:spcPts val="600"/>
              </a:spcAft>
              <a:buNone/>
            </a:pPr>
            <a:r>
              <a:rPr lang="en-US" sz="1600" dirty="0">
                <a:solidFill>
                  <a:schemeClr val="bg1"/>
                </a:solidFill>
              </a:rPr>
              <a:t>On 303 patients, the simplest model is best or tied. A small dataset gives complex models nothing extra to learn.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chemeClr val="tx2"/>
                </a:solidFill>
              </a:rPr>
              <a:t>How encrypted prediction works</a:t>
            </a:r>
            <a:endParaRPr lang="en-US" sz="3400" dirty="0"/>
          </a:p>
        </p:txBody>
      </p:sp>
      <p:sp>
        <p:nvSpPr>
          <p:cNvPr id="3" name="Shape 1"/>
          <p:cNvSpPr/>
          <p:nvPr/>
        </p:nvSpPr>
        <p:spPr>
          <a:xfrm>
            <a:off x="548640" y="1325880"/>
            <a:ext cx="3429000" cy="3566160"/>
          </a:xfrm>
          <a:prstGeom prst="roundRect">
            <a:avLst>
              <a:gd name="adj" fmla="val 3200"/>
            </a:avLst>
          </a:prstGeom>
          <a:solidFill>
            <a:schemeClr val="bg2"/>
          </a:solidFill>
          <a:ln/>
        </p:spPr>
      </p:sp>
      <p:sp>
        <p:nvSpPr>
          <p:cNvPr id="4" name="Shape 2"/>
          <p:cNvSpPr/>
          <p:nvPr/>
        </p:nvSpPr>
        <p:spPr>
          <a:xfrm>
            <a:off x="822960" y="1600200"/>
            <a:ext cx="777240" cy="777240"/>
          </a:xfrm>
          <a:prstGeom prst="ellipse">
            <a:avLst/>
          </a:prstGeom>
          <a:solidFill>
            <a:schemeClr val="accent2"/>
          </a:solidFill>
          <a:ln/>
        </p:spPr>
      </p:sp>
      <p:pic>
        <p:nvPicPr>
          <p:cNvPr id="5" name="Image 0" descr="preencoded.png">    </p:cNvPr>
          <p:cNvPicPr>
            <a:picLocks noChangeAspect="1"/>
          </p:cNvPicPr>
          <p:nvPr/>
        </p:nvPicPr>
        <p:blipFill>
          <a:blip r:embed="rId1"/>
          <a:stretch>
            <a:fillRect/>
          </a:stretch>
        </p:blipFill>
        <p:spPr>
          <a:xfrm>
            <a:off x="1009498" y="1786738"/>
            <a:ext cx="404165" cy="404165"/>
          </a:xfrm>
          <a:prstGeom prst="rect">
            <a:avLst/>
          </a:prstGeom>
        </p:spPr>
      </p:pic>
      <p:sp>
        <p:nvSpPr>
          <p:cNvPr id="6" name="Text 3"/>
          <p:cNvSpPr txBox="1"/>
          <p:nvPr/>
        </p:nvSpPr>
        <p:spPr>
          <a:xfrm>
            <a:off x="1783080" y="1783080"/>
            <a:ext cx="2011680" cy="411480"/>
          </a:xfrm>
          <a:prstGeom prst="rect">
            <a:avLst/>
          </a:prstGeom>
          <a:noFill/>
          <a:ln/>
        </p:spPr>
        <p:txBody>
          <a:bodyPr wrap="square" lIns="0" tIns="0" rIns="0" bIns="0" rtlCol="0" anchor="ctr"/>
          <a:lstStyle/>
          <a:p>
            <a:pPr indent="0" marL="0">
              <a:buNone/>
            </a:pPr>
            <a:r>
              <a:rPr lang="en-US" sz="1300" b="1" dirty="0">
                <a:solidFill>
                  <a:schemeClr val="accent2"/>
                </a:solidFill>
              </a:rPr>
              <a:t>STEP 1 · CLIENT</a:t>
            </a:r>
            <a:endParaRPr lang="en-US" sz="1300" dirty="0"/>
          </a:p>
        </p:txBody>
      </p:sp>
      <p:sp>
        <p:nvSpPr>
          <p:cNvPr id="7" name="Text 4"/>
          <p:cNvSpPr txBox="1"/>
          <p:nvPr/>
        </p:nvSpPr>
        <p:spPr>
          <a:xfrm>
            <a:off x="822960" y="2560320"/>
            <a:ext cx="2880360" cy="41148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Encrypt</a:t>
            </a:r>
            <a:endParaRPr lang="en-US" sz="1900" dirty="0"/>
          </a:p>
        </p:txBody>
      </p:sp>
      <p:sp>
        <p:nvSpPr>
          <p:cNvPr id="8" name="Text 5"/>
          <p:cNvSpPr txBox="1"/>
          <p:nvPr/>
        </p:nvSpPr>
        <p:spPr>
          <a:xfrm>
            <a:off x="822960" y="3017520"/>
            <a:ext cx="2880360" cy="1188720"/>
          </a:xfrm>
          <a:prstGeom prst="rect">
            <a:avLst/>
          </a:prstGeom>
          <a:noFill/>
          <a:ln/>
        </p:spPr>
        <p:txBody>
          <a:bodyPr wrap="square" lIns="0" tIns="0" rIns="0" bIns="0" rtlCol="0" anchor="t"/>
          <a:lstStyle/>
          <a:p>
            <a:pPr indent="0" marL="0">
              <a:buNone/>
            </a:pPr>
            <a:r>
              <a:rPr lang="en-US" sz="1500" dirty="0">
                <a:solidFill>
                  <a:schemeClr val="tx1"/>
                </a:solidFill>
              </a:rPr>
              <a:t>Round the patient's 25 inputs to 8-bit integers, then encrypt them with a secret key.</a:t>
            </a:r>
            <a:endParaRPr lang="en-US" sz="1500" dirty="0"/>
          </a:p>
        </p:txBody>
      </p:sp>
      <p:sp>
        <p:nvSpPr>
          <p:cNvPr id="9" name="Text 6"/>
          <p:cNvSpPr txBox="1"/>
          <p:nvPr/>
        </p:nvSpPr>
        <p:spPr>
          <a:xfrm>
            <a:off x="822960" y="4297680"/>
            <a:ext cx="2880360" cy="411480"/>
          </a:xfrm>
          <a:prstGeom prst="rect">
            <a:avLst/>
          </a:prstGeom>
          <a:noFill/>
          <a:ln/>
        </p:spPr>
        <p:txBody>
          <a:bodyPr wrap="square" lIns="0" tIns="0" rIns="0" bIns="0" rtlCol="0" anchor="t"/>
          <a:lstStyle/>
          <a:p>
            <a:pPr indent="0" marL="0">
              <a:buNone/>
            </a:pPr>
            <a:r>
              <a:rPr lang="en-US" sz="1800" b="1" dirty="0">
                <a:solidFill>
                  <a:schemeClr val="accent1"/>
                </a:solidFill>
              </a:rPr>
              <a:t>~3–7 ms</a:t>
            </a:r>
            <a:endParaRPr lang="en-US" sz="1800" dirty="0"/>
          </a:p>
        </p:txBody>
      </p:sp>
      <p:sp>
        <p:nvSpPr>
          <p:cNvPr id="10" name="Shape 7"/>
          <p:cNvSpPr/>
          <p:nvPr/>
        </p:nvSpPr>
        <p:spPr>
          <a:xfrm>
            <a:off x="4023360" y="3108960"/>
            <a:ext cx="274320" cy="0"/>
          </a:xfrm>
          <a:prstGeom prst="line">
            <a:avLst/>
          </a:prstGeom>
          <a:noFill/>
          <a:ln w="25400">
            <a:solidFill>
              <a:schemeClr val="accent4"/>
            </a:solidFill>
            <a:prstDash val="solid"/>
            <a:tailEnd type="triangle"/>
          </a:ln>
        </p:spPr>
      </p:sp>
      <p:sp>
        <p:nvSpPr>
          <p:cNvPr id="11" name="Shape 8"/>
          <p:cNvSpPr/>
          <p:nvPr/>
        </p:nvSpPr>
        <p:spPr>
          <a:xfrm>
            <a:off x="4343400" y="1325880"/>
            <a:ext cx="3429000" cy="3566160"/>
          </a:xfrm>
          <a:prstGeom prst="roundRect">
            <a:avLst>
              <a:gd name="adj" fmla="val 3200"/>
            </a:avLst>
          </a:prstGeom>
          <a:solidFill>
            <a:schemeClr val="bg2"/>
          </a:solidFill>
          <a:ln/>
        </p:spPr>
      </p:sp>
      <p:sp>
        <p:nvSpPr>
          <p:cNvPr id="12" name="Shape 9"/>
          <p:cNvSpPr/>
          <p:nvPr/>
        </p:nvSpPr>
        <p:spPr>
          <a:xfrm>
            <a:off x="4617720" y="1600200"/>
            <a:ext cx="777240" cy="777240"/>
          </a:xfrm>
          <a:prstGeom prst="ellipse">
            <a:avLst/>
          </a:prstGeom>
          <a:solidFill>
            <a:schemeClr val="tx2"/>
          </a:solidFill>
          <a:ln/>
        </p:spPr>
      </p:sp>
      <p:pic>
        <p:nvPicPr>
          <p:cNvPr id="13" name="Image 1" descr="preencoded.png">    </p:cNvPr>
          <p:cNvPicPr>
            <a:picLocks noChangeAspect="1"/>
          </p:cNvPicPr>
          <p:nvPr/>
        </p:nvPicPr>
        <p:blipFill>
          <a:blip r:embed="rId2"/>
          <a:stretch>
            <a:fillRect/>
          </a:stretch>
        </p:blipFill>
        <p:spPr>
          <a:xfrm>
            <a:off x="4804258" y="1786738"/>
            <a:ext cx="404165" cy="404165"/>
          </a:xfrm>
          <a:prstGeom prst="rect">
            <a:avLst/>
          </a:prstGeom>
        </p:spPr>
      </p:pic>
      <p:sp>
        <p:nvSpPr>
          <p:cNvPr id="14" name="Text 10"/>
          <p:cNvSpPr txBox="1"/>
          <p:nvPr/>
        </p:nvSpPr>
        <p:spPr>
          <a:xfrm>
            <a:off x="5577840" y="1783080"/>
            <a:ext cx="2011680" cy="411480"/>
          </a:xfrm>
          <a:prstGeom prst="rect">
            <a:avLst/>
          </a:prstGeom>
          <a:noFill/>
          <a:ln/>
        </p:spPr>
        <p:txBody>
          <a:bodyPr wrap="square" lIns="0" tIns="0" rIns="0" bIns="0" rtlCol="0" anchor="ctr"/>
          <a:lstStyle/>
          <a:p>
            <a:pPr indent="0" marL="0">
              <a:buNone/>
            </a:pPr>
            <a:r>
              <a:rPr lang="en-US" sz="1300" b="1" dirty="0">
                <a:solidFill>
                  <a:schemeClr val="tx2"/>
                </a:solidFill>
              </a:rPr>
              <a:t>STEP 2 · SERVER</a:t>
            </a:r>
            <a:endParaRPr lang="en-US" sz="1300" dirty="0"/>
          </a:p>
        </p:txBody>
      </p:sp>
      <p:sp>
        <p:nvSpPr>
          <p:cNvPr id="15" name="Text 11"/>
          <p:cNvSpPr txBox="1"/>
          <p:nvPr/>
        </p:nvSpPr>
        <p:spPr>
          <a:xfrm>
            <a:off x="4617720" y="2560320"/>
            <a:ext cx="2880360" cy="41148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Compute on ciphertext</a:t>
            </a:r>
            <a:endParaRPr lang="en-US" sz="1900" dirty="0"/>
          </a:p>
        </p:txBody>
      </p:sp>
      <p:sp>
        <p:nvSpPr>
          <p:cNvPr id="16" name="Text 12"/>
          <p:cNvSpPr txBox="1"/>
          <p:nvPr/>
        </p:nvSpPr>
        <p:spPr>
          <a:xfrm>
            <a:off x="4617720" y="3017520"/>
            <a:ext cx="2880360" cy="1188720"/>
          </a:xfrm>
          <a:prstGeom prst="rect">
            <a:avLst/>
          </a:prstGeom>
          <a:noFill/>
          <a:ln/>
        </p:spPr>
        <p:txBody>
          <a:bodyPr wrap="square" lIns="0" tIns="0" rIns="0" bIns="0" rtlCol="0" anchor="t"/>
          <a:lstStyle/>
          <a:p>
            <a:pPr indent="0" marL="0">
              <a:buNone/>
            </a:pPr>
            <a:r>
              <a:rPr lang="en-US" sz="1500" dirty="0">
                <a:solidFill>
                  <a:schemeClr val="tx1"/>
                </a:solidFill>
              </a:rPr>
              <a:t>Run the logistic regression circuit on encrypted data. It has only an evaluation key, never the secret key.</a:t>
            </a:r>
            <a:endParaRPr lang="en-US" sz="1500" dirty="0"/>
          </a:p>
        </p:txBody>
      </p:sp>
      <p:sp>
        <p:nvSpPr>
          <p:cNvPr id="17" name="Text 13"/>
          <p:cNvSpPr txBox="1"/>
          <p:nvPr/>
        </p:nvSpPr>
        <p:spPr>
          <a:xfrm>
            <a:off x="4617720" y="4297680"/>
            <a:ext cx="2880360" cy="411480"/>
          </a:xfrm>
          <a:prstGeom prst="rect">
            <a:avLst/>
          </a:prstGeom>
          <a:noFill/>
          <a:ln/>
        </p:spPr>
        <p:txBody>
          <a:bodyPr wrap="square" lIns="0" tIns="0" rIns="0" bIns="0" rtlCol="0" anchor="t"/>
          <a:lstStyle/>
          <a:p>
            <a:pPr indent="0" marL="0">
              <a:buNone/>
            </a:pPr>
            <a:r>
              <a:rPr lang="en-US" sz="1800" b="1" dirty="0">
                <a:solidFill>
                  <a:schemeClr val="accent1"/>
                </a:solidFill>
              </a:rPr>
              <a:t>~10–20 ms</a:t>
            </a:r>
            <a:endParaRPr lang="en-US" sz="1800" dirty="0"/>
          </a:p>
        </p:txBody>
      </p:sp>
      <p:sp>
        <p:nvSpPr>
          <p:cNvPr id="18" name="Shape 14"/>
          <p:cNvSpPr/>
          <p:nvPr/>
        </p:nvSpPr>
        <p:spPr>
          <a:xfrm>
            <a:off x="7818120" y="3108960"/>
            <a:ext cx="274320" cy="0"/>
          </a:xfrm>
          <a:prstGeom prst="line">
            <a:avLst/>
          </a:prstGeom>
          <a:noFill/>
          <a:ln w="25400">
            <a:solidFill>
              <a:schemeClr val="accent4"/>
            </a:solidFill>
            <a:prstDash val="solid"/>
            <a:tailEnd type="triangle"/>
          </a:ln>
        </p:spPr>
      </p:sp>
      <p:sp>
        <p:nvSpPr>
          <p:cNvPr id="19" name="Shape 15"/>
          <p:cNvSpPr/>
          <p:nvPr/>
        </p:nvSpPr>
        <p:spPr>
          <a:xfrm>
            <a:off x="8138160" y="1325880"/>
            <a:ext cx="3429000" cy="3566160"/>
          </a:xfrm>
          <a:prstGeom prst="roundRect">
            <a:avLst>
              <a:gd name="adj" fmla="val 3200"/>
            </a:avLst>
          </a:prstGeom>
          <a:solidFill>
            <a:schemeClr val="bg2"/>
          </a:solidFill>
          <a:ln/>
        </p:spPr>
      </p:sp>
      <p:sp>
        <p:nvSpPr>
          <p:cNvPr id="20" name="Shape 16"/>
          <p:cNvSpPr/>
          <p:nvPr/>
        </p:nvSpPr>
        <p:spPr>
          <a:xfrm>
            <a:off x="8412480" y="1600200"/>
            <a:ext cx="777240" cy="777240"/>
          </a:xfrm>
          <a:prstGeom prst="ellipse">
            <a:avLst/>
          </a:prstGeom>
          <a:solidFill>
            <a:schemeClr val="accent2"/>
          </a:solidFill>
          <a:ln/>
        </p:spPr>
      </p:sp>
      <p:pic>
        <p:nvPicPr>
          <p:cNvPr id="21" name="Image 2" descr="preencoded.png">    </p:cNvPr>
          <p:cNvPicPr>
            <a:picLocks noChangeAspect="1"/>
          </p:cNvPicPr>
          <p:nvPr/>
        </p:nvPicPr>
        <p:blipFill>
          <a:blip r:embed="rId3"/>
          <a:stretch>
            <a:fillRect/>
          </a:stretch>
        </p:blipFill>
        <p:spPr>
          <a:xfrm>
            <a:off x="8599018" y="1786738"/>
            <a:ext cx="404165" cy="404165"/>
          </a:xfrm>
          <a:prstGeom prst="rect">
            <a:avLst/>
          </a:prstGeom>
        </p:spPr>
      </p:pic>
      <p:sp>
        <p:nvSpPr>
          <p:cNvPr id="22" name="Text 17"/>
          <p:cNvSpPr txBox="1"/>
          <p:nvPr/>
        </p:nvSpPr>
        <p:spPr>
          <a:xfrm>
            <a:off x="9372600" y="1783080"/>
            <a:ext cx="2011680" cy="411480"/>
          </a:xfrm>
          <a:prstGeom prst="rect">
            <a:avLst/>
          </a:prstGeom>
          <a:noFill/>
          <a:ln/>
        </p:spPr>
        <p:txBody>
          <a:bodyPr wrap="square" lIns="0" tIns="0" rIns="0" bIns="0" rtlCol="0" anchor="ctr"/>
          <a:lstStyle/>
          <a:p>
            <a:pPr indent="0" marL="0">
              <a:buNone/>
            </a:pPr>
            <a:r>
              <a:rPr lang="en-US" sz="1300" b="1" dirty="0">
                <a:solidFill>
                  <a:schemeClr val="accent2"/>
                </a:solidFill>
              </a:rPr>
              <a:t>STEP 3 · CLIENT</a:t>
            </a:r>
            <a:endParaRPr lang="en-US" sz="1300" dirty="0"/>
          </a:p>
        </p:txBody>
      </p:sp>
      <p:sp>
        <p:nvSpPr>
          <p:cNvPr id="23" name="Text 18"/>
          <p:cNvSpPr txBox="1"/>
          <p:nvPr/>
        </p:nvSpPr>
        <p:spPr>
          <a:xfrm>
            <a:off x="8412480" y="2560320"/>
            <a:ext cx="2880360" cy="41148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Decrypt</a:t>
            </a:r>
            <a:endParaRPr lang="en-US" sz="1900" dirty="0"/>
          </a:p>
        </p:txBody>
      </p:sp>
      <p:sp>
        <p:nvSpPr>
          <p:cNvPr id="24" name="Text 19"/>
          <p:cNvSpPr txBox="1"/>
          <p:nvPr/>
        </p:nvSpPr>
        <p:spPr>
          <a:xfrm>
            <a:off x="8412480" y="3017520"/>
            <a:ext cx="2880360" cy="1188720"/>
          </a:xfrm>
          <a:prstGeom prst="rect">
            <a:avLst/>
          </a:prstGeom>
          <a:noFill/>
          <a:ln/>
        </p:spPr>
        <p:txBody>
          <a:bodyPr wrap="square" lIns="0" tIns="0" rIns="0" bIns="0" rtlCol="0" anchor="t"/>
          <a:lstStyle/>
          <a:p>
            <a:pPr indent="0" marL="0">
              <a:buNone/>
            </a:pPr>
            <a:r>
              <a:rPr lang="en-US" sz="1500" dirty="0">
                <a:solidFill>
                  <a:schemeClr val="tx1"/>
                </a:solidFill>
              </a:rPr>
              <a:t>Unlock the encrypted answer with the secret key to get the disease probability.</a:t>
            </a:r>
            <a:endParaRPr lang="en-US" sz="1500" dirty="0"/>
          </a:p>
        </p:txBody>
      </p:sp>
      <p:sp>
        <p:nvSpPr>
          <p:cNvPr id="25" name="Text 20"/>
          <p:cNvSpPr txBox="1"/>
          <p:nvPr/>
        </p:nvSpPr>
        <p:spPr>
          <a:xfrm>
            <a:off x="8412480" y="4297680"/>
            <a:ext cx="2880360" cy="411480"/>
          </a:xfrm>
          <a:prstGeom prst="rect">
            <a:avLst/>
          </a:prstGeom>
          <a:noFill/>
          <a:ln/>
        </p:spPr>
        <p:txBody>
          <a:bodyPr wrap="square" lIns="0" tIns="0" rIns="0" bIns="0" rtlCol="0" anchor="t"/>
          <a:lstStyle/>
          <a:p>
            <a:pPr indent="0" marL="0">
              <a:buNone/>
            </a:pPr>
            <a:r>
              <a:rPr lang="en-US" sz="1800" b="1" dirty="0">
                <a:solidFill>
                  <a:schemeClr val="accent1"/>
                </a:solidFill>
              </a:rPr>
              <a:t>~1 ms</a:t>
            </a:r>
            <a:endParaRPr lang="en-US" sz="1800" dirty="0"/>
          </a:p>
        </p:txBody>
      </p:sp>
      <p:sp>
        <p:nvSpPr>
          <p:cNvPr id="26" name="Text 21"/>
          <p:cNvSpPr txBox="1"/>
          <p:nvPr/>
        </p:nvSpPr>
        <p:spPr>
          <a:xfrm>
            <a:off x="548640" y="5166360"/>
            <a:ext cx="3429000" cy="1051560"/>
          </a:xfrm>
          <a:prstGeom prst="rect">
            <a:avLst/>
          </a:prstGeom>
          <a:noFill/>
          <a:ln/>
        </p:spPr>
        <p:txBody>
          <a:bodyPr wrap="square" lIns="0" tIns="0" rIns="0" bIns="0" rtlCol="0" anchor="t"/>
          <a:lstStyle/>
          <a:p>
            <a:pPr indent="0" marL="0">
              <a:buNone/>
            </a:pPr>
            <a:r>
              <a:rPr lang="en-US" sz="1800" b="1" dirty="0">
                <a:solidFill>
                  <a:schemeClr val="accent2"/>
                </a:solidFill>
              </a:rPr>
              <a:t>~864 bytes</a:t>
            </a:r>
            <a:endParaRPr lang="en-US" sz="1500" dirty="0"/>
          </a:p>
          <a:p>
            <a:pPr indent="0" marL="0">
              <a:buNone/>
            </a:pPr>
            <a:r>
              <a:rPr lang="en-US" sz="1500" dirty="0">
                <a:solidFill>
                  <a:schemeClr val="tx1"/>
                </a:solidFill>
              </a:rPr>
              <a:t>of ciphertext is all the server ever receives.</a:t>
            </a:r>
            <a:endParaRPr lang="en-US" sz="1500" dirty="0"/>
          </a:p>
        </p:txBody>
      </p:sp>
      <p:sp>
        <p:nvSpPr>
          <p:cNvPr id="27" name="Text 22"/>
          <p:cNvSpPr txBox="1"/>
          <p:nvPr/>
        </p:nvSpPr>
        <p:spPr>
          <a:xfrm>
            <a:off x="4343400" y="5166360"/>
            <a:ext cx="3429000" cy="1051560"/>
          </a:xfrm>
          <a:prstGeom prst="rect">
            <a:avLst/>
          </a:prstGeom>
          <a:noFill/>
          <a:ln/>
        </p:spPr>
        <p:txBody>
          <a:bodyPr wrap="square" lIns="0" tIns="0" rIns="0" bIns="0" rtlCol="0" anchor="t"/>
          <a:lstStyle/>
          <a:p>
            <a:pPr indent="0" marL="0">
              <a:buNone/>
            </a:pPr>
            <a:r>
              <a:rPr lang="en-US" sz="1800" b="1" dirty="0">
                <a:solidFill>
                  <a:schemeClr val="accent2"/>
                </a:solidFill>
              </a:rPr>
              <a:t>Randomised</a:t>
            </a:r>
            <a:endParaRPr lang="en-US" sz="1500" dirty="0"/>
          </a:p>
          <a:p>
            <a:pPr indent="0" marL="0">
              <a:buNone/>
            </a:pPr>
            <a:r>
              <a:rPr lang="en-US" sz="1500" dirty="0">
                <a:solidFill>
                  <a:schemeClr val="tx1"/>
                </a:solidFill>
              </a:rPr>
              <a:t>the same patient encrypts to different ciphertext every time.</a:t>
            </a:r>
            <a:endParaRPr lang="en-US" sz="1500" dirty="0"/>
          </a:p>
        </p:txBody>
      </p:sp>
      <p:sp>
        <p:nvSpPr>
          <p:cNvPr id="28" name="Text 23"/>
          <p:cNvSpPr txBox="1"/>
          <p:nvPr/>
        </p:nvSpPr>
        <p:spPr>
          <a:xfrm>
            <a:off x="8138160" y="5166360"/>
            <a:ext cx="3429000" cy="1051560"/>
          </a:xfrm>
          <a:prstGeom prst="rect">
            <a:avLst/>
          </a:prstGeom>
          <a:noFill/>
          <a:ln/>
        </p:spPr>
        <p:txBody>
          <a:bodyPr wrap="square" lIns="0" tIns="0" rIns="0" bIns="0" rtlCol="0" anchor="t"/>
          <a:lstStyle/>
          <a:p>
            <a:pPr indent="0" marL="0">
              <a:buNone/>
            </a:pPr>
            <a:r>
              <a:rPr lang="en-US" sz="1800" b="1" dirty="0">
                <a:solidFill>
                  <a:schemeClr val="accent2"/>
                </a:solidFill>
              </a:rPr>
              <a:t>Why 8-bit?</a:t>
            </a:r>
            <a:endParaRPr lang="en-US" sz="1500" dirty="0"/>
          </a:p>
          <a:p>
            <a:pPr indent="0" marL="0">
              <a:buNone/>
            </a:pPr>
            <a:r>
              <a:rPr lang="en-US" sz="1500" dirty="0">
                <a:solidFill>
                  <a:schemeClr val="tx1"/>
                </a:solidFill>
              </a:rPr>
              <a:t>Concrete ML's FHE scheme (TFHE) only works on integers.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chemeClr val="tx2"/>
                </a:solidFill>
              </a:rPr>
              <a:t>System architecture</a:t>
            </a:r>
            <a:endParaRPr lang="en-US" sz="3400" dirty="0"/>
          </a:p>
        </p:txBody>
      </p:sp>
      <p:sp>
        <p:nvSpPr>
          <p:cNvPr id="3" name="Text 1"/>
          <p:cNvSpPr txBox="1"/>
          <p:nvPr/>
        </p:nvSpPr>
        <p:spPr>
          <a:xfrm>
            <a:off x="548640" y="1143000"/>
            <a:ext cx="5486400" cy="274320"/>
          </a:xfrm>
          <a:prstGeom prst="rect">
            <a:avLst/>
          </a:prstGeom>
          <a:noFill/>
          <a:ln/>
        </p:spPr>
        <p:txBody>
          <a:bodyPr wrap="square" lIns="0" tIns="0" rIns="0" bIns="0" rtlCol="0" anchor="t"/>
          <a:lstStyle/>
          <a:p>
            <a:pPr indent="0" marL="0">
              <a:buNone/>
            </a:pPr>
            <a:r>
              <a:rPr lang="en-US" sz="1300" b="1" dirty="0">
                <a:solidFill>
                  <a:schemeClr val="accent2"/>
                </a:solidFill>
              </a:rPr>
              <a:t>① TRAINING · offline, run once</a:t>
            </a:r>
            <a:endParaRPr lang="en-US" sz="1300" dirty="0"/>
          </a:p>
        </p:txBody>
      </p:sp>
      <p:sp>
        <p:nvSpPr>
          <p:cNvPr id="4" name="Shape 2"/>
          <p:cNvSpPr/>
          <p:nvPr/>
        </p:nvSpPr>
        <p:spPr>
          <a:xfrm>
            <a:off x="548640" y="1508760"/>
            <a:ext cx="1874520" cy="914400"/>
          </a:xfrm>
          <a:prstGeom prst="roundRect">
            <a:avLst>
              <a:gd name="adj" fmla="val 12000"/>
            </a:avLst>
          </a:prstGeom>
          <a:solidFill>
            <a:schemeClr val="tx2"/>
          </a:solidFill>
          <a:ln/>
        </p:spPr>
      </p:sp>
      <p:sp>
        <p:nvSpPr>
          <p:cNvPr id="5" name="Text 3"/>
          <p:cNvSpPr txBox="1"/>
          <p:nvPr/>
        </p:nvSpPr>
        <p:spPr>
          <a:xfrm>
            <a:off x="548640" y="1508760"/>
            <a:ext cx="1874520" cy="914400"/>
          </a:xfrm>
          <a:prstGeom prst="rect">
            <a:avLst/>
          </a:prstGeom>
          <a:noFill/>
          <a:ln/>
        </p:spPr>
        <p:txBody>
          <a:bodyPr wrap="square" lIns="0" tIns="0" rIns="0" bIns="0" rtlCol="0" anchor="ctr"/>
          <a:lstStyle/>
          <a:p>
            <a:pPr algn="ctr" indent="0" marL="0">
              <a:buNone/>
            </a:pPr>
            <a:r>
              <a:rPr lang="en-US" sz="1600" b="1" dirty="0">
                <a:solidFill>
                  <a:schemeClr val="bg1"/>
                </a:solidFill>
              </a:rPr>
              <a:t>Data</a:t>
            </a:r>
            <a:endParaRPr lang="en-US" sz="1500" dirty="0"/>
          </a:p>
          <a:p>
            <a:pPr algn="ctr" indent="0" marL="0">
              <a:buNone/>
            </a:pPr>
            <a:r>
              <a:rPr lang="en-US" sz="1200" dirty="0">
                <a:solidFill>
                  <a:schemeClr val="accent5"/>
                </a:solidFill>
              </a:rPr>
              <a:t>303 patients</a:t>
            </a:r>
            <a:endParaRPr lang="en-US" sz="1500" dirty="0"/>
          </a:p>
        </p:txBody>
      </p:sp>
      <p:sp>
        <p:nvSpPr>
          <p:cNvPr id="6" name="Shape 4"/>
          <p:cNvSpPr/>
          <p:nvPr/>
        </p:nvSpPr>
        <p:spPr>
          <a:xfrm>
            <a:off x="2450592" y="1965960"/>
            <a:ext cx="356616" cy="0"/>
          </a:xfrm>
          <a:prstGeom prst="line">
            <a:avLst/>
          </a:prstGeom>
          <a:noFill/>
          <a:ln w="25400">
            <a:solidFill>
              <a:schemeClr val="accent4"/>
            </a:solidFill>
            <a:prstDash val="solid"/>
            <a:tailEnd type="triangle"/>
          </a:ln>
        </p:spPr>
      </p:sp>
      <p:sp>
        <p:nvSpPr>
          <p:cNvPr id="7" name="Shape 5"/>
          <p:cNvSpPr/>
          <p:nvPr/>
        </p:nvSpPr>
        <p:spPr>
          <a:xfrm>
            <a:off x="2834640" y="1508760"/>
            <a:ext cx="1874520" cy="914400"/>
          </a:xfrm>
          <a:prstGeom prst="roundRect">
            <a:avLst>
              <a:gd name="adj" fmla="val 12000"/>
            </a:avLst>
          </a:prstGeom>
          <a:solidFill>
            <a:schemeClr val="tx2"/>
          </a:solidFill>
          <a:ln/>
        </p:spPr>
      </p:sp>
      <p:sp>
        <p:nvSpPr>
          <p:cNvPr id="8" name="Text 6"/>
          <p:cNvSpPr txBox="1"/>
          <p:nvPr/>
        </p:nvSpPr>
        <p:spPr>
          <a:xfrm>
            <a:off x="2834640" y="1508760"/>
            <a:ext cx="1874520" cy="914400"/>
          </a:xfrm>
          <a:prstGeom prst="rect">
            <a:avLst/>
          </a:prstGeom>
          <a:noFill/>
          <a:ln/>
        </p:spPr>
        <p:txBody>
          <a:bodyPr wrap="square" lIns="0" tIns="0" rIns="0" bIns="0" rtlCol="0" anchor="ctr"/>
          <a:lstStyle/>
          <a:p>
            <a:pPr algn="ctr" indent="0" marL="0">
              <a:buNone/>
            </a:pPr>
            <a:r>
              <a:rPr lang="en-US" sz="1600" b="1" dirty="0">
                <a:solidFill>
                  <a:schemeClr val="bg1"/>
                </a:solidFill>
              </a:rPr>
              <a:t>Clean</a:t>
            </a:r>
            <a:endParaRPr lang="en-US" sz="1500" dirty="0"/>
          </a:p>
          <a:p>
            <a:pPr algn="ctr" indent="0" marL="0">
              <a:buNone/>
            </a:pPr>
            <a:r>
              <a:rPr lang="en-US" sz="1200" dirty="0">
                <a:solidFill>
                  <a:schemeClr val="accent5"/>
                </a:solidFill>
              </a:rPr>
              <a:t>fix labels, codes</a:t>
            </a:r>
            <a:endParaRPr lang="en-US" sz="1500" dirty="0"/>
          </a:p>
        </p:txBody>
      </p:sp>
      <p:sp>
        <p:nvSpPr>
          <p:cNvPr id="9" name="Shape 7"/>
          <p:cNvSpPr/>
          <p:nvPr/>
        </p:nvSpPr>
        <p:spPr>
          <a:xfrm>
            <a:off x="4736592" y="1965960"/>
            <a:ext cx="356616" cy="0"/>
          </a:xfrm>
          <a:prstGeom prst="line">
            <a:avLst/>
          </a:prstGeom>
          <a:noFill/>
          <a:ln w="25400">
            <a:solidFill>
              <a:schemeClr val="accent4"/>
            </a:solidFill>
            <a:prstDash val="solid"/>
            <a:tailEnd type="triangle"/>
          </a:ln>
        </p:spPr>
      </p:sp>
      <p:sp>
        <p:nvSpPr>
          <p:cNvPr id="10" name="Shape 8"/>
          <p:cNvSpPr/>
          <p:nvPr/>
        </p:nvSpPr>
        <p:spPr>
          <a:xfrm>
            <a:off x="5120640" y="1508760"/>
            <a:ext cx="1874520" cy="914400"/>
          </a:xfrm>
          <a:prstGeom prst="roundRect">
            <a:avLst>
              <a:gd name="adj" fmla="val 12000"/>
            </a:avLst>
          </a:prstGeom>
          <a:solidFill>
            <a:schemeClr val="tx2"/>
          </a:solidFill>
          <a:ln/>
        </p:spPr>
      </p:sp>
      <p:sp>
        <p:nvSpPr>
          <p:cNvPr id="11" name="Text 9"/>
          <p:cNvSpPr txBox="1"/>
          <p:nvPr/>
        </p:nvSpPr>
        <p:spPr>
          <a:xfrm>
            <a:off x="5120640" y="1508760"/>
            <a:ext cx="1874520" cy="914400"/>
          </a:xfrm>
          <a:prstGeom prst="rect">
            <a:avLst/>
          </a:prstGeom>
          <a:noFill/>
          <a:ln/>
        </p:spPr>
        <p:txBody>
          <a:bodyPr wrap="square" lIns="0" tIns="0" rIns="0" bIns="0" rtlCol="0" anchor="ctr"/>
          <a:lstStyle/>
          <a:p>
            <a:pPr algn="ctr" indent="0" marL="0">
              <a:buNone/>
            </a:pPr>
            <a:r>
              <a:rPr lang="en-US" sz="1600" b="1" dirty="0">
                <a:solidFill>
                  <a:schemeClr val="bg1"/>
                </a:solidFill>
              </a:rPr>
              <a:t>Preprocess</a:t>
            </a:r>
            <a:endParaRPr lang="en-US" sz="1500" dirty="0"/>
          </a:p>
          <a:p>
            <a:pPr algn="ctr" indent="0" marL="0">
              <a:buNone/>
            </a:pPr>
            <a:r>
              <a:rPr lang="en-US" sz="1200" dirty="0">
                <a:solidFill>
                  <a:schemeClr val="accent5"/>
                </a:solidFill>
              </a:rPr>
              <a:t>scale + one-hot</a:t>
            </a:r>
            <a:endParaRPr lang="en-US" sz="1500" dirty="0"/>
          </a:p>
        </p:txBody>
      </p:sp>
      <p:sp>
        <p:nvSpPr>
          <p:cNvPr id="12" name="Shape 10"/>
          <p:cNvSpPr/>
          <p:nvPr/>
        </p:nvSpPr>
        <p:spPr>
          <a:xfrm>
            <a:off x="7022592" y="1965960"/>
            <a:ext cx="356616" cy="0"/>
          </a:xfrm>
          <a:prstGeom prst="line">
            <a:avLst/>
          </a:prstGeom>
          <a:noFill/>
          <a:ln w="25400">
            <a:solidFill>
              <a:schemeClr val="accent4"/>
            </a:solidFill>
            <a:prstDash val="solid"/>
            <a:tailEnd type="triangle"/>
          </a:ln>
        </p:spPr>
      </p:sp>
      <p:sp>
        <p:nvSpPr>
          <p:cNvPr id="13" name="Shape 11"/>
          <p:cNvSpPr/>
          <p:nvPr/>
        </p:nvSpPr>
        <p:spPr>
          <a:xfrm>
            <a:off x="7406640" y="1508760"/>
            <a:ext cx="1874520" cy="914400"/>
          </a:xfrm>
          <a:prstGeom prst="roundRect">
            <a:avLst>
              <a:gd name="adj" fmla="val 12000"/>
            </a:avLst>
          </a:prstGeom>
          <a:solidFill>
            <a:schemeClr val="tx2"/>
          </a:solidFill>
          <a:ln/>
        </p:spPr>
      </p:sp>
      <p:sp>
        <p:nvSpPr>
          <p:cNvPr id="14" name="Text 12"/>
          <p:cNvSpPr txBox="1"/>
          <p:nvPr/>
        </p:nvSpPr>
        <p:spPr>
          <a:xfrm>
            <a:off x="7406640" y="1508760"/>
            <a:ext cx="1874520" cy="914400"/>
          </a:xfrm>
          <a:prstGeom prst="rect">
            <a:avLst/>
          </a:prstGeom>
          <a:noFill/>
          <a:ln/>
        </p:spPr>
        <p:txBody>
          <a:bodyPr wrap="square" lIns="0" tIns="0" rIns="0" bIns="0" rtlCol="0" anchor="ctr"/>
          <a:lstStyle/>
          <a:p>
            <a:pPr algn="ctr" indent="0" marL="0">
              <a:buNone/>
            </a:pPr>
            <a:r>
              <a:rPr lang="en-US" sz="1600" b="1" dirty="0">
                <a:solidFill>
                  <a:schemeClr val="bg1"/>
                </a:solidFill>
              </a:rPr>
              <a:t>5-fold CV</a:t>
            </a:r>
            <a:endParaRPr lang="en-US" sz="1500" dirty="0"/>
          </a:p>
          <a:p>
            <a:pPr algn="ctr" indent="0" marL="0">
              <a:buNone/>
            </a:pPr>
            <a:r>
              <a:rPr lang="en-US" sz="1200" dirty="0">
                <a:solidFill>
                  <a:schemeClr val="accent5"/>
                </a:solidFill>
              </a:rPr>
              <a:t>nested tuning</a:t>
            </a:r>
            <a:endParaRPr lang="en-US" sz="1500" dirty="0"/>
          </a:p>
        </p:txBody>
      </p:sp>
      <p:sp>
        <p:nvSpPr>
          <p:cNvPr id="15" name="Shape 13"/>
          <p:cNvSpPr/>
          <p:nvPr/>
        </p:nvSpPr>
        <p:spPr>
          <a:xfrm>
            <a:off x="9308592" y="1965960"/>
            <a:ext cx="356616" cy="0"/>
          </a:xfrm>
          <a:prstGeom prst="line">
            <a:avLst/>
          </a:prstGeom>
          <a:noFill/>
          <a:ln w="25400">
            <a:solidFill>
              <a:schemeClr val="accent4"/>
            </a:solidFill>
            <a:prstDash val="solid"/>
            <a:tailEnd type="triangle"/>
          </a:ln>
        </p:spPr>
      </p:sp>
      <p:sp>
        <p:nvSpPr>
          <p:cNvPr id="16" name="Shape 14"/>
          <p:cNvSpPr/>
          <p:nvPr/>
        </p:nvSpPr>
        <p:spPr>
          <a:xfrm>
            <a:off x="9692640" y="1508760"/>
            <a:ext cx="1874520" cy="914400"/>
          </a:xfrm>
          <a:prstGeom prst="roundRect">
            <a:avLst>
              <a:gd name="adj" fmla="val 12000"/>
            </a:avLst>
          </a:prstGeom>
          <a:solidFill>
            <a:schemeClr val="tx2"/>
          </a:solidFill>
          <a:ln/>
        </p:spPr>
      </p:sp>
      <p:sp>
        <p:nvSpPr>
          <p:cNvPr id="17" name="Text 15"/>
          <p:cNvSpPr txBox="1"/>
          <p:nvPr/>
        </p:nvSpPr>
        <p:spPr>
          <a:xfrm>
            <a:off x="9692640" y="1508760"/>
            <a:ext cx="1874520" cy="914400"/>
          </a:xfrm>
          <a:prstGeom prst="rect">
            <a:avLst/>
          </a:prstGeom>
          <a:noFill/>
          <a:ln/>
        </p:spPr>
        <p:txBody>
          <a:bodyPr wrap="square" lIns="0" tIns="0" rIns="0" bIns="0" rtlCol="0" anchor="ctr"/>
          <a:lstStyle/>
          <a:p>
            <a:pPr algn="ctr" indent="0" marL="0">
              <a:buNone/>
            </a:pPr>
            <a:r>
              <a:rPr lang="en-US" sz="1600" b="1" dirty="0">
                <a:solidFill>
                  <a:schemeClr val="bg1"/>
                </a:solidFill>
              </a:rPr>
              <a:t>3 Models</a:t>
            </a:r>
            <a:endParaRPr lang="en-US" sz="1500" dirty="0"/>
          </a:p>
          <a:p>
            <a:pPr algn="ctr" indent="0" marL="0">
              <a:buNone/>
            </a:pPr>
            <a:r>
              <a:rPr lang="en-US" sz="1200" dirty="0">
                <a:solidFill>
                  <a:schemeClr val="accent5"/>
                </a:solidFill>
              </a:rPr>
              <a:t>LR · MLP · XGBoost</a:t>
            </a:r>
            <a:endParaRPr lang="en-US" sz="1500" dirty="0"/>
          </a:p>
        </p:txBody>
      </p:sp>
      <p:sp>
        <p:nvSpPr>
          <p:cNvPr id="18" name="Shape 16"/>
          <p:cNvSpPr/>
          <p:nvPr/>
        </p:nvSpPr>
        <p:spPr>
          <a:xfrm>
            <a:off x="7406640" y="2788920"/>
            <a:ext cx="1874520" cy="685800"/>
          </a:xfrm>
          <a:prstGeom prst="roundRect">
            <a:avLst>
              <a:gd name="adj" fmla="val 16000"/>
            </a:avLst>
          </a:prstGeom>
          <a:solidFill>
            <a:schemeClr val="accent2"/>
          </a:solidFill>
          <a:ln/>
        </p:spPr>
      </p:sp>
      <p:sp>
        <p:nvSpPr>
          <p:cNvPr id="19" name="Text 17"/>
          <p:cNvSpPr txBox="1"/>
          <p:nvPr/>
        </p:nvSpPr>
        <p:spPr>
          <a:xfrm>
            <a:off x="7406640" y="2788920"/>
            <a:ext cx="1874520" cy="685800"/>
          </a:xfrm>
          <a:prstGeom prst="rect">
            <a:avLst/>
          </a:prstGeom>
          <a:noFill/>
          <a:ln/>
        </p:spPr>
        <p:txBody>
          <a:bodyPr wrap="square" lIns="0" tIns="0" rIns="0" bIns="0" rtlCol="0" anchor="ctr"/>
          <a:lstStyle/>
          <a:p>
            <a:pPr algn="ctr" indent="0" marL="0">
              <a:buNone/>
            </a:pPr>
            <a:r>
              <a:rPr lang="en-US" sz="1400" b="1" dirty="0">
                <a:solidFill>
                  <a:schemeClr val="bg1"/>
                </a:solidFill>
              </a:rPr>
              <a:t>Evaluate metrics</a:t>
            </a:r>
            <a:endParaRPr lang="en-US" sz="1400" dirty="0"/>
          </a:p>
        </p:txBody>
      </p:sp>
      <p:sp>
        <p:nvSpPr>
          <p:cNvPr id="20" name="Shape 18"/>
          <p:cNvSpPr/>
          <p:nvPr/>
        </p:nvSpPr>
        <p:spPr>
          <a:xfrm>
            <a:off x="9692640" y="2788920"/>
            <a:ext cx="1874520" cy="685800"/>
          </a:xfrm>
          <a:prstGeom prst="roundRect">
            <a:avLst>
              <a:gd name="adj" fmla="val 16000"/>
            </a:avLst>
          </a:prstGeom>
          <a:solidFill>
            <a:schemeClr val="accent1"/>
          </a:solidFill>
          <a:ln/>
        </p:spPr>
      </p:sp>
      <p:sp>
        <p:nvSpPr>
          <p:cNvPr id="21" name="Text 19"/>
          <p:cNvSpPr txBox="1"/>
          <p:nvPr/>
        </p:nvSpPr>
        <p:spPr>
          <a:xfrm>
            <a:off x="9692640" y="2788920"/>
            <a:ext cx="1874520" cy="685800"/>
          </a:xfrm>
          <a:prstGeom prst="rect">
            <a:avLst/>
          </a:prstGeom>
          <a:noFill/>
          <a:ln/>
        </p:spPr>
        <p:txBody>
          <a:bodyPr wrap="square" lIns="0" tIns="0" rIns="0" bIns="0" rtlCol="0" anchor="ctr"/>
          <a:lstStyle/>
          <a:p>
            <a:pPr algn="ctr" indent="0" marL="0">
              <a:buNone/>
            </a:pPr>
            <a:r>
              <a:rPr lang="en-US" sz="1400" b="1" dirty="0">
                <a:solidFill>
                  <a:schemeClr val="bg1"/>
                </a:solidFill>
              </a:rPr>
              <a:t>Compile LR → FHE</a:t>
            </a:r>
            <a:endParaRPr lang="en-US" sz="1400" dirty="0"/>
          </a:p>
        </p:txBody>
      </p:sp>
      <p:sp>
        <p:nvSpPr>
          <p:cNvPr id="22" name="Shape 20"/>
          <p:cNvSpPr/>
          <p:nvPr/>
        </p:nvSpPr>
        <p:spPr>
          <a:xfrm flipH="1">
            <a:off x="8595360" y="2450592"/>
            <a:ext cx="1645920" cy="310896"/>
          </a:xfrm>
          <a:prstGeom prst="line">
            <a:avLst/>
          </a:prstGeom>
          <a:noFill/>
          <a:ln w="25400">
            <a:solidFill>
              <a:schemeClr val="accent4"/>
            </a:solidFill>
            <a:prstDash val="solid"/>
            <a:tailEnd type="triangle"/>
          </a:ln>
        </p:spPr>
      </p:sp>
      <p:sp>
        <p:nvSpPr>
          <p:cNvPr id="23" name="Shape 21"/>
          <p:cNvSpPr/>
          <p:nvPr/>
        </p:nvSpPr>
        <p:spPr>
          <a:xfrm>
            <a:off x="10625328" y="2450592"/>
            <a:ext cx="0" cy="310896"/>
          </a:xfrm>
          <a:prstGeom prst="line">
            <a:avLst/>
          </a:prstGeom>
          <a:noFill/>
          <a:ln w="25400">
            <a:solidFill>
              <a:schemeClr val="accent4"/>
            </a:solidFill>
            <a:prstDash val="solid"/>
            <a:tailEnd type="triangle"/>
          </a:ln>
        </p:spPr>
      </p:sp>
      <p:sp>
        <p:nvSpPr>
          <p:cNvPr id="24" name="Shape 22"/>
          <p:cNvSpPr/>
          <p:nvPr/>
        </p:nvSpPr>
        <p:spPr>
          <a:xfrm>
            <a:off x="7406640" y="3794760"/>
            <a:ext cx="4160520" cy="548640"/>
          </a:xfrm>
          <a:prstGeom prst="roundRect">
            <a:avLst>
              <a:gd name="adj" fmla="val 20000"/>
            </a:avLst>
          </a:prstGeom>
          <a:solidFill>
            <a:schemeClr val="accent3"/>
          </a:solidFill>
          <a:ln/>
        </p:spPr>
      </p:sp>
      <p:sp>
        <p:nvSpPr>
          <p:cNvPr id="25" name="Text 23"/>
          <p:cNvSpPr txBox="1"/>
          <p:nvPr/>
        </p:nvSpPr>
        <p:spPr>
          <a:xfrm>
            <a:off x="7406640" y="3794760"/>
            <a:ext cx="4160520" cy="548640"/>
          </a:xfrm>
          <a:prstGeom prst="rect">
            <a:avLst/>
          </a:prstGeom>
          <a:noFill/>
          <a:ln/>
        </p:spPr>
        <p:txBody>
          <a:bodyPr wrap="square" lIns="0" tIns="0" rIns="0" bIns="0" rtlCol="0" anchor="ctr"/>
          <a:lstStyle/>
          <a:p>
            <a:pPr algn="ctr" indent="0" marL="0">
              <a:buNone/>
            </a:pPr>
            <a:r>
              <a:rPr lang="en-US" sz="1400" b="1" dirty="0">
                <a:solidFill>
                  <a:schemeClr val="tx2"/>
                </a:solidFill>
              </a:rPr>
              <a:t>Saved results: metrics, models, FHE circuits</a:t>
            </a:r>
            <a:endParaRPr lang="en-US" sz="1400" dirty="0"/>
          </a:p>
        </p:txBody>
      </p:sp>
      <p:sp>
        <p:nvSpPr>
          <p:cNvPr id="26" name="Shape 24"/>
          <p:cNvSpPr/>
          <p:nvPr/>
        </p:nvSpPr>
        <p:spPr>
          <a:xfrm>
            <a:off x="8339328" y="3502152"/>
            <a:ext cx="0" cy="265176"/>
          </a:xfrm>
          <a:prstGeom prst="line">
            <a:avLst/>
          </a:prstGeom>
          <a:noFill/>
          <a:ln w="25400">
            <a:solidFill>
              <a:schemeClr val="accent4"/>
            </a:solidFill>
            <a:prstDash val="solid"/>
            <a:tailEnd type="triangle"/>
          </a:ln>
        </p:spPr>
      </p:sp>
      <p:sp>
        <p:nvSpPr>
          <p:cNvPr id="27" name="Shape 25"/>
          <p:cNvSpPr/>
          <p:nvPr/>
        </p:nvSpPr>
        <p:spPr>
          <a:xfrm>
            <a:off x="10625328" y="3502152"/>
            <a:ext cx="0" cy="265176"/>
          </a:xfrm>
          <a:prstGeom prst="line">
            <a:avLst/>
          </a:prstGeom>
          <a:noFill/>
          <a:ln w="25400">
            <a:solidFill>
              <a:schemeClr val="accent4"/>
            </a:solidFill>
            <a:prstDash val="solid"/>
            <a:tailEnd type="triangle"/>
          </a:ln>
        </p:spPr>
      </p:sp>
      <p:sp>
        <p:nvSpPr>
          <p:cNvPr id="28" name="Text 26"/>
          <p:cNvSpPr txBox="1"/>
          <p:nvPr/>
        </p:nvSpPr>
        <p:spPr>
          <a:xfrm>
            <a:off x="548640" y="2834640"/>
            <a:ext cx="6217920" cy="1280160"/>
          </a:xfrm>
          <a:prstGeom prst="rect">
            <a:avLst/>
          </a:prstGeom>
          <a:noFill/>
          <a:ln/>
        </p:spPr>
        <p:txBody>
          <a:bodyPr wrap="square" lIns="0" tIns="0" rIns="0" bIns="0" rtlCol="0" anchor="t"/>
          <a:lstStyle/>
          <a:p>
            <a:pPr indent="0" marL="0">
              <a:buNone/>
            </a:pPr>
            <a:r>
              <a:rPr lang="en-US" sz="1500" b="1" dirty="0">
                <a:solidFill>
                  <a:schemeClr val="tx2"/>
                </a:solidFill>
              </a:rPr>
              <a:t>Train once, save, then the website only loads.</a:t>
            </a:r>
            <a:endParaRPr lang="en-US" sz="1500" dirty="0"/>
          </a:p>
          <a:p>
            <a:pPr indent="0" marL="0">
              <a:buNone/>
            </a:pPr>
            <a:r>
              <a:rPr lang="en-US" sz="1500" dirty="0">
                <a:solidFill>
                  <a:schemeClr val="accent4"/>
                </a:solidFill>
              </a:rPr>
              <a:t>Training, tuning and FHE compilation take about 15 seconds. The web app never trains anything.</a:t>
            </a:r>
            <a:endParaRPr lang="en-US" sz="1500" dirty="0"/>
          </a:p>
        </p:txBody>
      </p:sp>
      <p:sp>
        <p:nvSpPr>
          <p:cNvPr id="29" name="Shape 27"/>
          <p:cNvSpPr/>
          <p:nvPr/>
        </p:nvSpPr>
        <p:spPr>
          <a:xfrm>
            <a:off x="548640" y="4572000"/>
            <a:ext cx="11064240" cy="0"/>
          </a:xfrm>
          <a:prstGeom prst="line">
            <a:avLst/>
          </a:prstGeom>
          <a:noFill/>
          <a:ln w="12700">
            <a:solidFill>
              <a:srgbClr val="C9D3D8"/>
            </a:solidFill>
            <a:prstDash val="dash"/>
          </a:ln>
        </p:spPr>
      </p:sp>
      <p:sp>
        <p:nvSpPr>
          <p:cNvPr id="30" name="Text 28"/>
          <p:cNvSpPr txBox="1"/>
          <p:nvPr/>
        </p:nvSpPr>
        <p:spPr>
          <a:xfrm>
            <a:off x="548640" y="4663440"/>
            <a:ext cx="5486400" cy="274320"/>
          </a:xfrm>
          <a:prstGeom prst="rect">
            <a:avLst/>
          </a:prstGeom>
          <a:noFill/>
          <a:ln/>
        </p:spPr>
        <p:txBody>
          <a:bodyPr wrap="square" lIns="0" tIns="0" rIns="0" bIns="0" rtlCol="0" anchor="t"/>
          <a:lstStyle/>
          <a:p>
            <a:pPr indent="0" marL="0">
              <a:buNone/>
            </a:pPr>
            <a:r>
              <a:rPr lang="en-US" sz="1300" b="1" dirty="0">
                <a:solidFill>
                  <a:schemeClr val="accent2"/>
                </a:solidFill>
              </a:rPr>
              <a:t>② WEB APP · live (Flask)</a:t>
            </a:r>
            <a:endParaRPr lang="en-US" sz="1300" dirty="0"/>
          </a:p>
        </p:txBody>
      </p:sp>
      <p:sp>
        <p:nvSpPr>
          <p:cNvPr id="31" name="Shape 29"/>
          <p:cNvSpPr/>
          <p:nvPr/>
        </p:nvSpPr>
        <p:spPr>
          <a:xfrm>
            <a:off x="9509760" y="4370832"/>
            <a:ext cx="0" cy="612648"/>
          </a:xfrm>
          <a:prstGeom prst="line">
            <a:avLst/>
          </a:prstGeom>
          <a:noFill/>
          <a:ln w="25400">
            <a:solidFill>
              <a:schemeClr val="accent4"/>
            </a:solidFill>
            <a:prstDash val="solid"/>
            <a:tailEnd type="triangle"/>
          </a:ln>
        </p:spPr>
      </p:sp>
      <p:sp>
        <p:nvSpPr>
          <p:cNvPr id="32" name="Text 30"/>
          <p:cNvSpPr txBox="1"/>
          <p:nvPr/>
        </p:nvSpPr>
        <p:spPr>
          <a:xfrm>
            <a:off x="9601200" y="4572000"/>
            <a:ext cx="731520" cy="274320"/>
          </a:xfrm>
          <a:prstGeom prst="rect">
            <a:avLst/>
          </a:prstGeom>
          <a:noFill/>
          <a:ln/>
        </p:spPr>
        <p:txBody>
          <a:bodyPr wrap="square" lIns="0" tIns="0" rIns="0" bIns="0" rtlCol="0" anchor="t"/>
          <a:lstStyle/>
          <a:p>
            <a:pPr indent="0" marL="0">
              <a:buNone/>
            </a:pPr>
            <a:r>
              <a:rPr lang="en-US" sz="1100" i="1" dirty="0">
                <a:solidFill>
                  <a:schemeClr val="accent4"/>
                </a:solidFill>
              </a:rPr>
              <a:t>loads</a:t>
            </a:r>
            <a:endParaRPr lang="en-US" sz="1100" dirty="0"/>
          </a:p>
        </p:txBody>
      </p:sp>
      <p:sp>
        <p:nvSpPr>
          <p:cNvPr id="33" name="Shape 31"/>
          <p:cNvSpPr/>
          <p:nvPr/>
        </p:nvSpPr>
        <p:spPr>
          <a:xfrm>
            <a:off x="548640" y="5029200"/>
            <a:ext cx="2560320" cy="1143000"/>
          </a:xfrm>
          <a:prstGeom prst="roundRect">
            <a:avLst>
              <a:gd name="adj" fmla="val 9600"/>
            </a:avLst>
          </a:prstGeom>
          <a:solidFill>
            <a:schemeClr val="tx2"/>
          </a:solidFill>
          <a:ln/>
        </p:spPr>
      </p:sp>
      <p:sp>
        <p:nvSpPr>
          <p:cNvPr id="34" name="Text 32"/>
          <p:cNvSpPr txBox="1"/>
          <p:nvPr/>
        </p:nvSpPr>
        <p:spPr>
          <a:xfrm>
            <a:off x="640080" y="5029200"/>
            <a:ext cx="2377440" cy="1143000"/>
          </a:xfrm>
          <a:prstGeom prst="rect">
            <a:avLst/>
          </a:prstGeom>
          <a:noFill/>
          <a:ln/>
        </p:spPr>
        <p:txBody>
          <a:bodyPr wrap="square" lIns="0" tIns="0" rIns="0" bIns="0" rtlCol="0" anchor="ctr"/>
          <a:lstStyle/>
          <a:p>
            <a:pPr algn="ctr" indent="0" marL="0">
              <a:buNone/>
            </a:pPr>
            <a:r>
              <a:rPr lang="en-US" sz="1600" b="1" dirty="0">
                <a:solidFill>
                  <a:schemeClr val="bg1"/>
                </a:solidFill>
              </a:rPr>
              <a:t>Dashboard</a:t>
            </a:r>
            <a:endParaRPr lang="en-US" sz="1500" dirty="0"/>
          </a:p>
          <a:p>
            <a:pPr algn="ctr" indent="0" marL="0">
              <a:buNone/>
            </a:pPr>
            <a:r>
              <a:rPr lang="en-US" sz="1200" dirty="0">
                <a:solidFill>
                  <a:schemeClr val="accent5"/>
                </a:solidFill>
              </a:rPr>
              <a:t>browser</a:t>
            </a:r>
            <a:endParaRPr lang="en-US" sz="1500" dirty="0"/>
          </a:p>
        </p:txBody>
      </p:sp>
      <p:sp>
        <p:nvSpPr>
          <p:cNvPr id="35" name="Shape 33"/>
          <p:cNvSpPr/>
          <p:nvPr/>
        </p:nvSpPr>
        <p:spPr>
          <a:xfrm>
            <a:off x="4480560" y="5029200"/>
            <a:ext cx="2743200" cy="1143000"/>
          </a:xfrm>
          <a:prstGeom prst="roundRect">
            <a:avLst>
              <a:gd name="adj" fmla="val 9600"/>
            </a:avLst>
          </a:prstGeom>
          <a:solidFill>
            <a:schemeClr val="accent2"/>
          </a:solidFill>
          <a:ln/>
        </p:spPr>
      </p:sp>
      <p:sp>
        <p:nvSpPr>
          <p:cNvPr id="36" name="Text 34"/>
          <p:cNvSpPr txBox="1"/>
          <p:nvPr/>
        </p:nvSpPr>
        <p:spPr>
          <a:xfrm>
            <a:off x="4572000" y="5029200"/>
            <a:ext cx="2560320" cy="1143000"/>
          </a:xfrm>
          <a:prstGeom prst="rect">
            <a:avLst/>
          </a:prstGeom>
          <a:noFill/>
          <a:ln/>
        </p:spPr>
        <p:txBody>
          <a:bodyPr wrap="square" lIns="0" tIns="0" rIns="0" bIns="0" rtlCol="0" anchor="ctr"/>
          <a:lstStyle/>
          <a:p>
            <a:pPr algn="ctr" indent="0" marL="0">
              <a:buNone/>
            </a:pPr>
            <a:r>
              <a:rPr lang="en-US" sz="1600" b="1" dirty="0">
                <a:solidFill>
                  <a:schemeClr val="bg1"/>
                </a:solidFill>
              </a:rPr>
              <a:t>Client</a:t>
            </a:r>
            <a:endParaRPr lang="en-US" sz="1500" dirty="0"/>
          </a:p>
          <a:p>
            <a:pPr algn="ctr" indent="0" marL="0">
              <a:buNone/>
            </a:pPr>
            <a:r>
              <a:rPr lang="en-US" sz="1200" dirty="0">
                <a:solidFill>
                  <a:schemeClr val="bg1"/>
                </a:solidFill>
              </a:rPr>
              <a:t>encrypts · decrypts · holds secret key</a:t>
            </a:r>
            <a:endParaRPr lang="en-US" sz="1500" dirty="0"/>
          </a:p>
        </p:txBody>
      </p:sp>
      <p:sp>
        <p:nvSpPr>
          <p:cNvPr id="37" name="Shape 35"/>
          <p:cNvSpPr/>
          <p:nvPr/>
        </p:nvSpPr>
        <p:spPr>
          <a:xfrm>
            <a:off x="8595360" y="5029200"/>
            <a:ext cx="3017520" cy="1143000"/>
          </a:xfrm>
          <a:prstGeom prst="roundRect">
            <a:avLst>
              <a:gd name="adj" fmla="val 9600"/>
            </a:avLst>
          </a:prstGeom>
          <a:solidFill>
            <a:schemeClr val="tx2"/>
          </a:solidFill>
          <a:ln/>
        </p:spPr>
      </p:sp>
      <p:sp>
        <p:nvSpPr>
          <p:cNvPr id="38" name="Text 36"/>
          <p:cNvSpPr txBox="1"/>
          <p:nvPr/>
        </p:nvSpPr>
        <p:spPr>
          <a:xfrm>
            <a:off x="8686800" y="5029200"/>
            <a:ext cx="2834640" cy="1143000"/>
          </a:xfrm>
          <a:prstGeom prst="rect">
            <a:avLst/>
          </a:prstGeom>
          <a:noFill/>
          <a:ln/>
        </p:spPr>
        <p:txBody>
          <a:bodyPr wrap="square" lIns="0" tIns="0" rIns="0" bIns="0" rtlCol="0" anchor="ctr"/>
          <a:lstStyle/>
          <a:p>
            <a:pPr algn="ctr" indent="0" marL="0">
              <a:buNone/>
            </a:pPr>
            <a:r>
              <a:rPr lang="en-US" sz="1600" b="1" dirty="0">
                <a:solidFill>
                  <a:schemeClr val="bg1"/>
                </a:solidFill>
              </a:rPr>
              <a:t>Server</a:t>
            </a:r>
            <a:endParaRPr lang="en-US" sz="1500" dirty="0"/>
          </a:p>
          <a:p>
            <a:pPr algn="ctr" indent="0" marL="0">
              <a:buNone/>
            </a:pPr>
            <a:r>
              <a:rPr lang="en-US" sz="1200" dirty="0">
                <a:solidFill>
                  <a:schemeClr val="accent5"/>
                </a:solidFill>
              </a:rPr>
              <a:t>computes on ciphertext · no secret key</a:t>
            </a:r>
            <a:endParaRPr lang="en-US" sz="1500" dirty="0"/>
          </a:p>
        </p:txBody>
      </p:sp>
      <p:sp>
        <p:nvSpPr>
          <p:cNvPr id="39" name="Shape 37"/>
          <p:cNvSpPr/>
          <p:nvPr/>
        </p:nvSpPr>
        <p:spPr>
          <a:xfrm>
            <a:off x="3154680" y="5349240"/>
            <a:ext cx="1280160" cy="0"/>
          </a:xfrm>
          <a:prstGeom prst="line">
            <a:avLst/>
          </a:prstGeom>
          <a:noFill/>
          <a:ln w="25400">
            <a:solidFill>
              <a:schemeClr val="accent2"/>
            </a:solidFill>
            <a:prstDash val="solid"/>
            <a:tailEnd type="triangle"/>
          </a:ln>
        </p:spPr>
      </p:sp>
      <p:sp>
        <p:nvSpPr>
          <p:cNvPr id="40" name="Shape 38"/>
          <p:cNvSpPr/>
          <p:nvPr/>
        </p:nvSpPr>
        <p:spPr>
          <a:xfrm flipH="1">
            <a:off x="3154680" y="5852160"/>
            <a:ext cx="1280160" cy="0"/>
          </a:xfrm>
          <a:prstGeom prst="line">
            <a:avLst/>
          </a:prstGeom>
          <a:noFill/>
          <a:ln w="25400">
            <a:solidFill>
              <a:schemeClr val="accent1"/>
            </a:solidFill>
            <a:prstDash val="solid"/>
            <a:tailEnd type="triangle"/>
          </a:ln>
        </p:spPr>
      </p:sp>
      <p:sp>
        <p:nvSpPr>
          <p:cNvPr id="41" name="Text 39"/>
          <p:cNvSpPr txBox="1"/>
          <p:nvPr/>
        </p:nvSpPr>
        <p:spPr>
          <a:xfrm>
            <a:off x="3154680" y="5074920"/>
            <a:ext cx="1280160" cy="256032"/>
          </a:xfrm>
          <a:prstGeom prst="rect">
            <a:avLst/>
          </a:prstGeom>
          <a:noFill/>
          <a:ln/>
        </p:spPr>
        <p:txBody>
          <a:bodyPr wrap="square" lIns="0" tIns="0" rIns="0" bIns="0" rtlCol="0" anchor="t"/>
          <a:lstStyle/>
          <a:p>
            <a:pPr algn="ctr" indent="0" marL="0">
              <a:buNone/>
            </a:pPr>
            <a:r>
              <a:rPr lang="en-US" sz="1100" dirty="0">
                <a:solidFill>
                  <a:schemeClr val="tx1"/>
                </a:solidFill>
              </a:rPr>
              <a:t>patient</a:t>
            </a:r>
            <a:endParaRPr lang="en-US" sz="1100" dirty="0"/>
          </a:p>
        </p:txBody>
      </p:sp>
      <p:sp>
        <p:nvSpPr>
          <p:cNvPr id="42" name="Text 40"/>
          <p:cNvSpPr txBox="1"/>
          <p:nvPr/>
        </p:nvSpPr>
        <p:spPr>
          <a:xfrm>
            <a:off x="3063240" y="5897880"/>
            <a:ext cx="1463040" cy="256032"/>
          </a:xfrm>
          <a:prstGeom prst="rect">
            <a:avLst/>
          </a:prstGeom>
          <a:noFill/>
          <a:ln/>
        </p:spPr>
        <p:txBody>
          <a:bodyPr wrap="square" lIns="0" tIns="0" rIns="0" bIns="0" rtlCol="0" anchor="t"/>
          <a:lstStyle/>
          <a:p>
            <a:pPr algn="ctr" indent="0" marL="0">
              <a:buNone/>
            </a:pPr>
            <a:r>
              <a:rPr lang="en-US" sz="1100" dirty="0">
                <a:solidFill>
                  <a:schemeClr val="tx1"/>
                </a:solidFill>
              </a:rPr>
              <a:t>result</a:t>
            </a:r>
            <a:endParaRPr lang="en-US" sz="1100" dirty="0"/>
          </a:p>
        </p:txBody>
      </p:sp>
      <p:sp>
        <p:nvSpPr>
          <p:cNvPr id="43" name="Shape 41"/>
          <p:cNvSpPr/>
          <p:nvPr/>
        </p:nvSpPr>
        <p:spPr>
          <a:xfrm>
            <a:off x="7269480" y="5349240"/>
            <a:ext cx="1280160" cy="0"/>
          </a:xfrm>
          <a:prstGeom prst="line">
            <a:avLst/>
          </a:prstGeom>
          <a:noFill/>
          <a:ln w="25400">
            <a:solidFill>
              <a:schemeClr val="accent2"/>
            </a:solidFill>
            <a:prstDash val="solid"/>
            <a:tailEnd type="triangle"/>
          </a:ln>
        </p:spPr>
      </p:sp>
      <p:sp>
        <p:nvSpPr>
          <p:cNvPr id="44" name="Shape 42"/>
          <p:cNvSpPr/>
          <p:nvPr/>
        </p:nvSpPr>
        <p:spPr>
          <a:xfrm flipH="1">
            <a:off x="7269480" y="5852160"/>
            <a:ext cx="1280160" cy="0"/>
          </a:xfrm>
          <a:prstGeom prst="line">
            <a:avLst/>
          </a:prstGeom>
          <a:noFill/>
          <a:ln w="25400">
            <a:solidFill>
              <a:schemeClr val="accent1"/>
            </a:solidFill>
            <a:prstDash val="solid"/>
            <a:tailEnd type="triangle"/>
          </a:ln>
        </p:spPr>
      </p:sp>
      <p:sp>
        <p:nvSpPr>
          <p:cNvPr id="45" name="Text 43"/>
          <p:cNvSpPr txBox="1"/>
          <p:nvPr/>
        </p:nvSpPr>
        <p:spPr>
          <a:xfrm>
            <a:off x="7269480" y="5074920"/>
            <a:ext cx="1280160" cy="256032"/>
          </a:xfrm>
          <a:prstGeom prst="rect">
            <a:avLst/>
          </a:prstGeom>
          <a:noFill/>
          <a:ln/>
        </p:spPr>
        <p:txBody>
          <a:bodyPr wrap="square" lIns="0" tIns="0" rIns="0" bIns="0" rtlCol="0" anchor="t"/>
          <a:lstStyle/>
          <a:p>
            <a:pPr algn="ctr" indent="0" marL="0">
              <a:buNone/>
            </a:pPr>
            <a:r>
              <a:rPr lang="en-US" sz="1100" dirty="0">
                <a:solidFill>
                  <a:schemeClr val="tx1"/>
                </a:solidFill>
              </a:rPr>
              <a:t>ciphertext</a:t>
            </a:r>
            <a:endParaRPr lang="en-US" sz="1100" dirty="0"/>
          </a:p>
        </p:txBody>
      </p:sp>
      <p:sp>
        <p:nvSpPr>
          <p:cNvPr id="46" name="Text 44"/>
          <p:cNvSpPr txBox="1"/>
          <p:nvPr/>
        </p:nvSpPr>
        <p:spPr>
          <a:xfrm>
            <a:off x="7178040" y="5897880"/>
            <a:ext cx="1463040" cy="256032"/>
          </a:xfrm>
          <a:prstGeom prst="rect">
            <a:avLst/>
          </a:prstGeom>
          <a:noFill/>
          <a:ln/>
        </p:spPr>
        <p:txBody>
          <a:bodyPr wrap="square" lIns="0" tIns="0" rIns="0" bIns="0" rtlCol="0" anchor="t"/>
          <a:lstStyle/>
          <a:p>
            <a:pPr algn="ctr" indent="0" marL="0">
              <a:buNone/>
            </a:pPr>
            <a:r>
              <a:rPr lang="en-US" sz="1100" dirty="0">
                <a:solidFill>
                  <a:schemeClr val="tx1"/>
                </a:solidFill>
              </a:rPr>
              <a:t>encrypted answer</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chemeClr val="tx2"/>
                </a:solidFill>
              </a:rPr>
              <a:t>Encryption keeps the diagnosis: 302 of 303 identical</a:t>
            </a:r>
            <a:endParaRPr lang="en-US" sz="3400" dirty="0"/>
          </a:p>
        </p:txBody>
      </p:sp>
      <p:sp>
        <p:nvSpPr>
          <p:cNvPr id="3" name="Shape 1"/>
          <p:cNvSpPr/>
          <p:nvPr/>
        </p:nvSpPr>
        <p:spPr>
          <a:xfrm>
            <a:off x="548640" y="1325880"/>
            <a:ext cx="5120640" cy="2651760"/>
          </a:xfrm>
          <a:prstGeom prst="roundRect">
            <a:avLst>
              <a:gd name="adj" fmla="val 4138"/>
            </a:avLst>
          </a:prstGeom>
          <a:solidFill>
            <a:schemeClr val="tx2"/>
          </a:solidFill>
          <a:ln/>
        </p:spPr>
      </p:sp>
      <p:sp>
        <p:nvSpPr>
          <p:cNvPr id="4" name="Text 2"/>
          <p:cNvSpPr txBox="1"/>
          <p:nvPr/>
        </p:nvSpPr>
        <p:spPr>
          <a:xfrm>
            <a:off x="822960" y="1554480"/>
            <a:ext cx="4572000" cy="1188720"/>
          </a:xfrm>
          <a:prstGeom prst="rect">
            <a:avLst/>
          </a:prstGeom>
          <a:noFill/>
          <a:ln/>
        </p:spPr>
        <p:txBody>
          <a:bodyPr wrap="square" lIns="0" tIns="0" rIns="0" bIns="0" rtlCol="0" anchor="t"/>
          <a:lstStyle/>
          <a:p>
            <a:pPr indent="0" marL="0">
              <a:buNone/>
            </a:pPr>
            <a:r>
              <a:rPr lang="en-US" sz="6600" b="1" dirty="0">
                <a:solidFill>
                  <a:schemeClr val="bg1"/>
                </a:solidFill>
                <a:latin typeface="Cambria" pitchFamily="34" charset="0"/>
                <a:ea typeface="Cambria" pitchFamily="34" charset="-122"/>
                <a:cs typeface="Cambria" pitchFamily="34" charset="-120"/>
              </a:rPr>
              <a:t>302 / 303</a:t>
            </a:r>
            <a:endParaRPr lang="en-US" sz="6600" dirty="0"/>
          </a:p>
        </p:txBody>
      </p:sp>
      <p:sp>
        <p:nvSpPr>
          <p:cNvPr id="5" name="Text 3"/>
          <p:cNvSpPr txBox="1"/>
          <p:nvPr/>
        </p:nvSpPr>
        <p:spPr>
          <a:xfrm>
            <a:off x="822960" y="2880360"/>
            <a:ext cx="4572000" cy="822960"/>
          </a:xfrm>
          <a:prstGeom prst="rect">
            <a:avLst/>
          </a:prstGeom>
          <a:noFill/>
          <a:ln/>
        </p:spPr>
        <p:txBody>
          <a:bodyPr wrap="square" lIns="0" tIns="0" rIns="0" bIns="0" rtlCol="0" anchor="t"/>
          <a:lstStyle/>
          <a:p>
            <a:pPr indent="0" marL="0">
              <a:buNone/>
            </a:pPr>
            <a:r>
              <a:rPr lang="en-US" sz="1600" dirty="0">
                <a:solidFill>
                  <a:schemeClr val="accent5"/>
                </a:solidFill>
              </a:rPr>
              <a:t>patients get the same decision encrypted and unencrypted (99.7%)</a:t>
            </a:r>
            <a:endParaRPr lang="en-US" sz="1600" dirty="0"/>
          </a:p>
        </p:txBody>
      </p:sp>
      <p:sp>
        <p:nvSpPr>
          <p:cNvPr id="6" name="Shape 4"/>
          <p:cNvSpPr/>
          <p:nvPr/>
        </p:nvSpPr>
        <p:spPr>
          <a:xfrm>
            <a:off x="548640" y="4251960"/>
            <a:ext cx="1600200" cy="1965960"/>
          </a:xfrm>
          <a:prstGeom prst="roundRect">
            <a:avLst>
              <a:gd name="adj" fmla="val 6857"/>
            </a:avLst>
          </a:prstGeom>
          <a:solidFill>
            <a:schemeClr val="bg2"/>
          </a:solidFill>
          <a:ln/>
        </p:spPr>
      </p:sp>
      <p:sp>
        <p:nvSpPr>
          <p:cNvPr id="7" name="Text 5"/>
          <p:cNvSpPr txBox="1"/>
          <p:nvPr/>
        </p:nvSpPr>
        <p:spPr>
          <a:xfrm>
            <a:off x="685800" y="4251960"/>
            <a:ext cx="1325880" cy="1965960"/>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85.5%</a:t>
            </a:r>
            <a:endParaRPr lang="en-US" sz="1500" dirty="0"/>
          </a:p>
          <a:p>
            <a:pPr indent="0" marL="0">
              <a:buNone/>
            </a:pPr>
            <a:r>
              <a:rPr lang="en-US" sz="1300" dirty="0">
                <a:solidFill>
                  <a:schemeClr val="tx1"/>
                </a:solidFill>
              </a:rPr>
              <a:t>encrypted accuracy (plaintext 85.1%)</a:t>
            </a:r>
            <a:endParaRPr lang="en-US" sz="1500" dirty="0"/>
          </a:p>
        </p:txBody>
      </p:sp>
      <p:sp>
        <p:nvSpPr>
          <p:cNvPr id="8" name="Shape 6"/>
          <p:cNvSpPr/>
          <p:nvPr/>
        </p:nvSpPr>
        <p:spPr>
          <a:xfrm>
            <a:off x="2331720" y="4251960"/>
            <a:ext cx="1600200" cy="1965960"/>
          </a:xfrm>
          <a:prstGeom prst="roundRect">
            <a:avLst>
              <a:gd name="adj" fmla="val 6857"/>
            </a:avLst>
          </a:prstGeom>
          <a:solidFill>
            <a:schemeClr val="bg2"/>
          </a:solidFill>
          <a:ln/>
        </p:spPr>
      </p:sp>
      <p:sp>
        <p:nvSpPr>
          <p:cNvPr id="9" name="Text 7"/>
          <p:cNvSpPr txBox="1"/>
          <p:nvPr/>
        </p:nvSpPr>
        <p:spPr>
          <a:xfrm>
            <a:off x="2468880" y="4251960"/>
            <a:ext cx="1325880" cy="1965960"/>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~15 ms</a:t>
            </a:r>
            <a:endParaRPr lang="en-US" sz="1500" dirty="0"/>
          </a:p>
          <a:p>
            <a:pPr indent="0" marL="0">
              <a:buNone/>
            </a:pPr>
            <a:r>
              <a:rPr lang="en-US" sz="1300" dirty="0">
                <a:solidFill>
                  <a:schemeClr val="tx1"/>
                </a:solidFill>
              </a:rPr>
              <a:t>per patient, encrypted</a:t>
            </a:r>
            <a:endParaRPr lang="en-US" sz="1500" dirty="0"/>
          </a:p>
        </p:txBody>
      </p:sp>
      <p:sp>
        <p:nvSpPr>
          <p:cNvPr id="10" name="Shape 8"/>
          <p:cNvSpPr/>
          <p:nvPr/>
        </p:nvSpPr>
        <p:spPr>
          <a:xfrm>
            <a:off x="4114800" y="4251960"/>
            <a:ext cx="1600200" cy="1965960"/>
          </a:xfrm>
          <a:prstGeom prst="roundRect">
            <a:avLst>
              <a:gd name="adj" fmla="val 6857"/>
            </a:avLst>
          </a:prstGeom>
          <a:solidFill>
            <a:schemeClr val="bg2"/>
          </a:solidFill>
          <a:ln/>
        </p:spPr>
      </p:sp>
      <p:sp>
        <p:nvSpPr>
          <p:cNvPr id="11" name="Text 9"/>
          <p:cNvSpPr txBox="1"/>
          <p:nvPr/>
        </p:nvSpPr>
        <p:spPr>
          <a:xfrm>
            <a:off x="4251960" y="4251960"/>
            <a:ext cx="1325880" cy="1965960"/>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0.058</a:t>
            </a:r>
            <a:endParaRPr lang="en-US" sz="1500" dirty="0"/>
          </a:p>
          <a:p>
            <a:pPr indent="0" marL="0">
              <a:buNone/>
            </a:pPr>
            <a:r>
              <a:rPr lang="en-US" sz="1300" dirty="0">
                <a:solidFill>
                  <a:schemeClr val="tx1"/>
                </a:solidFill>
              </a:rPr>
              <a:t>largest probability shift</a:t>
            </a:r>
            <a:endParaRPr lang="en-US" sz="1500" dirty="0"/>
          </a:p>
        </p:txBody>
      </p:sp>
      <p:sp>
        <p:nvSpPr>
          <p:cNvPr id="12" name="Text 10"/>
          <p:cNvSpPr txBox="1"/>
          <p:nvPr/>
        </p:nvSpPr>
        <p:spPr>
          <a:xfrm>
            <a:off x="6217920" y="1325880"/>
            <a:ext cx="539496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The one disagreement: patient #85</a:t>
            </a:r>
            <a:endParaRPr lang="en-US" sz="2000" dirty="0"/>
          </a:p>
        </p:txBody>
      </p:sp>
      <p:sp>
        <p:nvSpPr>
          <p:cNvPr id="13" name="Shape 11"/>
          <p:cNvSpPr/>
          <p:nvPr/>
        </p:nvSpPr>
        <p:spPr>
          <a:xfrm>
            <a:off x="6492240" y="3017520"/>
            <a:ext cx="4846320" cy="0"/>
          </a:xfrm>
          <a:prstGeom prst="line">
            <a:avLst/>
          </a:prstGeom>
          <a:noFill/>
          <a:ln w="25400">
            <a:solidFill>
              <a:schemeClr val="accent4"/>
            </a:solidFill>
            <a:prstDash val="solid"/>
          </a:ln>
        </p:spPr>
      </p:sp>
      <p:sp>
        <p:nvSpPr>
          <p:cNvPr id="14" name="Shape 12"/>
          <p:cNvSpPr/>
          <p:nvPr/>
        </p:nvSpPr>
        <p:spPr>
          <a:xfrm>
            <a:off x="8915400" y="2103120"/>
            <a:ext cx="2423160" cy="914400"/>
          </a:xfrm>
          <a:prstGeom prst="rect">
            <a:avLst/>
          </a:prstGeom>
          <a:solidFill>
            <a:schemeClr val="accent6">
              <a:alpha val="70000"/>
            </a:schemeClr>
          </a:solidFill>
          <a:ln/>
        </p:spPr>
      </p:sp>
      <p:sp>
        <p:nvSpPr>
          <p:cNvPr id="15" name="Shape 13"/>
          <p:cNvSpPr/>
          <p:nvPr/>
        </p:nvSpPr>
        <p:spPr>
          <a:xfrm>
            <a:off x="8915400" y="2011680"/>
            <a:ext cx="0" cy="1143000"/>
          </a:xfrm>
          <a:prstGeom prst="line">
            <a:avLst/>
          </a:prstGeom>
          <a:noFill/>
          <a:ln w="25400">
            <a:solidFill>
              <a:schemeClr val="tx2"/>
            </a:solidFill>
            <a:prstDash val="dash"/>
          </a:ln>
        </p:spPr>
      </p:sp>
      <p:sp>
        <p:nvSpPr>
          <p:cNvPr id="16" name="Text 14"/>
          <p:cNvSpPr txBox="1"/>
          <p:nvPr/>
        </p:nvSpPr>
        <p:spPr>
          <a:xfrm>
            <a:off x="8183880" y="1783080"/>
            <a:ext cx="1463040" cy="274320"/>
          </a:xfrm>
          <a:prstGeom prst="rect">
            <a:avLst/>
          </a:prstGeom>
          <a:noFill/>
          <a:ln/>
        </p:spPr>
        <p:txBody>
          <a:bodyPr wrap="square" lIns="0" tIns="0" rIns="0" bIns="0" rtlCol="0" anchor="t"/>
          <a:lstStyle/>
          <a:p>
            <a:pPr algn="ctr" indent="0" marL="0">
              <a:buNone/>
            </a:pPr>
            <a:r>
              <a:rPr lang="en-US" sz="1200" b="1" dirty="0">
                <a:solidFill>
                  <a:schemeClr val="tx2"/>
                </a:solidFill>
              </a:rPr>
              <a:t>0.5 threshold</a:t>
            </a:r>
            <a:endParaRPr lang="en-US" sz="1200" dirty="0"/>
          </a:p>
        </p:txBody>
      </p:sp>
      <p:sp>
        <p:nvSpPr>
          <p:cNvPr id="17" name="Text 15"/>
          <p:cNvSpPr txBox="1"/>
          <p:nvPr/>
        </p:nvSpPr>
        <p:spPr>
          <a:xfrm>
            <a:off x="9052560" y="2194560"/>
            <a:ext cx="2194560" cy="274320"/>
          </a:xfrm>
          <a:prstGeom prst="rect">
            <a:avLst/>
          </a:prstGeom>
          <a:noFill/>
          <a:ln/>
        </p:spPr>
        <p:txBody>
          <a:bodyPr wrap="square" lIns="0" tIns="0" rIns="0" bIns="0" rtlCol="0" anchor="t"/>
          <a:lstStyle/>
          <a:p>
            <a:pPr indent="0" marL="0">
              <a:buNone/>
            </a:pPr>
            <a:r>
              <a:rPr lang="en-US" sz="1200" dirty="0">
                <a:solidFill>
                  <a:schemeClr val="accent1"/>
                </a:solidFill>
              </a:rPr>
              <a:t>says disease</a:t>
            </a:r>
            <a:endParaRPr lang="en-US" sz="1200" dirty="0"/>
          </a:p>
        </p:txBody>
      </p:sp>
      <p:sp>
        <p:nvSpPr>
          <p:cNvPr id="18" name="Text 16"/>
          <p:cNvSpPr txBox="1"/>
          <p:nvPr/>
        </p:nvSpPr>
        <p:spPr>
          <a:xfrm>
            <a:off x="6172200" y="3108960"/>
            <a:ext cx="640080" cy="274320"/>
          </a:xfrm>
          <a:prstGeom prst="rect">
            <a:avLst/>
          </a:prstGeom>
          <a:noFill/>
          <a:ln/>
        </p:spPr>
        <p:txBody>
          <a:bodyPr wrap="square" lIns="0" tIns="0" rIns="0" bIns="0" rtlCol="0" anchor="t"/>
          <a:lstStyle/>
          <a:p>
            <a:pPr algn="ctr" indent="0" marL="0">
              <a:buNone/>
            </a:pPr>
            <a:r>
              <a:rPr lang="en-US" sz="1200" dirty="0">
                <a:solidFill>
                  <a:schemeClr val="accent4"/>
                </a:solidFill>
              </a:rPr>
              <a:t>0.40</a:t>
            </a:r>
            <a:endParaRPr lang="en-US" sz="1200" dirty="0"/>
          </a:p>
        </p:txBody>
      </p:sp>
      <p:sp>
        <p:nvSpPr>
          <p:cNvPr id="19" name="Text 17"/>
          <p:cNvSpPr txBox="1"/>
          <p:nvPr/>
        </p:nvSpPr>
        <p:spPr>
          <a:xfrm>
            <a:off x="7383780" y="3108960"/>
            <a:ext cx="640080" cy="274320"/>
          </a:xfrm>
          <a:prstGeom prst="rect">
            <a:avLst/>
          </a:prstGeom>
          <a:noFill/>
          <a:ln/>
        </p:spPr>
        <p:txBody>
          <a:bodyPr wrap="square" lIns="0" tIns="0" rIns="0" bIns="0" rtlCol="0" anchor="t"/>
          <a:lstStyle/>
          <a:p>
            <a:pPr algn="ctr" indent="0" marL="0">
              <a:buNone/>
            </a:pPr>
            <a:r>
              <a:rPr lang="en-US" sz="1200" dirty="0">
                <a:solidFill>
                  <a:schemeClr val="accent4"/>
                </a:solidFill>
              </a:rPr>
              <a:t>0.45</a:t>
            </a:r>
            <a:endParaRPr lang="en-US" sz="1200" dirty="0"/>
          </a:p>
        </p:txBody>
      </p:sp>
      <p:sp>
        <p:nvSpPr>
          <p:cNvPr id="20" name="Text 18"/>
          <p:cNvSpPr txBox="1"/>
          <p:nvPr/>
        </p:nvSpPr>
        <p:spPr>
          <a:xfrm>
            <a:off x="8595360" y="3108960"/>
            <a:ext cx="640080" cy="274320"/>
          </a:xfrm>
          <a:prstGeom prst="rect">
            <a:avLst/>
          </a:prstGeom>
          <a:noFill/>
          <a:ln/>
        </p:spPr>
        <p:txBody>
          <a:bodyPr wrap="square" lIns="0" tIns="0" rIns="0" bIns="0" rtlCol="0" anchor="t"/>
          <a:lstStyle/>
          <a:p>
            <a:pPr algn="ctr" indent="0" marL="0">
              <a:buNone/>
            </a:pPr>
            <a:r>
              <a:rPr lang="en-US" sz="1200" dirty="0">
                <a:solidFill>
                  <a:schemeClr val="accent4"/>
                </a:solidFill>
              </a:rPr>
              <a:t>0.50</a:t>
            </a:r>
            <a:endParaRPr lang="en-US" sz="1200" dirty="0"/>
          </a:p>
        </p:txBody>
      </p:sp>
      <p:sp>
        <p:nvSpPr>
          <p:cNvPr id="21" name="Text 19"/>
          <p:cNvSpPr txBox="1"/>
          <p:nvPr/>
        </p:nvSpPr>
        <p:spPr>
          <a:xfrm>
            <a:off x="9806940" y="3108960"/>
            <a:ext cx="640080" cy="274320"/>
          </a:xfrm>
          <a:prstGeom prst="rect">
            <a:avLst/>
          </a:prstGeom>
          <a:noFill/>
          <a:ln/>
        </p:spPr>
        <p:txBody>
          <a:bodyPr wrap="square" lIns="0" tIns="0" rIns="0" bIns="0" rtlCol="0" anchor="t"/>
          <a:lstStyle/>
          <a:p>
            <a:pPr algn="ctr" indent="0" marL="0">
              <a:buNone/>
            </a:pPr>
            <a:r>
              <a:rPr lang="en-US" sz="1200" dirty="0">
                <a:solidFill>
                  <a:schemeClr val="accent4"/>
                </a:solidFill>
              </a:rPr>
              <a:t>0.55</a:t>
            </a:r>
            <a:endParaRPr lang="en-US" sz="1200" dirty="0"/>
          </a:p>
        </p:txBody>
      </p:sp>
      <p:sp>
        <p:nvSpPr>
          <p:cNvPr id="22" name="Text 20"/>
          <p:cNvSpPr txBox="1"/>
          <p:nvPr/>
        </p:nvSpPr>
        <p:spPr>
          <a:xfrm>
            <a:off x="11018520" y="3108960"/>
            <a:ext cx="640080" cy="274320"/>
          </a:xfrm>
          <a:prstGeom prst="rect">
            <a:avLst/>
          </a:prstGeom>
          <a:noFill/>
          <a:ln/>
        </p:spPr>
        <p:txBody>
          <a:bodyPr wrap="square" lIns="0" tIns="0" rIns="0" bIns="0" rtlCol="0" anchor="t"/>
          <a:lstStyle/>
          <a:p>
            <a:pPr algn="ctr" indent="0" marL="0">
              <a:buNone/>
            </a:pPr>
            <a:r>
              <a:rPr lang="en-US" sz="1200" dirty="0">
                <a:solidFill>
                  <a:schemeClr val="accent4"/>
                </a:solidFill>
              </a:rPr>
              <a:t>0.60</a:t>
            </a:r>
            <a:endParaRPr lang="en-US" sz="1200" dirty="0"/>
          </a:p>
        </p:txBody>
      </p:sp>
      <p:sp>
        <p:nvSpPr>
          <p:cNvPr id="23" name="Shape 21"/>
          <p:cNvSpPr/>
          <p:nvPr/>
        </p:nvSpPr>
        <p:spPr>
          <a:xfrm>
            <a:off x="8348015" y="2862072"/>
            <a:ext cx="310896" cy="310896"/>
          </a:xfrm>
          <a:prstGeom prst="ellipse">
            <a:avLst/>
          </a:prstGeom>
          <a:solidFill>
            <a:schemeClr val="accent2"/>
          </a:solidFill>
          <a:ln w="19050">
            <a:solidFill>
              <a:schemeClr val="bg1"/>
            </a:solidFill>
            <a:prstDash val="solid"/>
          </a:ln>
        </p:spPr>
      </p:sp>
      <p:sp>
        <p:nvSpPr>
          <p:cNvPr id="24" name="Shape 22"/>
          <p:cNvSpPr/>
          <p:nvPr/>
        </p:nvSpPr>
        <p:spPr>
          <a:xfrm>
            <a:off x="9559595" y="2862072"/>
            <a:ext cx="310896" cy="310896"/>
          </a:xfrm>
          <a:prstGeom prst="ellipse">
            <a:avLst/>
          </a:prstGeom>
          <a:solidFill>
            <a:schemeClr val="accent1"/>
          </a:solidFill>
          <a:ln w="19050">
            <a:solidFill>
              <a:schemeClr val="bg1"/>
            </a:solidFill>
            <a:prstDash val="solid"/>
          </a:ln>
        </p:spPr>
      </p:sp>
      <p:sp>
        <p:nvSpPr>
          <p:cNvPr id="25" name="Text 23"/>
          <p:cNvSpPr txBox="1"/>
          <p:nvPr/>
        </p:nvSpPr>
        <p:spPr>
          <a:xfrm>
            <a:off x="7040423" y="2468880"/>
            <a:ext cx="1371600" cy="274320"/>
          </a:xfrm>
          <a:prstGeom prst="rect">
            <a:avLst/>
          </a:prstGeom>
          <a:noFill/>
          <a:ln/>
        </p:spPr>
        <p:txBody>
          <a:bodyPr wrap="square" lIns="0" tIns="0" rIns="0" bIns="0" rtlCol="0" anchor="t"/>
          <a:lstStyle/>
          <a:p>
            <a:pPr algn="r" indent="0" marL="0">
              <a:buNone/>
            </a:pPr>
            <a:r>
              <a:rPr lang="en-US" sz="1300" b="1" dirty="0">
                <a:solidFill>
                  <a:schemeClr val="accent2"/>
                </a:solidFill>
              </a:rPr>
              <a:t>encrypted 0.483</a:t>
            </a:r>
            <a:endParaRPr lang="en-US" sz="1300" dirty="0"/>
          </a:p>
        </p:txBody>
      </p:sp>
      <p:sp>
        <p:nvSpPr>
          <p:cNvPr id="26" name="Text 24"/>
          <p:cNvSpPr txBox="1"/>
          <p:nvPr/>
        </p:nvSpPr>
        <p:spPr>
          <a:xfrm>
            <a:off x="9806483" y="2468880"/>
            <a:ext cx="1463040" cy="274320"/>
          </a:xfrm>
          <a:prstGeom prst="rect">
            <a:avLst/>
          </a:prstGeom>
          <a:noFill/>
          <a:ln/>
        </p:spPr>
        <p:txBody>
          <a:bodyPr wrap="square" lIns="0" tIns="0" rIns="0" bIns="0" rtlCol="0" anchor="t"/>
          <a:lstStyle/>
          <a:p>
            <a:pPr indent="0" marL="0">
              <a:buNone/>
            </a:pPr>
            <a:r>
              <a:rPr lang="en-US" sz="1300" b="1" dirty="0">
                <a:solidFill>
                  <a:schemeClr val="accent1"/>
                </a:solidFill>
              </a:rPr>
              <a:t>plaintext 0.533</a:t>
            </a:r>
            <a:endParaRPr lang="en-US" sz="1300" dirty="0"/>
          </a:p>
        </p:txBody>
      </p:sp>
      <p:sp>
        <p:nvSpPr>
          <p:cNvPr id="27" name="Shape 25"/>
          <p:cNvSpPr/>
          <p:nvPr/>
        </p:nvSpPr>
        <p:spPr>
          <a:xfrm>
            <a:off x="6217920" y="3931920"/>
            <a:ext cx="5394960" cy="2286000"/>
          </a:xfrm>
          <a:prstGeom prst="roundRect">
            <a:avLst>
              <a:gd name="adj" fmla="val 4800"/>
            </a:avLst>
          </a:prstGeom>
          <a:solidFill>
            <a:schemeClr val="bg2"/>
          </a:solidFill>
          <a:ln/>
        </p:spPr>
      </p:sp>
      <p:sp>
        <p:nvSpPr>
          <p:cNvPr id="28" name="Text 26"/>
          <p:cNvSpPr txBox="1"/>
          <p:nvPr/>
        </p:nvSpPr>
        <p:spPr>
          <a:xfrm>
            <a:off x="6492240" y="3931920"/>
            <a:ext cx="4846320" cy="2286000"/>
          </a:xfrm>
          <a:prstGeom prst="rect">
            <a:avLst/>
          </a:prstGeom>
          <a:noFill/>
          <a:ln/>
        </p:spPr>
        <p:txBody>
          <a:bodyPr wrap="square" lIns="0" tIns="0" rIns="0" bIns="0" rtlCol="0" anchor="ctr"/>
          <a:lstStyle/>
          <a:p>
            <a:pPr indent="0" marL="0">
              <a:spcAft>
                <a:spcPts val="1000"/>
              </a:spcAft>
              <a:buNone/>
            </a:pPr>
            <a:r>
              <a:rPr lang="en-US" sz="1500" b="1" dirty="0">
                <a:solidFill>
                  <a:schemeClr val="tx2"/>
                </a:solidFill>
              </a:rPr>
              <a:t>Why it flipped: </a:t>
            </a:r>
            <a:pPr indent="0" marL="0">
              <a:spcAft>
                <a:spcPts val="1000"/>
              </a:spcAft>
              <a:buNone/>
            </a:pPr>
            <a:r>
              <a:rPr lang="en-US" sz="1500" dirty="0">
                <a:solidFill>
                  <a:schemeClr val="tx1"/>
                </a:solidFill>
              </a:rPr>
              <a:t>FHE works on 8-bit integers, so rounding shifted this borderline patient's probability by 0.05, across the 0.5 line.</a:t>
            </a:r>
            <a:endParaRPr lang="en-US" sz="1500" dirty="0"/>
          </a:p>
          <a:p>
            <a:pPr indent="0" marL="0">
              <a:spcAft>
                <a:spcPts val="1000"/>
              </a:spcAft>
              <a:buNone/>
            </a:pPr>
            <a:r>
              <a:rPr lang="en-US" sz="1500" b="1" dirty="0">
                <a:solidFill>
                  <a:schemeClr val="tx2"/>
                </a:solidFill>
              </a:rPr>
              <a:t>Is 85.5% better than 85.1%? </a:t>
            </a:r>
            <a:pPr indent="0" marL="0">
              <a:spcAft>
                <a:spcPts val="1000"/>
              </a:spcAft>
              <a:buNone/>
            </a:pPr>
            <a:r>
              <a:rPr lang="en-US" sz="1500" dirty="0">
                <a:solidFill>
                  <a:schemeClr val="tx1"/>
                </a:solidFill>
              </a:rPr>
              <a:t>No. The flipped patient landed on the correct side by chance.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chemeClr val="bg1"/>
                </a:solidFill>
              </a:rPr>
              <a:t>What we found, and what comes next</a:t>
            </a:r>
            <a:endParaRPr lang="en-US" sz="3400" dirty="0"/>
          </a:p>
        </p:txBody>
      </p:sp>
      <p:sp>
        <p:nvSpPr>
          <p:cNvPr id="3" name="Shape 1"/>
          <p:cNvSpPr/>
          <p:nvPr/>
        </p:nvSpPr>
        <p:spPr>
          <a:xfrm>
            <a:off x="548640" y="1371600"/>
            <a:ext cx="6217920" cy="1737360"/>
          </a:xfrm>
          <a:prstGeom prst="roundRect">
            <a:avLst>
              <a:gd name="adj" fmla="val 6316"/>
            </a:avLst>
          </a:prstGeom>
          <a:solidFill>
            <a:schemeClr val="accent2"/>
          </a:solidFill>
          <a:ln/>
        </p:spPr>
      </p:sp>
      <p:sp>
        <p:nvSpPr>
          <p:cNvPr id="4" name="Text 2"/>
          <p:cNvSpPr txBox="1"/>
          <p:nvPr/>
        </p:nvSpPr>
        <p:spPr>
          <a:xfrm>
            <a:off x="822960" y="1554480"/>
            <a:ext cx="5669280" cy="274320"/>
          </a:xfrm>
          <a:prstGeom prst="rect">
            <a:avLst/>
          </a:prstGeom>
          <a:noFill/>
          <a:ln/>
        </p:spPr>
        <p:txBody>
          <a:bodyPr wrap="square" lIns="0" tIns="0" rIns="0" bIns="0" rtlCol="0" anchor="t"/>
          <a:lstStyle/>
          <a:p>
            <a:pPr indent="0" marL="0">
              <a:buNone/>
            </a:pPr>
            <a:r>
              <a:rPr lang="en-US" sz="1200" b="1" dirty="0">
                <a:solidFill>
                  <a:schemeClr val="bg1"/>
                </a:solidFill>
              </a:rPr>
              <a:t>QUESTION 1 · COMPLEXITY</a:t>
            </a:r>
            <a:endParaRPr lang="en-US" sz="1200" dirty="0"/>
          </a:p>
        </p:txBody>
      </p:sp>
      <p:sp>
        <p:nvSpPr>
          <p:cNvPr id="5" name="Text 3"/>
          <p:cNvSpPr txBox="1"/>
          <p:nvPr/>
        </p:nvSpPr>
        <p:spPr>
          <a:xfrm>
            <a:off x="822960" y="1828800"/>
            <a:ext cx="5669280" cy="45720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No gain from complexity.</a:t>
            </a:r>
            <a:endParaRPr lang="en-US" sz="2200" dirty="0"/>
          </a:p>
        </p:txBody>
      </p:sp>
      <p:sp>
        <p:nvSpPr>
          <p:cNvPr id="6" name="Text 4"/>
          <p:cNvSpPr txBox="1"/>
          <p:nvPr/>
        </p:nvSpPr>
        <p:spPr>
          <a:xfrm>
            <a:off x="822960" y="2331720"/>
            <a:ext cx="5669280" cy="685800"/>
          </a:xfrm>
          <a:prstGeom prst="rect">
            <a:avLst/>
          </a:prstGeom>
          <a:noFill/>
          <a:ln/>
        </p:spPr>
        <p:txBody>
          <a:bodyPr wrap="square" lIns="0" tIns="0" rIns="0" bIns="0" rtlCol="0" anchor="t"/>
          <a:lstStyle/>
          <a:p>
            <a:pPr indent="0" marL="0">
              <a:buNone/>
            </a:pPr>
            <a:r>
              <a:rPr lang="en-US" sz="1500" dirty="0">
                <a:solidFill>
                  <a:schemeClr val="bg1"/>
                </a:solidFill>
              </a:rPr>
              <a:t>Logistic regression is best or tied: 85.1% accuracy, 0.915 AUC, with 26 parameters.</a:t>
            </a:r>
            <a:endParaRPr lang="en-US" sz="1500" dirty="0"/>
          </a:p>
        </p:txBody>
      </p:sp>
      <p:sp>
        <p:nvSpPr>
          <p:cNvPr id="7" name="Shape 5"/>
          <p:cNvSpPr/>
          <p:nvPr/>
        </p:nvSpPr>
        <p:spPr>
          <a:xfrm>
            <a:off x="548640" y="3337560"/>
            <a:ext cx="6217920" cy="1737360"/>
          </a:xfrm>
          <a:prstGeom prst="roundRect">
            <a:avLst>
              <a:gd name="adj" fmla="val 6316"/>
            </a:avLst>
          </a:prstGeom>
          <a:solidFill>
            <a:schemeClr val="accent1"/>
          </a:solidFill>
          <a:ln/>
        </p:spPr>
      </p:sp>
      <p:sp>
        <p:nvSpPr>
          <p:cNvPr id="8" name="Text 6"/>
          <p:cNvSpPr txBox="1"/>
          <p:nvPr/>
        </p:nvSpPr>
        <p:spPr>
          <a:xfrm>
            <a:off x="822960" y="3520440"/>
            <a:ext cx="5669280" cy="274320"/>
          </a:xfrm>
          <a:prstGeom prst="rect">
            <a:avLst/>
          </a:prstGeom>
          <a:noFill/>
          <a:ln/>
        </p:spPr>
        <p:txBody>
          <a:bodyPr wrap="square" lIns="0" tIns="0" rIns="0" bIns="0" rtlCol="0" anchor="t"/>
          <a:lstStyle/>
          <a:p>
            <a:pPr indent="0" marL="0">
              <a:buNone/>
            </a:pPr>
            <a:r>
              <a:rPr lang="en-US" sz="1200" b="1" dirty="0">
                <a:solidFill>
                  <a:schemeClr val="bg1"/>
                </a:solidFill>
              </a:rPr>
              <a:t>QUESTION 2 · PRIVACY</a:t>
            </a:r>
            <a:endParaRPr lang="en-US" sz="1200" dirty="0"/>
          </a:p>
        </p:txBody>
      </p:sp>
      <p:sp>
        <p:nvSpPr>
          <p:cNvPr id="9" name="Text 7"/>
          <p:cNvSpPr txBox="1"/>
          <p:nvPr/>
        </p:nvSpPr>
        <p:spPr>
          <a:xfrm>
            <a:off x="822960" y="3794760"/>
            <a:ext cx="5669280" cy="45720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Yes, it works encrypted.</a:t>
            </a:r>
            <a:endParaRPr lang="en-US" sz="2200" dirty="0"/>
          </a:p>
        </p:txBody>
      </p:sp>
      <p:sp>
        <p:nvSpPr>
          <p:cNvPr id="10" name="Text 8"/>
          <p:cNvSpPr txBox="1"/>
          <p:nvPr/>
        </p:nvSpPr>
        <p:spPr>
          <a:xfrm>
            <a:off x="822960" y="4297680"/>
            <a:ext cx="5669280" cy="685800"/>
          </a:xfrm>
          <a:prstGeom prst="rect">
            <a:avLst/>
          </a:prstGeom>
          <a:noFill/>
          <a:ln/>
        </p:spPr>
        <p:txBody>
          <a:bodyPr wrap="square" lIns="0" tIns="0" rIns="0" bIns="0" rtlCol="0" anchor="t"/>
          <a:lstStyle/>
          <a:p>
            <a:pPr indent="0" marL="0">
              <a:buNone/>
            </a:pPr>
            <a:r>
              <a:rPr lang="en-US" sz="1500" dirty="0">
                <a:solidFill>
                  <a:schemeClr val="bg1"/>
                </a:solidFill>
              </a:rPr>
              <a:t>Encrypted logistic regression matches plaintext for 302 of 303 patients, in about 15 ms.</a:t>
            </a:r>
            <a:endParaRPr lang="en-US" sz="1500" dirty="0"/>
          </a:p>
        </p:txBody>
      </p:sp>
      <p:sp>
        <p:nvSpPr>
          <p:cNvPr id="11" name="Text 9"/>
          <p:cNvSpPr txBox="1"/>
          <p:nvPr/>
        </p:nvSpPr>
        <p:spPr>
          <a:xfrm>
            <a:off x="7315200" y="1371600"/>
            <a:ext cx="4297680" cy="457200"/>
          </a:xfrm>
          <a:prstGeom prst="rect">
            <a:avLst/>
          </a:prstGeom>
          <a:noFill/>
          <a:ln/>
        </p:spPr>
        <p:txBody>
          <a:bodyPr wrap="square" lIns="0" tIns="0" rIns="0" bIns="0" rtlCol="0" anchor="t"/>
          <a:lstStyle/>
          <a:p>
            <a:pPr indent="0" marL="0">
              <a:buNone/>
            </a:pPr>
            <a:r>
              <a:rPr lang="en-US" sz="2200" b="1" dirty="0">
                <a:solidFill>
                  <a:schemeClr val="accent5"/>
                </a:solidFill>
                <a:latin typeface="Cambria" pitchFamily="34" charset="0"/>
                <a:ea typeface="Cambria" pitchFamily="34" charset="-122"/>
                <a:cs typeface="Cambria" pitchFamily="34" charset="-120"/>
              </a:rPr>
              <a:t>Phase 2</a:t>
            </a:r>
            <a:endParaRPr lang="en-US" sz="2200" dirty="0"/>
          </a:p>
        </p:txBody>
      </p:sp>
      <p:sp>
        <p:nvSpPr>
          <p:cNvPr id="12" name="Shape 10"/>
          <p:cNvSpPr/>
          <p:nvPr/>
        </p:nvSpPr>
        <p:spPr>
          <a:xfrm>
            <a:off x="7315200" y="2011680"/>
            <a:ext cx="594360" cy="594360"/>
          </a:xfrm>
          <a:prstGeom prst="ellipse">
            <a:avLst/>
          </a:prstGeom>
          <a:solidFill>
            <a:schemeClr val="accent2"/>
          </a:solidFill>
          <a:ln/>
        </p:spPr>
      </p:sp>
      <p:pic>
        <p:nvPicPr>
          <p:cNvPr id="13" name="Image 0" descr="preencoded.png">    </p:cNvPr>
          <p:cNvPicPr>
            <a:picLocks noChangeAspect="1"/>
          </p:cNvPicPr>
          <p:nvPr/>
        </p:nvPicPr>
        <p:blipFill>
          <a:blip r:embed="rId1"/>
          <a:stretch>
            <a:fillRect/>
          </a:stretch>
        </p:blipFill>
        <p:spPr>
          <a:xfrm>
            <a:off x="7457846" y="2154326"/>
            <a:ext cx="309067" cy="309067"/>
          </a:xfrm>
          <a:prstGeom prst="rect">
            <a:avLst/>
          </a:prstGeom>
        </p:spPr>
      </p:pic>
      <p:sp>
        <p:nvSpPr>
          <p:cNvPr id="14" name="Text 11"/>
          <p:cNvSpPr txBox="1"/>
          <p:nvPr/>
        </p:nvSpPr>
        <p:spPr>
          <a:xfrm>
            <a:off x="8092440" y="1965960"/>
            <a:ext cx="3520440" cy="731520"/>
          </a:xfrm>
          <a:prstGeom prst="rect">
            <a:avLst/>
          </a:prstGeom>
          <a:noFill/>
          <a:ln/>
        </p:spPr>
        <p:txBody>
          <a:bodyPr wrap="square" lIns="0" tIns="0" rIns="0" bIns="0" rtlCol="0" anchor="ctr"/>
          <a:lstStyle/>
          <a:p>
            <a:pPr indent="0" marL="0">
              <a:buNone/>
            </a:pPr>
            <a:r>
              <a:rPr lang="en-US" sz="1500" dirty="0">
                <a:solidFill>
                  <a:schemeClr val="bg1"/>
                </a:solidFill>
              </a:rPr>
              <a:t>Encrypt the MLP and XGBoost (x² activation, per CryptoNets)</a:t>
            </a:r>
            <a:endParaRPr lang="en-US" sz="1500" dirty="0"/>
          </a:p>
        </p:txBody>
      </p:sp>
      <p:sp>
        <p:nvSpPr>
          <p:cNvPr id="15" name="Shape 12"/>
          <p:cNvSpPr/>
          <p:nvPr/>
        </p:nvSpPr>
        <p:spPr>
          <a:xfrm>
            <a:off x="7315200" y="3063240"/>
            <a:ext cx="594360" cy="594360"/>
          </a:xfrm>
          <a:prstGeom prst="ellipse">
            <a:avLst/>
          </a:prstGeom>
          <a:solidFill>
            <a:schemeClr val="accent2"/>
          </a:solidFill>
          <a:ln/>
        </p:spPr>
      </p:sp>
      <p:pic>
        <p:nvPicPr>
          <p:cNvPr id="16" name="Image 1" descr="preencoded.png">    </p:cNvPr>
          <p:cNvPicPr>
            <a:picLocks noChangeAspect="1"/>
          </p:cNvPicPr>
          <p:nvPr/>
        </p:nvPicPr>
        <p:blipFill>
          <a:blip r:embed="rId2"/>
          <a:stretch>
            <a:fillRect/>
          </a:stretch>
        </p:blipFill>
        <p:spPr>
          <a:xfrm>
            <a:off x="7457846" y="3205886"/>
            <a:ext cx="309067" cy="309067"/>
          </a:xfrm>
          <a:prstGeom prst="rect">
            <a:avLst/>
          </a:prstGeom>
        </p:spPr>
      </p:pic>
      <p:sp>
        <p:nvSpPr>
          <p:cNvPr id="17" name="Text 13"/>
          <p:cNvSpPr txBox="1"/>
          <p:nvPr/>
        </p:nvSpPr>
        <p:spPr>
          <a:xfrm>
            <a:off x="8092440" y="3017520"/>
            <a:ext cx="3520440" cy="731520"/>
          </a:xfrm>
          <a:prstGeom prst="rect">
            <a:avLst/>
          </a:prstGeom>
          <a:noFill/>
          <a:ln/>
        </p:spPr>
        <p:txBody>
          <a:bodyPr wrap="square" lIns="0" tIns="0" rIns="0" bIns="0" rtlCol="0" anchor="ctr"/>
          <a:lstStyle/>
          <a:p>
            <a:pPr indent="0" marL="0">
              <a:buNone/>
            </a:pPr>
            <a:r>
              <a:rPr lang="en-US" sz="1500" dirty="0">
                <a:solidFill>
                  <a:schemeClr val="bg1"/>
                </a:solidFill>
              </a:rPr>
              <a:t>Run the full study on Breast Cancer Wisconsin</a:t>
            </a:r>
            <a:endParaRPr lang="en-US" sz="1500" dirty="0"/>
          </a:p>
        </p:txBody>
      </p:sp>
      <p:sp>
        <p:nvSpPr>
          <p:cNvPr id="18" name="Shape 14"/>
          <p:cNvSpPr/>
          <p:nvPr/>
        </p:nvSpPr>
        <p:spPr>
          <a:xfrm>
            <a:off x="7315200" y="4114800"/>
            <a:ext cx="594360" cy="594360"/>
          </a:xfrm>
          <a:prstGeom prst="ellipse">
            <a:avLst/>
          </a:prstGeom>
          <a:solidFill>
            <a:schemeClr val="accent2"/>
          </a:solidFill>
          <a:ln/>
        </p:spPr>
      </p:sp>
      <p:pic>
        <p:nvPicPr>
          <p:cNvPr id="19" name="Image 2" descr="preencoded.png">    </p:cNvPr>
          <p:cNvPicPr>
            <a:picLocks noChangeAspect="1"/>
          </p:cNvPicPr>
          <p:nvPr/>
        </p:nvPicPr>
        <p:blipFill>
          <a:blip r:embed="rId3"/>
          <a:stretch>
            <a:fillRect/>
          </a:stretch>
        </p:blipFill>
        <p:spPr>
          <a:xfrm>
            <a:off x="7457846" y="4257446"/>
            <a:ext cx="309067" cy="309067"/>
          </a:xfrm>
          <a:prstGeom prst="rect">
            <a:avLst/>
          </a:prstGeom>
        </p:spPr>
      </p:pic>
      <p:sp>
        <p:nvSpPr>
          <p:cNvPr id="20" name="Text 15"/>
          <p:cNvSpPr txBox="1"/>
          <p:nvPr/>
        </p:nvSpPr>
        <p:spPr>
          <a:xfrm>
            <a:off x="8092440" y="4069080"/>
            <a:ext cx="3520440" cy="731520"/>
          </a:xfrm>
          <a:prstGeom prst="rect">
            <a:avLst/>
          </a:prstGeom>
          <a:noFill/>
          <a:ln/>
        </p:spPr>
        <p:txBody>
          <a:bodyPr wrap="square" lIns="0" tIns="0" rIns="0" bIns="0" rtlCol="0" anchor="ctr"/>
          <a:lstStyle/>
          <a:p>
            <a:pPr indent="0" marL="0">
              <a:buNone/>
            </a:pPr>
            <a:r>
              <a:rPr lang="en-US" sz="1500" dirty="0">
                <a:solidFill>
                  <a:schemeClr val="bg1"/>
                </a:solidFill>
              </a:rPr>
              <a:t>Measure memory, key size and encrypted cost per model</a:t>
            </a:r>
            <a:endParaRPr lang="en-US" sz="1500" dirty="0"/>
          </a:p>
        </p:txBody>
      </p:sp>
      <p:sp>
        <p:nvSpPr>
          <p:cNvPr id="21" name="Text 16"/>
          <p:cNvSpPr txBox="1"/>
          <p:nvPr/>
        </p:nvSpPr>
        <p:spPr>
          <a:xfrm>
            <a:off x="548640" y="5532120"/>
            <a:ext cx="11064240" cy="548640"/>
          </a:xfrm>
          <a:prstGeom prst="rect">
            <a:avLst/>
          </a:prstGeom>
          <a:noFill/>
          <a:ln/>
        </p:spPr>
        <p:txBody>
          <a:bodyPr wrap="square" lIns="0" tIns="0" rIns="0" bIns="0" rtlCol="0" anchor="t"/>
          <a:lstStyle/>
          <a:p>
            <a:pPr indent="0" marL="0">
              <a:buNone/>
            </a:pPr>
            <a:r>
              <a:rPr lang="en-US" sz="1600" i="1" dirty="0">
                <a:solidFill>
                  <a:schemeClr val="accent5"/>
                </a:solidFill>
              </a:rPr>
              <a:t>Goal: complexity vs. accuracy vs. encrypted cost, the full trade-off from the synopsis.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chemeClr val="tx2"/>
                </a:solidFill>
              </a:rPr>
              <a:t>References</a:t>
            </a:r>
            <a:endParaRPr lang="en-US" sz="3400" dirty="0"/>
          </a:p>
        </p:txBody>
      </p:sp>
      <p:sp>
        <p:nvSpPr>
          <p:cNvPr id="3" name="Text 1"/>
          <p:cNvSpPr txBox="1"/>
          <p:nvPr/>
        </p:nvSpPr>
        <p:spPr>
          <a:xfrm>
            <a:off x="548640" y="1325880"/>
            <a:ext cx="5349240" cy="4892040"/>
          </a:xfrm>
          <a:prstGeom prst="rect">
            <a:avLst/>
          </a:prstGeom>
          <a:noFill/>
          <a:ln/>
        </p:spPr>
        <p:txBody>
          <a:bodyPr wrap="square" lIns="0" tIns="0" rIns="0" bIns="0" rtlCol="0" anchor="t"/>
          <a:lstStyle/>
          <a:p>
            <a:pPr indent="0" marL="0">
              <a:spcAft>
                <a:spcPts val="1000"/>
              </a:spcAft>
              <a:buNone/>
            </a:pPr>
            <a:r>
              <a:rPr lang="en-US" sz="1300" dirty="0">
                <a:solidFill>
                  <a:schemeClr val="tx1"/>
                </a:solidFill>
              </a:rPr>
              <a:t>[1]  Detrano, R., et al. "Heart Disease." UCI Machine Learning Repository, 1988.</a:t>
            </a:r>
            <a:endParaRPr lang="en-US" sz="1300" dirty="0"/>
          </a:p>
          <a:p>
            <a:pPr indent="0" marL="0">
              <a:spcAft>
                <a:spcPts val="1000"/>
              </a:spcAft>
              <a:buNone/>
            </a:pPr>
            <a:r>
              <a:rPr lang="en-US" sz="1300" dirty="0">
                <a:solidFill>
                  <a:schemeClr val="tx1"/>
                </a:solidFill>
              </a:rPr>
              <a:t>[2]  Wolberg, W., et al. "Breast Cancer Wisconsin (Diagnostic)." UCI ML Repository, 1993.</a:t>
            </a:r>
            <a:endParaRPr lang="en-US" sz="1300" dirty="0"/>
          </a:p>
          <a:p>
            <a:pPr indent="0" marL="0">
              <a:spcAft>
                <a:spcPts val="1000"/>
              </a:spcAft>
              <a:buNone/>
            </a:pPr>
            <a:r>
              <a:rPr lang="en-US" sz="1300" dirty="0">
                <a:solidFill>
                  <a:schemeClr val="tx1"/>
                </a:solidFill>
              </a:rPr>
              <a:t>[3]  Dowlin, N., et al. "CryptoNets: Applying Neural Networks to Encrypted Data with High Throughput and Accuracy." ICML, 2016.</a:t>
            </a:r>
            <a:endParaRPr lang="en-US" sz="1300" dirty="0"/>
          </a:p>
          <a:p>
            <a:pPr indent="0" marL="0">
              <a:spcAft>
                <a:spcPts val="1000"/>
              </a:spcAft>
              <a:buNone/>
            </a:pPr>
            <a:r>
              <a:rPr lang="en-US" sz="1300" dirty="0">
                <a:solidFill>
                  <a:schemeClr val="tx1"/>
                </a:solidFill>
              </a:rPr>
              <a:t>[4]  Chou, E., et al. "Faster CryptoNets: Leveraging Sparsity for Real-World Encrypted Inference." arXiv, 2018.</a:t>
            </a:r>
            <a:endParaRPr lang="en-US" sz="1300" dirty="0"/>
          </a:p>
          <a:p>
            <a:pPr indent="0" marL="0">
              <a:spcAft>
                <a:spcPts val="1000"/>
              </a:spcAft>
              <a:buNone/>
            </a:pPr>
            <a:r>
              <a:rPr lang="en-US" sz="1300" dirty="0">
                <a:solidFill>
                  <a:schemeClr val="tx1"/>
                </a:solidFill>
              </a:rPr>
              <a:t>[5]  Mishra, P., et al. "Delphi: A Cryptographic Inference Service for Neural Networks." USENIX Security, 2020.</a:t>
            </a:r>
            <a:endParaRPr lang="en-US" sz="1300" dirty="0"/>
          </a:p>
          <a:p>
            <a:pPr indent="0" marL="0">
              <a:spcAft>
                <a:spcPts val="1000"/>
              </a:spcAft>
              <a:buNone/>
            </a:pPr>
            <a:r>
              <a:rPr lang="en-US" sz="1300" dirty="0">
                <a:solidFill>
                  <a:schemeClr val="tx1"/>
                </a:solidFill>
              </a:rPr>
              <a:t>[6]  Chawla, N., et al. "SMOTE: Synthetic Minority Over-sampling Technique." JAIR, 2002.</a:t>
            </a:r>
            <a:endParaRPr lang="en-US" sz="1300" dirty="0"/>
          </a:p>
        </p:txBody>
      </p:sp>
      <p:sp>
        <p:nvSpPr>
          <p:cNvPr id="4" name="Text 2"/>
          <p:cNvSpPr txBox="1"/>
          <p:nvPr/>
        </p:nvSpPr>
        <p:spPr>
          <a:xfrm>
            <a:off x="6263640" y="1325880"/>
            <a:ext cx="5349240" cy="4892040"/>
          </a:xfrm>
          <a:prstGeom prst="rect">
            <a:avLst/>
          </a:prstGeom>
          <a:noFill/>
          <a:ln/>
        </p:spPr>
        <p:txBody>
          <a:bodyPr wrap="square" lIns="0" tIns="0" rIns="0" bIns="0" rtlCol="0" anchor="t"/>
          <a:lstStyle/>
          <a:p>
            <a:pPr indent="0" marL="0">
              <a:spcAft>
                <a:spcPts val="1000"/>
              </a:spcAft>
              <a:buNone/>
            </a:pPr>
            <a:r>
              <a:rPr lang="en-US" sz="1300" dirty="0">
                <a:solidFill>
                  <a:schemeClr val="tx1"/>
                </a:solidFill>
              </a:rPr>
              <a:t>[7]  Chen, T., Guestrin, C. "XGBoost: A Scalable Tree Boosting System." KDD, 2016.</a:t>
            </a:r>
            <a:endParaRPr lang="en-US" sz="1300" dirty="0"/>
          </a:p>
          <a:p>
            <a:pPr indent="0" marL="0">
              <a:spcAft>
                <a:spcPts val="1000"/>
              </a:spcAft>
              <a:buNone/>
            </a:pPr>
            <a:r>
              <a:rPr lang="en-US" sz="1300" dirty="0">
                <a:solidFill>
                  <a:schemeClr val="tx1"/>
                </a:solidFill>
              </a:rPr>
              <a:t>[8]  Pedregosa, F., et al. "Scikit-learn: Machine Learning in Python." JMLR, 2011.</a:t>
            </a:r>
            <a:endParaRPr lang="en-US" sz="1300" dirty="0"/>
          </a:p>
          <a:p>
            <a:pPr indent="0" marL="0">
              <a:spcAft>
                <a:spcPts val="1000"/>
              </a:spcAft>
              <a:buNone/>
            </a:pPr>
            <a:r>
              <a:rPr lang="en-US" sz="1300" dirty="0">
                <a:solidFill>
                  <a:schemeClr val="tx1"/>
                </a:solidFill>
              </a:rPr>
              <a:t>[9]  Zama. "Concrete ML Documentation." docs.zama.ai/concrete-ml</a:t>
            </a:r>
            <a:endParaRPr lang="en-US" sz="1300" dirty="0"/>
          </a:p>
          <a:p>
            <a:pPr indent="0" marL="0">
              <a:spcAft>
                <a:spcPts val="1000"/>
              </a:spcAft>
              <a:buNone/>
            </a:pPr>
            <a:r>
              <a:rPr lang="en-US" sz="1300" dirty="0">
                <a:solidFill>
                  <a:schemeClr val="tx1"/>
                </a:solidFill>
              </a:rPr>
              <a:t>[10]  Naresh, V. S., Reddi, S. "Exploring the future of privacy-preserving heart disease prediction: a fully homomorphic encryption-driven logistic regression approach." Journal of Big Data 12:52, 2025.</a:t>
            </a:r>
            <a:endParaRPr lang="en-US" sz="1300" dirty="0"/>
          </a:p>
          <a:p>
            <a:pPr indent="0" marL="0">
              <a:spcAft>
                <a:spcPts val="1000"/>
              </a:spcAft>
              <a:buNone/>
            </a:pPr>
            <a:r>
              <a:rPr lang="en-US" sz="1300" dirty="0">
                <a:solidFill>
                  <a:schemeClr val="tx1"/>
                </a:solidFill>
              </a:rPr>
              <a:t>[11]  Dziri, M., et al. "Privacy-Preserving Machine Learning for Heart Disease Detection Using Fully Homomorphic Encryption." TechRxiv preprint, 2025.</a:t>
            </a:r>
            <a:endParaRPr lang="en-US" sz="1300" dirty="0"/>
          </a:p>
          <a:p>
            <a:pPr indent="0" marL="0">
              <a:spcAft>
                <a:spcPts val="1000"/>
              </a:spcAft>
              <a:buNone/>
            </a:pPr>
            <a:r>
              <a:rPr lang="en-US" sz="1300" dirty="0">
                <a:solidFill>
                  <a:schemeClr val="tx1"/>
                </a:solidFill>
              </a:rPr>
              <a:t>[12]  Čepová, L., et al. "Improving privacy-preserving multi-faceted long short-term memory for accurate evaluation of encrypted time-series MRI images in heart disease." Scientific Reports 14:20218, 2024.</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Encrypted Diagnosis">
  <a:themeElements>
    <a:clrScheme name="Encrypted Diagnosis">
      <a:dk1>
        <a:srgbClr val="1B2631"/>
      </a:dk1>
      <a:lt1>
        <a:srgbClr val="FFFFFF"/>
      </a:lt1>
      <a:dk2>
        <a:srgbClr val="0B2E3F"/>
      </a:dk2>
      <a:lt2>
        <a:srgbClr val="EEF4F6"/>
      </a:lt2>
      <a:accent1>
        <a:srgbClr val="E4572E"/>
      </a:accent1>
      <a:accent2>
        <a:srgbClr val="17A398"/>
      </a:accent2>
      <a:accent3>
        <a:srgbClr val="F2B134"/>
      </a:accent3>
      <a:accent4>
        <a:srgbClr val="5B6C7A"/>
      </a:accent4>
      <a:accent5>
        <a:srgbClr val="8FD3CB"/>
      </a:accent5>
      <a:accent6>
        <a:srgbClr val="F6C7B8"/>
      </a:accent6>
      <a:hlink>
        <a:srgbClr val="17A398"/>
      </a:hlink>
      <a:folHlink>
        <a:srgbClr val="5B6C7A"/>
      </a:folHlink>
    </a:clrScheme>
    <a:fontScheme name="Encrypted Diagnosi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Medical Risk Prediction &amp; Encrypted Inference</dc:title>
  <dc:subject>PptxGenJS Presentation</dc:subject>
  <dc:creator>PptxGenJS</dc:creator>
  <cp:lastModifiedBy>PptxGenJS</cp:lastModifiedBy>
  <cp:revision>1</cp:revision>
  <dcterms:created xsi:type="dcterms:W3CDTF">2026-10-15T04:24:17Z</dcterms:created>
  <dcterms:modified xsi:type="dcterms:W3CDTF">2026-10-15T04:24:17Z</dcterms:modified>
</cp:coreProperties>
</file>