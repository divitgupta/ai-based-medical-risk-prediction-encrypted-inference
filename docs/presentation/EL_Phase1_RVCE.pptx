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8"/>
  </p:notesMasterIdLst>
  <p:sldIdLst>
    <p:sldId id="256" r:id="rId2"/>
    <p:sldId id="258" r:id="rId3"/>
    <p:sldId id="271" r:id="rId4"/>
    <p:sldId id="272" r:id="rId5"/>
    <p:sldId id="273" r:id="rId6"/>
    <p:sldId id="274" r:id="rId7"/>
    <p:sldId id="275" r:id="rId8"/>
    <p:sldId id="276" r:id="rId9"/>
    <p:sldId id="277" r:id="rId10"/>
    <p:sldId id="278" r:id="rId11"/>
    <p:sldId id="279" r:id="rId12"/>
    <p:sldId id="285" r:id="rId13"/>
    <p:sldId id="286" r:id="rId14"/>
    <p:sldId id="288" r:id="rId15"/>
    <p:sldId id="289" r:id="rId16"/>
    <p:sldId id="270" r:id="rId17"/>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461"/>
    <p:restoredTop sz="94645"/>
  </p:normalViewPr>
  <p:slideViewPr>
    <p:cSldViewPr snapToGrid="0">
      <p:cViewPr>
        <p:scale>
          <a:sx n="52" d="100"/>
          <a:sy n="52" d="100"/>
        </p:scale>
        <p:origin x="4696" y="27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968058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r>
              <a:t>Our project predicts heart disease with machine learning, and does it in a way where the server never sees the patient's data. We use Fully Homomorphic Encryption for that.</a:t>
            </a: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9202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8940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Two parts: the machine-learning part compares three models, and the privacy part runs the model on encrypted data.</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Explain classification with one example patient: 13 measurements go in, the model outputs a probability, and 0.5 is the cut-off between disease and no disease. The example values are illustrative.</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key idea: with homomorphic encryption you can do maths on locked data. Enc(3) plus Enc(4) gives Enc(7) without anyone unlocking anything. FHE, fully homomorphic encryption, supports both addition and multiplication, which is enough to run a model.</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Top: a normal AI service has to see the data. Bottom: with FHE, the server works blind. The glovebox analogy is the classic way to explain it.</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Highlighted row is our base paper. All papers are from 2024–2025. Zimerman et al. show how to replace non-linear activations with polynomials (our MLP plan); Ku et al. show quantised neural networks under TFHE, the scheme we use; El-Sofany et al. and Nadheer give the heart-disease basis for comparing logistic regression, MLP and XGBoost.</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This is the one-line answer for 'what is new': they proved encrypted logistic regression works for heart disease; we will compare model complexity, use a different FHE scheme, and check agreement for every patient.</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problem has two parts: get an accurate diagnosis, and keep the data private. Normally these conflict, because the model needs the data. FHE removes the conflict.</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Six specific objectives, in the order we will carry them out.</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Top row: offline training produces metrics and an encrypted model. Bottom row: the live app. The client encrypts, the server computes without the secret key, and the client decrypts. In the simulation, client and server run as separate components.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Three steps. The secret key never leaves the client. The server only ever sees ciphertext. We will measure how long each step takes for each model.</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These are the outcomes we are aiming for, not results yet. Our hypothesis from the synopsis and literature: the linear model keeps its accuracy under encryption, the MLP loses a little because its activation is approximated by a polynomial, and encryption cost grows with complexity.</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Close by restating the two questions: does complexity help, and can prediction stay private. Phase 1 sets up the method; results come in the next phase.</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7746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ChangeAspect="1"/>
          </p:cNvPicPr>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146929"/>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2400" b="1">
                <a:solidFill>
                  <a:srgbClr val="FF0000"/>
                </a:solidFill>
                <a:latin typeface="Bookman Old Style"/>
                <a:ea typeface="Bookman Old Style"/>
                <a:cs typeface="Bookman Old Style"/>
              </a:rPr>
              <a:t>AI-Based Medical Risk Prediction</a:t>
            </a:r>
          </a:p>
          <a:p>
            <a:pPr marL="0" marR="0" lvl="0" indent="0" algn="ctr" rtl="0">
              <a:spcBef>
                <a:spcPts val="0"/>
              </a:spcBef>
              <a:spcAft>
                <a:spcPts val="0"/>
              </a:spcAft>
              <a:buNone/>
            </a:pPr>
            <a:r>
              <a:rPr lang="en-IN" sz="2400" b="1">
                <a:solidFill>
                  <a:srgbClr val="FF0000"/>
                </a:solidFill>
                <a:latin typeface="Bookman Old Style"/>
                <a:ea typeface="Bookman Old Style"/>
                <a:cs typeface="Bookman Old Style"/>
              </a:rPr>
              <a:t>and Encrypted Inference</a:t>
            </a:r>
          </a:p>
        </p:txBody>
      </p:sp>
      <p:sp>
        <p:nvSpPr>
          <p:cNvPr id="129" name="Google Shape;129;p1"/>
          <p:cNvSpPr/>
          <p:nvPr/>
        </p:nvSpPr>
        <p:spPr>
          <a:xfrm>
            <a:off x="349045" y="5288583"/>
            <a:ext cx="11421075"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1800" b="1">
                <a:solidFill>
                  <a:srgbClr val="FFFFFF"/>
                </a:solidFill>
                <a:latin typeface="Bookman Old Style"/>
                <a:ea typeface="Bookman Old Style"/>
                <a:cs typeface="Bookman Old Style"/>
              </a:rPr>
              <a:t>Heart-Disease Prediction with Model Comparison and Fully Homomorphic Encryption</a:t>
            </a:r>
          </a:p>
          <a:p>
            <a:pPr marL="0" marR="0" lvl="0" indent="0" algn="ctr" rtl="0">
              <a:spcBef>
                <a:spcPts val="0"/>
              </a:spcBef>
              <a:spcAft>
                <a:spcPts val="0"/>
              </a:spcAft>
              <a:buNone/>
            </a:pPr>
            <a:r>
              <a:rPr lang="en-IN" sz="1400" b="0">
                <a:solidFill>
                  <a:srgbClr val="FFFFFF"/>
                </a:solidFill>
                <a:latin typeface="Bookman Old Style"/>
                <a:ea typeface="Bookman Old Style"/>
                <a:cs typeface="Bookman Old Style"/>
              </a:rPr>
              <a:t>Team: [Names &amp; USNs]   |   Guide: [Faculty name]   |   EL Theme: [Theme]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143" name="Google Shape;143;p4"/>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44" name="Google Shape;144;p4"/>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EL Phase-I</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45" name="Google Shape;145;p4"/>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fontScale="85000"/>
          </a:bodyPr>
          <a:lstStyle/>
          <a:p>
            <a:pPr marL="228600" lvl="0" indent="-228600" algn="l" rtl="0">
              <a:lnSpc>
                <a:spcPct val="90000"/>
              </a:lnSpc>
              <a:spcBef>
                <a:spcPts val="0"/>
              </a:spcBef>
              <a:spcAft>
                <a:spcPts val="0"/>
              </a:spcAft>
              <a:buClr>
                <a:srgbClr val="002060"/>
              </a:buClr>
              <a:buSzPts val="2800"/>
              <a:buChar char="•"/>
            </a:pPr>
            <a:r>
              <a:rPr lang="en-IN" dirty="0">
                <a:solidFill>
                  <a:srgbClr val="FF0000"/>
                </a:solidFill>
              </a:rPr>
              <a:t>Introduction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Key Concepts (ML, Encryption, FHE)</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Literature Review</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Problem Definition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Objectives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Methodology</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Proposed Outcomes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Timeline of the project</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Conclusion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References</a:t>
            </a:r>
            <a:endParaRPr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4" name="Rounded Rectangle 3"/>
          <p:cNvSpPr/>
          <p:nvPr/>
        </p:nvSpPr>
        <p:spPr>
          <a:xfrm>
            <a:off x="411480" y="1234440"/>
            <a:ext cx="3611880" cy="6858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2000" b="1" i="0">
                <a:solidFill>
                  <a:srgbClr val="FFFFFF"/>
                </a:solidFill>
                <a:latin typeface="Bookman Old Style"/>
              </a:rPr>
              <a:t>Overview</a:t>
            </a:r>
          </a:p>
        </p:txBody>
      </p:sp>
      <p:sp>
        <p:nvSpPr>
          <p:cNvPr id="5" name="Rounded Rectangle 4"/>
          <p:cNvSpPr/>
          <p:nvPr/>
        </p:nvSpPr>
        <p:spPr>
          <a:xfrm>
            <a:off x="411480" y="2011680"/>
            <a:ext cx="3611880" cy="32461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lstStyle/>
          <a:p>
            <a:pPr algn="l"/>
            <a:r>
              <a:rPr sz="1700" b="0" i="0">
                <a:solidFill>
                  <a:srgbClr val="1F2937"/>
                </a:solidFill>
                <a:latin typeface="Bookman Old Style"/>
              </a:rPr>
              <a:t>Hospitals and apps increasingly use machine learning (ML) to predict disease risk from routine clinical measurements such as blood pressure, cholesterol and heart rate.</a:t>
            </a:r>
          </a:p>
        </p:txBody>
      </p:sp>
      <p:sp>
        <p:nvSpPr>
          <p:cNvPr id="6" name="Rounded Rectangle 5"/>
          <p:cNvSpPr/>
          <p:nvPr/>
        </p:nvSpPr>
        <p:spPr>
          <a:xfrm>
            <a:off x="4251960" y="1234440"/>
            <a:ext cx="3611880" cy="6858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2000" b="1" i="0">
                <a:solidFill>
                  <a:srgbClr val="FFFFFF"/>
                </a:solidFill>
                <a:latin typeface="Bookman Old Style"/>
              </a:rPr>
              <a:t>Why it matters</a:t>
            </a:r>
          </a:p>
        </p:txBody>
      </p:sp>
      <p:sp>
        <p:nvSpPr>
          <p:cNvPr id="7" name="Rounded Rectangle 6"/>
          <p:cNvSpPr/>
          <p:nvPr/>
        </p:nvSpPr>
        <p:spPr>
          <a:xfrm>
            <a:off x="4251960" y="2011680"/>
            <a:ext cx="3611880" cy="32461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lstStyle/>
          <a:p>
            <a:pPr algn="l"/>
            <a:r>
              <a:rPr sz="1700" b="0" i="0">
                <a:solidFill>
                  <a:srgbClr val="1F2937"/>
                </a:solidFill>
                <a:latin typeface="Bookman Old Style"/>
              </a:rPr>
              <a:t>Heart disease is a leading cause of death. A model that flags high-risk patients early helps doctors act sooner. But sending medical records to a cloud AI service exposes very sensitive data.</a:t>
            </a:r>
          </a:p>
        </p:txBody>
      </p:sp>
      <p:sp>
        <p:nvSpPr>
          <p:cNvPr id="8" name="Rounded Rectangle 7"/>
          <p:cNvSpPr/>
          <p:nvPr/>
        </p:nvSpPr>
        <p:spPr>
          <a:xfrm>
            <a:off x="8092440" y="1234440"/>
            <a:ext cx="3611880" cy="6858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2000" b="1" i="0">
                <a:solidFill>
                  <a:srgbClr val="FFFFFF"/>
                </a:solidFill>
                <a:latin typeface="Bookman Old Style"/>
              </a:rPr>
              <a:t>Our approach</a:t>
            </a:r>
          </a:p>
        </p:txBody>
      </p:sp>
      <p:sp>
        <p:nvSpPr>
          <p:cNvPr id="9" name="Rounded Rectangle 8"/>
          <p:cNvSpPr/>
          <p:nvPr/>
        </p:nvSpPr>
        <p:spPr>
          <a:xfrm>
            <a:off x="8092440" y="2011680"/>
            <a:ext cx="3611880" cy="32461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lstStyle/>
          <a:p>
            <a:pPr algn="l"/>
            <a:r>
              <a:rPr sz="1700" b="0" i="0">
                <a:solidFill>
                  <a:srgbClr val="1F2937"/>
                </a:solidFill>
                <a:latin typeface="Bookman Old Style"/>
              </a:rPr>
              <a:t>1) Build and fairly compare 3 ML models of increasing complexity. 2) Run the best model on encrypted patient data, so the server predicts without ever seeing the values.</a:t>
            </a:r>
          </a:p>
        </p:txBody>
      </p:sp>
      <p:sp>
        <p:nvSpPr>
          <p:cNvPr id="10" name="Rounded Rectangle 9"/>
          <p:cNvSpPr/>
          <p:nvPr/>
        </p:nvSpPr>
        <p:spPr>
          <a:xfrm>
            <a:off x="411480" y="5440680"/>
            <a:ext cx="11338560" cy="685800"/>
          </a:xfrm>
          <a:prstGeom prst="roundRect">
            <a:avLst>
              <a:gd name="adj" fmla="val 12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C00000"/>
                </a:solidFill>
                <a:latin typeface="Bookman Old Style"/>
              </a:rPr>
              <a:t>Q1: </a:t>
            </a:r>
            <a:r>
              <a:rPr sz="1500" b="0" i="0">
                <a:solidFill>
                  <a:srgbClr val="1F2937"/>
                </a:solidFill>
                <a:latin typeface="Bookman Old Style"/>
              </a:rPr>
              <a:t>Does a more complex model diagnose better?     </a:t>
            </a:r>
            <a:r>
              <a:rPr sz="1500" b="1" i="0">
                <a:solidFill>
                  <a:srgbClr val="C00000"/>
                </a:solidFill>
                <a:latin typeface="Bookman Old Style"/>
              </a:rPr>
              <a:t>Q2: </a:t>
            </a:r>
            <a:r>
              <a:rPr sz="1500" b="0" i="0">
                <a:solidFill>
                  <a:srgbClr val="1F2937"/>
                </a:solidFill>
                <a:latin typeface="Bookman Old Style"/>
              </a:rPr>
              <a:t>Can a server predict without seeing the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a:solidFill>
                  <a:srgbClr val="C00000"/>
                </a:solidFill>
                <a:latin typeface="Bookman Old Style"/>
                <a:ea typeface="Bookman Old Style"/>
                <a:cs typeface="Bookman Old Style"/>
                <a:sym typeface="Bookman Old Style"/>
              </a:rPr>
              <a:t>Key Concept 1: How ML Predicts Disease</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a:t>
            </a:fld>
            <a:endParaRPr/>
          </a:p>
        </p:txBody>
      </p:sp>
      <p:sp>
        <p:nvSpPr>
          <p:cNvPr id="4" name="TextBox 3"/>
          <p:cNvSpPr txBox="1"/>
          <p:nvPr/>
        </p:nvSpPr>
        <p:spPr>
          <a:xfrm>
            <a:off x="411480" y="1143000"/>
            <a:ext cx="11338560" cy="457200"/>
          </a:xfrm>
          <a:prstGeom prst="rect">
            <a:avLst/>
          </a:prstGeom>
          <a:noFill/>
        </p:spPr>
        <p:txBody>
          <a:bodyPr wrap="square" lIns="45720" rIns="45720" anchor="t">
            <a:spAutoFit/>
          </a:bodyPr>
          <a:lstStyle/>
          <a:p>
            <a:pPr algn="l"/>
            <a:r>
              <a:rPr sz="1600" b="0" i="0">
                <a:solidFill>
                  <a:srgbClr val="002060"/>
                </a:solidFill>
                <a:latin typeface="Bookman Old Style"/>
              </a:rPr>
              <a:t>A classification model learns patterns from past patients whose diagnosis is known, then predicts for a new patient.</a:t>
            </a:r>
          </a:p>
        </p:txBody>
      </p:sp>
      <p:sp>
        <p:nvSpPr>
          <p:cNvPr id="5" name="Rounded Rectangle 4"/>
          <p:cNvSpPr/>
          <p:nvPr/>
        </p:nvSpPr>
        <p:spPr>
          <a:xfrm>
            <a:off x="411480" y="1828800"/>
            <a:ext cx="2743200" cy="27432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r>
              <a:rPr sz="1700" b="1" i="0">
                <a:solidFill>
                  <a:srgbClr val="002060"/>
                </a:solidFill>
                <a:latin typeface="Bookman Old Style"/>
              </a:rPr>
              <a:t>New patient</a:t>
            </a:r>
          </a:p>
          <a:p>
            <a:pPr algn="l">
              <a:spcBef>
                <a:spcPts val="400"/>
              </a:spcBef>
            </a:pPr>
            <a:r>
              <a:rPr sz="1400" b="0" i="0">
                <a:solidFill>
                  <a:srgbClr val="1F2937"/>
                </a:solidFill>
                <a:latin typeface="Bookman Old Style"/>
              </a:rPr>
              <a:t>Age: 63</a:t>
            </a:r>
          </a:p>
          <a:p>
            <a:pPr algn="l">
              <a:spcBef>
                <a:spcPts val="400"/>
              </a:spcBef>
            </a:pPr>
            <a:r>
              <a:rPr sz="1400" b="0" i="0">
                <a:solidFill>
                  <a:srgbClr val="1F2937"/>
                </a:solidFill>
                <a:latin typeface="Bookman Old Style"/>
              </a:rPr>
              <a:t>Blood pressure: 145</a:t>
            </a:r>
          </a:p>
          <a:p>
            <a:pPr algn="l">
              <a:spcBef>
                <a:spcPts val="400"/>
              </a:spcBef>
            </a:pPr>
            <a:r>
              <a:rPr sz="1400" b="0" i="0">
                <a:solidFill>
                  <a:srgbClr val="1F2937"/>
                </a:solidFill>
                <a:latin typeface="Bookman Old Style"/>
              </a:rPr>
              <a:t>Cholesterol: 233</a:t>
            </a:r>
          </a:p>
          <a:p>
            <a:pPr algn="l">
              <a:spcBef>
                <a:spcPts val="400"/>
              </a:spcBef>
            </a:pPr>
            <a:r>
              <a:rPr sz="1400" b="0" i="0">
                <a:solidFill>
                  <a:srgbClr val="1F2937"/>
                </a:solidFill>
                <a:latin typeface="Bookman Old Style"/>
              </a:rPr>
              <a:t>Max heart rate: 150</a:t>
            </a:r>
          </a:p>
          <a:p>
            <a:pPr algn="l">
              <a:spcBef>
                <a:spcPts val="400"/>
              </a:spcBef>
            </a:pPr>
            <a:r>
              <a:rPr sz="1400" b="0" i="0">
                <a:solidFill>
                  <a:srgbClr val="1F2937"/>
                </a:solidFill>
                <a:latin typeface="Bookman Old Style"/>
              </a:rPr>
              <a:t>Chest pain type: 3</a:t>
            </a:r>
          </a:p>
          <a:p>
            <a:pPr algn="l">
              <a:spcBef>
                <a:spcPts val="400"/>
              </a:spcBef>
            </a:pPr>
            <a:r>
              <a:rPr sz="1400" b="0" i="0">
                <a:solidFill>
                  <a:srgbClr val="1F2937"/>
                </a:solidFill>
                <a:latin typeface="Bookman Old Style"/>
              </a:rPr>
              <a:t>… 13 measurements</a:t>
            </a:r>
          </a:p>
        </p:txBody>
      </p:sp>
      <p:cxnSp>
        <p:nvCxnSpPr>
          <p:cNvPr id="6" name="Connector 5"/>
          <p:cNvCxnSpPr/>
          <p:nvPr/>
        </p:nvCxnSpPr>
        <p:spPr>
          <a:xfrm>
            <a:off x="3246120" y="3200400"/>
            <a:ext cx="731519"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069080" y="2377440"/>
            <a:ext cx="2377440" cy="16459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2000" b="1" i="0">
                <a:solidFill>
                  <a:srgbClr val="FFFFFF"/>
                </a:solidFill>
                <a:latin typeface="Bookman Old Style"/>
              </a:rPr>
              <a:t>ML Model</a:t>
            </a:r>
          </a:p>
          <a:p>
            <a:pPr algn="ctr"/>
            <a:r>
              <a:rPr sz="1300" b="0" i="0">
                <a:solidFill>
                  <a:srgbClr val="FFFFFF"/>
                </a:solidFill>
                <a:latin typeface="Bookman Old Style"/>
              </a:rPr>
              <a:t>learned from 303 past patients</a:t>
            </a:r>
          </a:p>
        </p:txBody>
      </p:sp>
      <p:cxnSp>
        <p:nvCxnSpPr>
          <p:cNvPr id="8" name="Connector 7"/>
          <p:cNvCxnSpPr/>
          <p:nvPr/>
        </p:nvCxnSpPr>
        <p:spPr>
          <a:xfrm>
            <a:off x="6537960" y="3200400"/>
            <a:ext cx="731520"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60920" y="2377440"/>
            <a:ext cx="192024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002060"/>
                </a:solidFill>
                <a:latin typeface="Bookman Old Style"/>
              </a:rPr>
              <a:t>Probability</a:t>
            </a:r>
          </a:p>
          <a:p>
            <a:pPr algn="ctr"/>
            <a:r>
              <a:rPr sz="3200" b="1" i="0">
                <a:solidFill>
                  <a:srgbClr val="C00000"/>
                </a:solidFill>
                <a:latin typeface="Bookman Old Style"/>
              </a:rPr>
              <a:t>0.82</a:t>
            </a:r>
          </a:p>
          <a:p>
            <a:pPr algn="ctr"/>
            <a:r>
              <a:rPr sz="1400" b="0" i="0">
                <a:solidFill>
                  <a:srgbClr val="1F2937"/>
                </a:solidFill>
                <a:latin typeface="Bookman Old Style"/>
              </a:rPr>
              <a:t>of disease</a:t>
            </a:r>
          </a:p>
        </p:txBody>
      </p:sp>
      <p:cxnSp>
        <p:nvCxnSpPr>
          <p:cNvPr id="10" name="Connector 9"/>
          <p:cNvCxnSpPr/>
          <p:nvPr/>
        </p:nvCxnSpPr>
        <p:spPr>
          <a:xfrm>
            <a:off x="9372600" y="3200400"/>
            <a:ext cx="548640"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012680" y="2103120"/>
            <a:ext cx="1737360" cy="91440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FFFFFF"/>
                </a:solidFill>
                <a:latin typeface="Bookman Old Style"/>
              </a:rPr>
              <a:t>≥ 0.5</a:t>
            </a:r>
          </a:p>
          <a:p>
            <a:pPr algn="ctr"/>
            <a:r>
              <a:rPr sz="1400" b="0" i="0">
                <a:solidFill>
                  <a:srgbClr val="FFFFFF"/>
                </a:solidFill>
                <a:latin typeface="Bookman Old Style"/>
              </a:rPr>
              <a:t>Disease</a:t>
            </a:r>
          </a:p>
        </p:txBody>
      </p:sp>
      <p:sp>
        <p:nvSpPr>
          <p:cNvPr id="12" name="Rounded Rectangle 11"/>
          <p:cNvSpPr/>
          <p:nvPr/>
        </p:nvSpPr>
        <p:spPr>
          <a:xfrm>
            <a:off x="10012680" y="3383280"/>
            <a:ext cx="1737360" cy="914400"/>
          </a:xfrm>
          <a:prstGeom prst="roundRect">
            <a:avLst>
              <a:gd name="adj" fmla="val 12000"/>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FFFFFF"/>
                </a:solidFill>
                <a:latin typeface="Bookman Old Style"/>
              </a:rPr>
              <a:t>&lt; 0.5</a:t>
            </a:r>
          </a:p>
          <a:p>
            <a:pPr algn="ctr"/>
            <a:r>
              <a:rPr sz="1400" b="0" i="0">
                <a:solidFill>
                  <a:srgbClr val="FFFFFF"/>
                </a:solidFill>
                <a:latin typeface="Bookman Old Style"/>
              </a:rPr>
              <a:t>No disease</a:t>
            </a:r>
          </a:p>
        </p:txBody>
      </p:sp>
      <p:sp>
        <p:nvSpPr>
          <p:cNvPr id="13" name="Rounded Rectangle 12"/>
          <p:cNvSpPr/>
          <p:nvPr/>
        </p:nvSpPr>
        <p:spPr>
          <a:xfrm>
            <a:off x="411480" y="4892040"/>
            <a:ext cx="11338560" cy="1188720"/>
          </a:xfrm>
          <a:prstGeom prst="roundRect">
            <a:avLst>
              <a:gd name="adj" fmla="val 12000"/>
            </a:avLst>
          </a:prstGeom>
          <a:solidFill>
            <a:srgbClr val="FFFFFF"/>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r>
              <a:rPr sz="1500" b="1" i="0">
                <a:solidFill>
                  <a:srgbClr val="002060"/>
                </a:solidFill>
                <a:latin typeface="Bookman Old Style"/>
              </a:rPr>
              <a:t>Training: </a:t>
            </a:r>
            <a:r>
              <a:rPr sz="1500" b="0" i="0">
                <a:solidFill>
                  <a:srgbClr val="1F2937"/>
                </a:solidFill>
                <a:latin typeface="Bookman Old Style"/>
              </a:rPr>
              <a:t>the model sees past patients with known answers and adjusts itself to make fewer mistakes.</a:t>
            </a:r>
          </a:p>
          <a:p>
            <a:pPr algn="l">
              <a:spcBef>
                <a:spcPts val="600"/>
              </a:spcBef>
            </a:pPr>
            <a:r>
              <a:rPr sz="1500" b="1" i="0">
                <a:solidFill>
                  <a:srgbClr val="002060"/>
                </a:solidFill>
                <a:latin typeface="Bookman Old Style"/>
              </a:rPr>
              <a:t>Testing: </a:t>
            </a:r>
            <a:r>
              <a:rPr sz="1500" b="0" i="0">
                <a:solidFill>
                  <a:srgbClr val="1F2937"/>
                </a:solidFill>
                <a:latin typeface="Bookman Old Style"/>
              </a:rPr>
              <a:t>we check it only on patients it has never seen, to measure honest performance.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a:solidFill>
                  <a:srgbClr val="C00000"/>
                </a:solidFill>
                <a:latin typeface="Bookman Old Style"/>
                <a:ea typeface="Bookman Old Style"/>
                <a:cs typeface="Bookman Old Style"/>
                <a:sym typeface="Bookman Old Style"/>
              </a:rPr>
              <a:t>Key Concept 2: Homomorphic Encryption</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4" name="Rounded Rectangle 3"/>
          <p:cNvSpPr/>
          <p:nvPr/>
        </p:nvSpPr>
        <p:spPr>
          <a:xfrm>
            <a:off x="411480" y="1188720"/>
            <a:ext cx="5532120" cy="59436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900" b="1" i="0">
                <a:solidFill>
                  <a:srgbClr val="FFFFFF"/>
                </a:solidFill>
                <a:latin typeface="Bookman Old Style"/>
              </a:rPr>
              <a:t>Normal encryption</a:t>
            </a:r>
          </a:p>
        </p:txBody>
      </p:sp>
      <p:sp>
        <p:nvSpPr>
          <p:cNvPr id="5" name="Oval 4"/>
          <p:cNvSpPr/>
          <p:nvPr/>
        </p:nvSpPr>
        <p:spPr>
          <a:xfrm>
            <a:off x="548640" y="1993392"/>
            <a:ext cx="457200" cy="45720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Bookman Old Style"/>
              </a:rPr>
              <a:t>1</a:t>
            </a:r>
          </a:p>
        </p:txBody>
      </p:sp>
      <p:sp>
        <p:nvSpPr>
          <p:cNvPr id="6" name="Rounded Rectangle 5"/>
          <p:cNvSpPr/>
          <p:nvPr/>
        </p:nvSpPr>
        <p:spPr>
          <a:xfrm>
            <a:off x="1143000" y="1920240"/>
            <a:ext cx="4800600" cy="603504"/>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500" b="0" i="0">
                <a:solidFill>
                  <a:srgbClr val="1F2937"/>
                </a:solidFill>
                <a:latin typeface="Bookman Old Style"/>
              </a:rPr>
              <a:t>Patient encrypts data</a:t>
            </a:r>
          </a:p>
        </p:txBody>
      </p:sp>
      <p:sp>
        <p:nvSpPr>
          <p:cNvPr id="7" name="Oval 6"/>
          <p:cNvSpPr/>
          <p:nvPr/>
        </p:nvSpPr>
        <p:spPr>
          <a:xfrm>
            <a:off x="548640" y="2770632"/>
            <a:ext cx="457200" cy="45720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Bookman Old Style"/>
              </a:rPr>
              <a:t>2</a:t>
            </a:r>
          </a:p>
        </p:txBody>
      </p:sp>
      <p:sp>
        <p:nvSpPr>
          <p:cNvPr id="8" name="Rounded Rectangle 7"/>
          <p:cNvSpPr/>
          <p:nvPr/>
        </p:nvSpPr>
        <p:spPr>
          <a:xfrm>
            <a:off x="1143000" y="2697480"/>
            <a:ext cx="4800600" cy="603504"/>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500" b="0" i="0">
                <a:solidFill>
                  <a:srgbClr val="1F2937"/>
                </a:solidFill>
                <a:latin typeface="Bookman Old Style"/>
              </a:rPr>
              <a:t>Server must DECRYPT to compute</a:t>
            </a:r>
          </a:p>
        </p:txBody>
      </p:sp>
      <p:sp>
        <p:nvSpPr>
          <p:cNvPr id="9" name="Oval 8"/>
          <p:cNvSpPr/>
          <p:nvPr/>
        </p:nvSpPr>
        <p:spPr>
          <a:xfrm>
            <a:off x="548640" y="3547872"/>
            <a:ext cx="457200" cy="45720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Bookman Old Style"/>
              </a:rPr>
              <a:t>3</a:t>
            </a:r>
          </a:p>
        </p:txBody>
      </p:sp>
      <p:sp>
        <p:nvSpPr>
          <p:cNvPr id="10" name="Rounded Rectangle 9"/>
          <p:cNvSpPr/>
          <p:nvPr/>
        </p:nvSpPr>
        <p:spPr>
          <a:xfrm>
            <a:off x="1143000" y="3474720"/>
            <a:ext cx="4800600" cy="603504"/>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500" b="0" i="0">
                <a:solidFill>
                  <a:srgbClr val="1F2937"/>
                </a:solidFill>
                <a:latin typeface="Bookman Old Style"/>
              </a:rPr>
              <a:t>Server sees the real values</a:t>
            </a:r>
          </a:p>
        </p:txBody>
      </p:sp>
      <p:sp>
        <p:nvSpPr>
          <p:cNvPr id="11" name="Rounded Rectangle 10"/>
          <p:cNvSpPr/>
          <p:nvPr/>
        </p:nvSpPr>
        <p:spPr>
          <a:xfrm>
            <a:off x="411480" y="4343400"/>
            <a:ext cx="5532120" cy="502920"/>
          </a:xfrm>
          <a:prstGeom prst="roundRect">
            <a:avLst>
              <a:gd name="adj" fmla="val 12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C00000"/>
                </a:solidFill>
                <a:latin typeface="Bookman Old Style"/>
              </a:rPr>
              <a:t>Data exposed during computation</a:t>
            </a:r>
          </a:p>
        </p:txBody>
      </p:sp>
      <p:sp>
        <p:nvSpPr>
          <p:cNvPr id="12" name="Rounded Rectangle 11"/>
          <p:cNvSpPr/>
          <p:nvPr/>
        </p:nvSpPr>
        <p:spPr>
          <a:xfrm>
            <a:off x="6217920" y="1188720"/>
            <a:ext cx="5532120" cy="594360"/>
          </a:xfrm>
          <a:prstGeom prst="roundRect">
            <a:avLst>
              <a:gd name="adj" fmla="val 12000"/>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900" b="1" i="0">
                <a:solidFill>
                  <a:srgbClr val="FFFFFF"/>
                </a:solidFill>
                <a:latin typeface="Bookman Old Style"/>
              </a:rPr>
              <a:t>Homomorphic encryption</a:t>
            </a:r>
          </a:p>
        </p:txBody>
      </p:sp>
      <p:sp>
        <p:nvSpPr>
          <p:cNvPr id="13" name="Oval 12"/>
          <p:cNvSpPr/>
          <p:nvPr/>
        </p:nvSpPr>
        <p:spPr>
          <a:xfrm>
            <a:off x="6355080" y="1993392"/>
            <a:ext cx="457200" cy="457200"/>
          </a:xfrm>
          <a:prstGeom prst="ellipse">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Bookman Old Style"/>
              </a:rPr>
              <a:t>1</a:t>
            </a:r>
          </a:p>
        </p:txBody>
      </p:sp>
      <p:sp>
        <p:nvSpPr>
          <p:cNvPr id="14" name="Rounded Rectangle 13"/>
          <p:cNvSpPr/>
          <p:nvPr/>
        </p:nvSpPr>
        <p:spPr>
          <a:xfrm>
            <a:off x="6949440" y="1920240"/>
            <a:ext cx="4800600" cy="603504"/>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500" b="0" i="0">
                <a:solidFill>
                  <a:srgbClr val="1F2937"/>
                </a:solidFill>
                <a:latin typeface="Bookman Old Style"/>
              </a:rPr>
              <a:t>Patient encrypts data</a:t>
            </a:r>
          </a:p>
        </p:txBody>
      </p:sp>
      <p:sp>
        <p:nvSpPr>
          <p:cNvPr id="15" name="Oval 14"/>
          <p:cNvSpPr/>
          <p:nvPr/>
        </p:nvSpPr>
        <p:spPr>
          <a:xfrm>
            <a:off x="6355080" y="2770632"/>
            <a:ext cx="457200" cy="457200"/>
          </a:xfrm>
          <a:prstGeom prst="ellipse">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Bookman Old Style"/>
              </a:rPr>
              <a:t>2</a:t>
            </a:r>
          </a:p>
        </p:txBody>
      </p:sp>
      <p:sp>
        <p:nvSpPr>
          <p:cNvPr id="16" name="Rounded Rectangle 15"/>
          <p:cNvSpPr/>
          <p:nvPr/>
        </p:nvSpPr>
        <p:spPr>
          <a:xfrm>
            <a:off x="6949440" y="2697480"/>
            <a:ext cx="4800600" cy="603504"/>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500" b="0" i="0">
                <a:solidFill>
                  <a:srgbClr val="1F2937"/>
                </a:solidFill>
                <a:latin typeface="Bookman Old Style"/>
              </a:rPr>
              <a:t>Server computes ON the encrypted data</a:t>
            </a:r>
          </a:p>
        </p:txBody>
      </p:sp>
      <p:sp>
        <p:nvSpPr>
          <p:cNvPr id="17" name="Oval 16"/>
          <p:cNvSpPr/>
          <p:nvPr/>
        </p:nvSpPr>
        <p:spPr>
          <a:xfrm>
            <a:off x="6355080" y="3547872"/>
            <a:ext cx="457200" cy="457200"/>
          </a:xfrm>
          <a:prstGeom prst="ellipse">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Bookman Old Style"/>
              </a:rPr>
              <a:t>3</a:t>
            </a:r>
          </a:p>
        </p:txBody>
      </p:sp>
      <p:sp>
        <p:nvSpPr>
          <p:cNvPr id="18" name="Rounded Rectangle 17"/>
          <p:cNvSpPr/>
          <p:nvPr/>
        </p:nvSpPr>
        <p:spPr>
          <a:xfrm>
            <a:off x="6949440" y="3474720"/>
            <a:ext cx="4800600" cy="603504"/>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500" b="0" i="0">
                <a:solidFill>
                  <a:srgbClr val="1F2937"/>
                </a:solidFill>
                <a:latin typeface="Bookman Old Style"/>
              </a:rPr>
              <a:t>Server never sees the real values</a:t>
            </a:r>
          </a:p>
        </p:txBody>
      </p:sp>
      <p:sp>
        <p:nvSpPr>
          <p:cNvPr id="19" name="Rounded Rectangle 18"/>
          <p:cNvSpPr/>
          <p:nvPr/>
        </p:nvSpPr>
        <p:spPr>
          <a:xfrm>
            <a:off x="6217920" y="4343400"/>
            <a:ext cx="5532120" cy="502920"/>
          </a:xfrm>
          <a:prstGeom prst="roundRect">
            <a:avLst>
              <a:gd name="adj" fmla="val 12000"/>
            </a:avLst>
          </a:prstGeom>
          <a:solidFill>
            <a:srgbClr val="FFFFFF"/>
          </a:solidFill>
          <a:ln w="12700">
            <a:solidFill>
              <a:srgbClr val="1E7B4F"/>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1E7B4F"/>
                </a:solidFill>
                <a:latin typeface="Bookman Old Style"/>
              </a:rPr>
              <a:t>Data protected the whole time</a:t>
            </a:r>
          </a:p>
        </p:txBody>
      </p:sp>
      <p:sp>
        <p:nvSpPr>
          <p:cNvPr id="20" name="Rounded Rectangle 19"/>
          <p:cNvSpPr/>
          <p:nvPr/>
        </p:nvSpPr>
        <p:spPr>
          <a:xfrm>
            <a:off x="411480" y="5029200"/>
            <a:ext cx="11338560" cy="109728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r>
              <a:rPr sz="1600" b="1" i="0">
                <a:solidFill>
                  <a:srgbClr val="002060"/>
                </a:solidFill>
                <a:latin typeface="Bookman Old Style"/>
              </a:rPr>
              <a:t>Tiny example: </a:t>
            </a:r>
            <a:r>
              <a:rPr sz="1600" b="0" i="0">
                <a:solidFill>
                  <a:srgbClr val="1F2937"/>
                </a:solidFill>
                <a:latin typeface="Bookman Old Style"/>
              </a:rPr>
              <a:t>Enc(3) + Enc(4) = Enc(7). The server adds two locked numbers and gets a locked 7. It never learns 3, 4 or 7. Only the key owner can unlock the answer.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a:solidFill>
                  <a:srgbClr val="C00000"/>
                </a:solidFill>
                <a:latin typeface="Bookman Old Style"/>
                <a:ea typeface="Bookman Old Style"/>
                <a:cs typeface="Bookman Old Style"/>
                <a:sym typeface="Bookman Old Style"/>
              </a:rPr>
              <a:t>Key Concept 3: Why FHE for Healthcare</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4" name="TextBox 3"/>
          <p:cNvSpPr txBox="1"/>
          <p:nvPr/>
        </p:nvSpPr>
        <p:spPr>
          <a:xfrm>
            <a:off x="411480" y="1234440"/>
            <a:ext cx="5486400" cy="365760"/>
          </a:xfrm>
          <a:prstGeom prst="rect">
            <a:avLst/>
          </a:prstGeom>
          <a:noFill/>
        </p:spPr>
        <p:txBody>
          <a:bodyPr wrap="square" lIns="45720" rIns="45720" anchor="t">
            <a:spAutoFit/>
          </a:bodyPr>
          <a:lstStyle/>
          <a:p>
            <a:pPr algn="l"/>
            <a:r>
              <a:rPr sz="1800" b="1" i="0">
                <a:solidFill>
                  <a:srgbClr val="C00000"/>
                </a:solidFill>
                <a:latin typeface="Bookman Old Style"/>
              </a:rPr>
              <a:t>Normal cloud AI</a:t>
            </a:r>
          </a:p>
        </p:txBody>
      </p:sp>
      <p:sp>
        <p:nvSpPr>
          <p:cNvPr id="5" name="Oval 4"/>
          <p:cNvSpPr/>
          <p:nvPr/>
        </p:nvSpPr>
        <p:spPr>
          <a:xfrm>
            <a:off x="548640" y="1691640"/>
            <a:ext cx="1005840" cy="100584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i="0">
                <a:solidFill>
                  <a:srgbClr val="FFFFFF"/>
                </a:solidFill>
                <a:latin typeface="Bookman Old Style"/>
              </a:rPr>
              <a:t>Patient</a:t>
            </a:r>
          </a:p>
        </p:txBody>
      </p:sp>
      <p:cxnSp>
        <p:nvCxnSpPr>
          <p:cNvPr id="6" name="Connector 5"/>
          <p:cNvCxnSpPr/>
          <p:nvPr/>
        </p:nvCxnSpPr>
        <p:spPr>
          <a:xfrm>
            <a:off x="1645920" y="2194560"/>
            <a:ext cx="3383280" cy="0"/>
          </a:xfrm>
          <a:prstGeom prst="line">
            <a:avLst/>
          </a:prstGeom>
          <a:ln w="3175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645920" y="1737360"/>
            <a:ext cx="3383280" cy="365760"/>
          </a:xfrm>
          <a:prstGeom prst="rect">
            <a:avLst/>
          </a:prstGeom>
          <a:noFill/>
        </p:spPr>
        <p:txBody>
          <a:bodyPr wrap="square" lIns="45720" rIns="45720" anchor="t">
            <a:spAutoFit/>
          </a:bodyPr>
          <a:lstStyle/>
          <a:p>
            <a:pPr algn="ctr"/>
            <a:r>
              <a:rPr sz="1300" b="0" i="0">
                <a:solidFill>
                  <a:srgbClr val="1F2937"/>
                </a:solidFill>
                <a:latin typeface="Bookman Old Style"/>
              </a:rPr>
              <a:t>age 63, BP 145, chol 233 …</a:t>
            </a:r>
          </a:p>
        </p:txBody>
      </p:sp>
      <p:sp>
        <p:nvSpPr>
          <p:cNvPr id="8" name="Oval 7"/>
          <p:cNvSpPr/>
          <p:nvPr/>
        </p:nvSpPr>
        <p:spPr>
          <a:xfrm>
            <a:off x="5120640" y="1691640"/>
            <a:ext cx="1005840" cy="100584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i="0">
                <a:solidFill>
                  <a:srgbClr val="FFFFFF"/>
                </a:solidFill>
                <a:latin typeface="Bookman Old Style"/>
              </a:rPr>
              <a:t>Server</a:t>
            </a:r>
          </a:p>
        </p:txBody>
      </p:sp>
      <p:sp>
        <p:nvSpPr>
          <p:cNvPr id="9" name="Rounded Rectangle 8"/>
          <p:cNvSpPr/>
          <p:nvPr/>
        </p:nvSpPr>
        <p:spPr>
          <a:xfrm>
            <a:off x="6400800" y="1645920"/>
            <a:ext cx="5349240" cy="1097280"/>
          </a:xfrm>
          <a:prstGeom prst="roundRect">
            <a:avLst>
              <a:gd name="adj" fmla="val 12000"/>
            </a:avLst>
          </a:prstGeom>
          <a:solidFill>
            <a:srgbClr val="F8D7D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r>
              <a:rPr sz="1500" b="0" i="0">
                <a:solidFill>
                  <a:srgbClr val="1F2937"/>
                </a:solidFill>
                <a:latin typeface="Bookman Old Style"/>
              </a:rPr>
              <a:t>Server reads every value. One leak exposes the full medical record.</a:t>
            </a:r>
          </a:p>
        </p:txBody>
      </p:sp>
      <p:sp>
        <p:nvSpPr>
          <p:cNvPr id="10" name="TextBox 9"/>
          <p:cNvSpPr txBox="1"/>
          <p:nvPr/>
        </p:nvSpPr>
        <p:spPr>
          <a:xfrm>
            <a:off x="411480" y="2971800"/>
            <a:ext cx="5486400" cy="365760"/>
          </a:xfrm>
          <a:prstGeom prst="rect">
            <a:avLst/>
          </a:prstGeom>
          <a:noFill/>
        </p:spPr>
        <p:txBody>
          <a:bodyPr wrap="square" lIns="45720" rIns="45720" anchor="t">
            <a:spAutoFit/>
          </a:bodyPr>
          <a:lstStyle/>
          <a:p>
            <a:pPr algn="l"/>
            <a:r>
              <a:rPr sz="1800" b="1" i="0">
                <a:solidFill>
                  <a:srgbClr val="1E7B4F"/>
                </a:solidFill>
                <a:latin typeface="Bookman Old Style"/>
              </a:rPr>
              <a:t>With FHE (our project)</a:t>
            </a:r>
          </a:p>
        </p:txBody>
      </p:sp>
      <p:sp>
        <p:nvSpPr>
          <p:cNvPr id="11" name="Oval 10"/>
          <p:cNvSpPr/>
          <p:nvPr/>
        </p:nvSpPr>
        <p:spPr>
          <a:xfrm>
            <a:off x="548640" y="3429000"/>
            <a:ext cx="1005840" cy="100584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i="0">
                <a:solidFill>
                  <a:srgbClr val="FFFFFF"/>
                </a:solidFill>
                <a:latin typeface="Bookman Old Style"/>
              </a:rPr>
              <a:t>Patient</a:t>
            </a:r>
          </a:p>
        </p:txBody>
      </p:sp>
      <p:cxnSp>
        <p:nvCxnSpPr>
          <p:cNvPr id="12" name="Connector 11"/>
          <p:cNvCxnSpPr/>
          <p:nvPr/>
        </p:nvCxnSpPr>
        <p:spPr>
          <a:xfrm>
            <a:off x="1645920" y="3931920"/>
            <a:ext cx="3383280" cy="0"/>
          </a:xfrm>
          <a:prstGeom prst="line">
            <a:avLst/>
          </a:prstGeom>
          <a:ln w="31750">
            <a:solidFill>
              <a:srgbClr val="1E7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645920" y="3474720"/>
            <a:ext cx="3383280" cy="365760"/>
          </a:xfrm>
          <a:prstGeom prst="rect">
            <a:avLst/>
          </a:prstGeom>
          <a:noFill/>
        </p:spPr>
        <p:txBody>
          <a:bodyPr wrap="square" lIns="45720" rIns="45720" anchor="t">
            <a:spAutoFit/>
          </a:bodyPr>
          <a:lstStyle/>
          <a:p>
            <a:pPr algn="ctr"/>
            <a:r>
              <a:rPr sz="1300" b="0" i="0">
                <a:solidFill>
                  <a:srgbClr val="1F2937"/>
                </a:solidFill>
                <a:latin typeface="Bookman Old Style"/>
              </a:rPr>
              <a:t>encrypted: unreadable bytes</a:t>
            </a:r>
          </a:p>
        </p:txBody>
      </p:sp>
      <p:sp>
        <p:nvSpPr>
          <p:cNvPr id="14" name="Oval 13"/>
          <p:cNvSpPr/>
          <p:nvPr/>
        </p:nvSpPr>
        <p:spPr>
          <a:xfrm>
            <a:off x="5120640" y="3429000"/>
            <a:ext cx="1005840" cy="100584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i="0">
                <a:solidFill>
                  <a:srgbClr val="FFFFFF"/>
                </a:solidFill>
                <a:latin typeface="Bookman Old Style"/>
              </a:rPr>
              <a:t>Server</a:t>
            </a:r>
          </a:p>
        </p:txBody>
      </p:sp>
      <p:sp>
        <p:nvSpPr>
          <p:cNvPr id="15" name="Rounded Rectangle 14"/>
          <p:cNvSpPr/>
          <p:nvPr/>
        </p:nvSpPr>
        <p:spPr>
          <a:xfrm>
            <a:off x="6400800" y="3383280"/>
            <a:ext cx="5349240" cy="1097280"/>
          </a:xfrm>
          <a:prstGeom prst="roundRect">
            <a:avLst>
              <a:gd name="adj" fmla="val 12000"/>
            </a:avLst>
          </a:prstGeom>
          <a:solidFill>
            <a:srgbClr val="DDF1E6"/>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r>
              <a:rPr sz="1500" b="0" i="0">
                <a:solidFill>
                  <a:srgbClr val="1F2937"/>
                </a:solidFill>
                <a:latin typeface="Bookman Old Style"/>
              </a:rPr>
              <a:t>Server computes the prediction on ciphertext and returns an encrypted answer only the patient can unlock.</a:t>
            </a:r>
          </a:p>
        </p:txBody>
      </p:sp>
      <p:sp>
        <p:nvSpPr>
          <p:cNvPr id="16" name="Rounded Rectangle 15"/>
          <p:cNvSpPr/>
          <p:nvPr/>
        </p:nvSpPr>
        <p:spPr>
          <a:xfrm>
            <a:off x="411480" y="4892040"/>
            <a:ext cx="11338560" cy="11887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r>
              <a:rPr sz="1600" b="1" i="0">
                <a:solidFill>
                  <a:srgbClr val="002060"/>
                </a:solidFill>
                <a:latin typeface="Bookman Old Style"/>
              </a:rPr>
              <a:t>Analogy: </a:t>
            </a:r>
            <a:r>
              <a:rPr sz="1600" b="0" i="0">
                <a:solidFill>
                  <a:srgbClr val="1F2937"/>
                </a:solidFill>
                <a:latin typeface="Bookman Old Style"/>
              </a:rPr>
              <a:t>a jeweller works on gold inside a locked glovebox. Their hands can shape it, but they can never take it out. Only the owner holds the key.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graphicFrame>
        <p:nvGraphicFramePr>
          <p:cNvPr id="4" name="Table 3"/>
          <p:cNvGraphicFramePr>
            <a:graphicFrameLocks noGrp="1"/>
          </p:cNvGraphicFramePr>
          <p:nvPr/>
        </p:nvGraphicFramePr>
        <p:xfrm>
          <a:off x="274320" y="1097280"/>
          <a:ext cx="11658599" cy="4352544"/>
        </p:xfrm>
        <a:graphic>
          <a:graphicData uri="http://schemas.openxmlformats.org/drawingml/2006/table">
            <a:tbl>
              <a:tblPr>
                <a:tableStyleId>{5940675A-B579-460E-94D1-54222C63F5DA}</a:tableStyleId>
              </a:tblPr>
              <a:tblGrid>
                <a:gridCol w="18288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2240280">
                  <a:extLst>
                    <a:ext uri="{9D8B030D-6E8A-4147-A177-3AD203B41FA5}">
                      <a16:colId xmlns:a16="http://schemas.microsoft.com/office/drawing/2014/main" val="20004"/>
                    </a:ext>
                  </a:extLst>
                </a:gridCol>
              </a:tblGrid>
              <a:tr h="621792">
                <a:tc>
                  <a:txBody>
                    <a:bodyPr/>
                    <a:lstStyle/>
                    <a:p>
                      <a:pPr algn="l"/>
                      <a:r>
                        <a:rPr sz="1050" b="1" i="0">
                          <a:solidFill>
                            <a:srgbClr val="FFFFFF"/>
                          </a:solidFill>
                          <a:latin typeface="Bookman Old Style"/>
                        </a:rPr>
                        <a:t>Authors (Year)</a:t>
                      </a:r>
                    </a:p>
                  </a:txBody>
                  <a:tcPr marL="73152" marR="73152" marT="36576" marB="36576" anchor="ctr">
                    <a:solidFill>
                      <a:srgbClr val="002060"/>
                    </a:solidFill>
                  </a:tcPr>
                </a:tc>
                <a:tc>
                  <a:txBody>
                    <a:bodyPr/>
                    <a:lstStyle/>
                    <a:p>
                      <a:pPr algn="l"/>
                      <a:r>
                        <a:rPr sz="1050" b="1" i="0">
                          <a:solidFill>
                            <a:srgbClr val="FFFFFF"/>
                          </a:solidFill>
                          <a:latin typeface="Bookman Old Style"/>
                        </a:rPr>
                        <a:t>Paper title</a:t>
                      </a:r>
                    </a:p>
                  </a:txBody>
                  <a:tcPr marL="73152" marR="73152" marT="36576" marB="36576" anchor="ctr">
                    <a:solidFill>
                      <a:srgbClr val="002060"/>
                    </a:solidFill>
                  </a:tcPr>
                </a:tc>
                <a:tc>
                  <a:txBody>
                    <a:bodyPr/>
                    <a:lstStyle/>
                    <a:p>
                      <a:pPr algn="l"/>
                      <a:r>
                        <a:rPr sz="1050" b="1" i="0">
                          <a:solidFill>
                            <a:srgbClr val="FFFFFF"/>
                          </a:solidFill>
                          <a:latin typeface="Bookman Old Style"/>
                        </a:rPr>
                        <a:t>Journal (Publisher)</a:t>
                      </a:r>
                    </a:p>
                  </a:txBody>
                  <a:tcPr marL="73152" marR="73152" marT="36576" marB="36576" anchor="ctr">
                    <a:solidFill>
                      <a:srgbClr val="002060"/>
                    </a:solidFill>
                  </a:tcPr>
                </a:tc>
                <a:tc>
                  <a:txBody>
                    <a:bodyPr/>
                    <a:lstStyle/>
                    <a:p>
                      <a:pPr algn="l"/>
                      <a:r>
                        <a:rPr sz="1050" b="1" i="0">
                          <a:solidFill>
                            <a:srgbClr val="FFFFFF"/>
                          </a:solidFill>
                          <a:latin typeface="Bookman Old Style"/>
                        </a:rPr>
                        <a:t>Key contribution</a:t>
                      </a:r>
                    </a:p>
                  </a:txBody>
                  <a:tcPr marL="73152" marR="73152" marT="36576" marB="36576" anchor="ctr">
                    <a:solidFill>
                      <a:srgbClr val="002060"/>
                    </a:solidFill>
                  </a:tcPr>
                </a:tc>
                <a:tc>
                  <a:txBody>
                    <a:bodyPr/>
                    <a:lstStyle/>
                    <a:p>
                      <a:pPr algn="l"/>
                      <a:r>
                        <a:rPr sz="1050" b="1" i="0">
                          <a:solidFill>
                            <a:srgbClr val="FFFFFF"/>
                          </a:solidFill>
                          <a:latin typeface="Bookman Old Style"/>
                        </a:rPr>
                        <a:t>Relevance to our project</a:t>
                      </a:r>
                    </a:p>
                  </a:txBody>
                  <a:tcPr marL="73152" marR="73152" marT="36576" marB="36576" anchor="ctr">
                    <a:solidFill>
                      <a:srgbClr val="002060"/>
                    </a:solidFill>
                  </a:tcPr>
                </a:tc>
                <a:extLst>
                  <a:ext uri="{0D108BD9-81ED-4DB2-BD59-A6C34878D82A}">
                    <a16:rowId xmlns:a16="http://schemas.microsoft.com/office/drawing/2014/main" val="10000"/>
                  </a:ext>
                </a:extLst>
              </a:tr>
              <a:tr h="621792">
                <a:tc>
                  <a:txBody>
                    <a:bodyPr/>
                    <a:lstStyle/>
                    <a:p>
                      <a:pPr algn="l"/>
                      <a:r>
                        <a:rPr sz="1050" b="0" i="0">
                          <a:solidFill>
                            <a:srgbClr val="1F2937"/>
                          </a:solidFill>
                          <a:latin typeface="Bookman Old Style"/>
                        </a:rPr>
                        <a:t>Naresh &amp; Reddi (2025)  [BASE PAPER]</a:t>
                      </a:r>
                    </a:p>
                  </a:txBody>
                  <a:tcPr marL="73152" marR="73152" marT="36576" marB="36576" anchor="ctr">
                    <a:solidFill>
                      <a:srgbClr val="F8D7D7"/>
                    </a:solidFill>
                  </a:tcPr>
                </a:tc>
                <a:tc>
                  <a:txBody>
                    <a:bodyPr/>
                    <a:lstStyle/>
                    <a:p>
                      <a:pPr algn="l"/>
                      <a:r>
                        <a:rPr sz="1050" b="0" i="0">
                          <a:solidFill>
                            <a:srgbClr val="1F2937"/>
                          </a:solidFill>
                          <a:latin typeface="Bookman Old Style"/>
                        </a:rPr>
                        <a:t>Exploring the future of privacy-preserving heart disease prediction: an FHE-driven logistic regression approach</a:t>
                      </a:r>
                    </a:p>
                  </a:txBody>
                  <a:tcPr marL="73152" marR="73152" marT="36576" marB="36576" anchor="ctr">
                    <a:solidFill>
                      <a:srgbClr val="F8D7D7"/>
                    </a:solidFill>
                  </a:tcPr>
                </a:tc>
                <a:tc>
                  <a:txBody>
                    <a:bodyPr/>
                    <a:lstStyle/>
                    <a:p>
                      <a:pPr algn="l"/>
                      <a:r>
                        <a:rPr sz="1050" b="0" i="0">
                          <a:solidFill>
                            <a:srgbClr val="1F2937"/>
                          </a:solidFill>
                          <a:latin typeface="Bookman Old Style"/>
                        </a:rPr>
                        <a:t>Journal of Big Data (Springer)</a:t>
                      </a:r>
                    </a:p>
                  </a:txBody>
                  <a:tcPr marL="73152" marR="73152" marT="36576" marB="36576" anchor="ctr">
                    <a:solidFill>
                      <a:srgbClr val="F8D7D7"/>
                    </a:solidFill>
                  </a:tcPr>
                </a:tc>
                <a:tc>
                  <a:txBody>
                    <a:bodyPr/>
                    <a:lstStyle/>
                    <a:p>
                      <a:pPr algn="l"/>
                      <a:r>
                        <a:rPr sz="1050" b="0" i="0">
                          <a:solidFill>
                            <a:srgbClr val="1F2937"/>
                          </a:solidFill>
                          <a:latin typeface="Bookman Old Style"/>
                        </a:rPr>
                        <a:t>Logistic regression on CKKS-encrypted heart data; accuracy within 1–3% of unencrypted.</a:t>
                      </a:r>
                    </a:p>
                  </a:txBody>
                  <a:tcPr marL="73152" marR="73152" marT="36576" marB="36576" anchor="ctr">
                    <a:solidFill>
                      <a:srgbClr val="F8D7D7"/>
                    </a:solidFill>
                  </a:tcPr>
                </a:tc>
                <a:tc>
                  <a:txBody>
                    <a:bodyPr/>
                    <a:lstStyle/>
                    <a:p>
                      <a:pPr algn="l"/>
                      <a:r>
                        <a:rPr sz="1050" b="0" i="0">
                          <a:solidFill>
                            <a:srgbClr val="1F2937"/>
                          </a:solidFill>
                          <a:latin typeface="Bookman Old Style"/>
                        </a:rPr>
                        <a:t>Same task and model we encrypt; we extend it.</a:t>
                      </a:r>
                    </a:p>
                  </a:txBody>
                  <a:tcPr marL="73152" marR="73152" marT="36576" marB="36576" anchor="ctr">
                    <a:solidFill>
                      <a:srgbClr val="F8D7D7"/>
                    </a:solidFill>
                  </a:tcPr>
                </a:tc>
                <a:extLst>
                  <a:ext uri="{0D108BD9-81ED-4DB2-BD59-A6C34878D82A}">
                    <a16:rowId xmlns:a16="http://schemas.microsoft.com/office/drawing/2014/main" val="10001"/>
                  </a:ext>
                </a:extLst>
              </a:tr>
              <a:tr h="621792">
                <a:tc>
                  <a:txBody>
                    <a:bodyPr/>
                    <a:lstStyle/>
                    <a:p>
                      <a:pPr algn="l"/>
                      <a:r>
                        <a:rPr sz="1050" b="0" i="0">
                          <a:solidFill>
                            <a:srgbClr val="1F2937"/>
                          </a:solidFill>
                          <a:latin typeface="Bookman Old Style"/>
                        </a:rPr>
                        <a:t>Dziri et al. (2025)</a:t>
                      </a:r>
                    </a:p>
                  </a:txBody>
                  <a:tcPr marL="73152" marR="73152" marT="36576" marB="36576" anchor="ctr">
                    <a:solidFill>
                      <a:srgbClr val="E8EDF6"/>
                    </a:solidFill>
                  </a:tcPr>
                </a:tc>
                <a:tc>
                  <a:txBody>
                    <a:bodyPr/>
                    <a:lstStyle/>
                    <a:p>
                      <a:pPr algn="l"/>
                      <a:r>
                        <a:rPr sz="1050" b="0" i="0">
                          <a:solidFill>
                            <a:srgbClr val="1F2937"/>
                          </a:solidFill>
                          <a:latin typeface="Bookman Old Style"/>
                        </a:rPr>
                        <a:t>Privacy-preserving ML for heart disease detection using FHE</a:t>
                      </a:r>
                    </a:p>
                  </a:txBody>
                  <a:tcPr marL="73152" marR="73152" marT="36576" marB="36576" anchor="ctr">
                    <a:solidFill>
                      <a:srgbClr val="E8EDF6"/>
                    </a:solidFill>
                  </a:tcPr>
                </a:tc>
                <a:tc>
                  <a:txBody>
                    <a:bodyPr/>
                    <a:lstStyle/>
                    <a:p>
                      <a:pPr algn="l"/>
                      <a:r>
                        <a:rPr sz="1050" b="0" i="0">
                          <a:solidFill>
                            <a:srgbClr val="1F2937"/>
                          </a:solidFill>
                          <a:latin typeface="Bookman Old Style"/>
                        </a:rPr>
                        <a:t>TechRxiv (preprint)</a:t>
                      </a:r>
                    </a:p>
                  </a:txBody>
                  <a:tcPr marL="73152" marR="73152" marT="36576" marB="36576" anchor="ctr">
                    <a:solidFill>
                      <a:srgbClr val="E8EDF6"/>
                    </a:solidFill>
                  </a:tcPr>
                </a:tc>
                <a:tc>
                  <a:txBody>
                    <a:bodyPr/>
                    <a:lstStyle/>
                    <a:p>
                      <a:pPr algn="l"/>
                      <a:r>
                        <a:rPr sz="1050" b="0" i="0">
                          <a:solidFill>
                            <a:srgbClr val="1F2937"/>
                          </a:solidFill>
                          <a:latin typeface="Bookman Old Style"/>
                        </a:rPr>
                        <a:t>5 models (LR, SVM, DT, RF, NN) under CKKS; up to 100% agreement with plaintext.</a:t>
                      </a:r>
                    </a:p>
                  </a:txBody>
                  <a:tcPr marL="73152" marR="73152" marT="36576" marB="36576" anchor="ctr">
                    <a:solidFill>
                      <a:srgbClr val="E8EDF6"/>
                    </a:solidFill>
                  </a:tcPr>
                </a:tc>
                <a:tc>
                  <a:txBody>
                    <a:bodyPr/>
                    <a:lstStyle/>
                    <a:p>
                      <a:pPr algn="l"/>
                      <a:r>
                        <a:rPr sz="1050" b="0" i="0">
                          <a:solidFill>
                            <a:srgbClr val="1F2937"/>
                          </a:solidFill>
                          <a:latin typeface="Bookman Old Style"/>
                        </a:rPr>
                        <a:t>Shows encrypted cost grows with model complexity.</a:t>
                      </a:r>
                    </a:p>
                  </a:txBody>
                  <a:tcPr marL="73152" marR="73152" marT="36576" marB="36576" anchor="ctr">
                    <a:solidFill>
                      <a:srgbClr val="E8EDF6"/>
                    </a:solidFill>
                  </a:tcPr>
                </a:tc>
                <a:extLst>
                  <a:ext uri="{0D108BD9-81ED-4DB2-BD59-A6C34878D82A}">
                    <a16:rowId xmlns:a16="http://schemas.microsoft.com/office/drawing/2014/main" val="10002"/>
                  </a:ext>
                </a:extLst>
              </a:tr>
              <a:tr h="621792">
                <a:tc>
                  <a:txBody>
                    <a:bodyPr/>
                    <a:lstStyle/>
                    <a:p>
                      <a:pPr algn="l"/>
                      <a:r>
                        <a:rPr sz="1050" b="0" i="0">
                          <a:solidFill>
                            <a:srgbClr val="1F2937"/>
                          </a:solidFill>
                          <a:latin typeface="Bookman Old Style"/>
                        </a:rPr>
                        <a:t>Zimerman et al. (2024)</a:t>
                      </a:r>
                    </a:p>
                  </a:txBody>
                  <a:tcPr marL="73152" marR="73152" marT="36576" marB="36576" anchor="ctr">
                    <a:solidFill>
                      <a:srgbClr val="FFFFFF"/>
                    </a:solidFill>
                  </a:tcPr>
                </a:tc>
                <a:tc>
                  <a:txBody>
                    <a:bodyPr/>
                    <a:lstStyle/>
                    <a:p>
                      <a:pPr algn="l"/>
                      <a:r>
                        <a:rPr sz="1050" b="0" i="0">
                          <a:solidFill>
                            <a:srgbClr val="1F2937"/>
                          </a:solidFill>
                          <a:latin typeface="Bookman Old Style"/>
                        </a:rPr>
                        <a:t>Converting transformers to polynomial form for secure inference over homomorphic encryption</a:t>
                      </a:r>
                    </a:p>
                  </a:txBody>
                  <a:tcPr marL="73152" marR="73152" marT="36576" marB="36576" anchor="ctr">
                    <a:solidFill>
                      <a:srgbClr val="FFFFFF"/>
                    </a:solidFill>
                  </a:tcPr>
                </a:tc>
                <a:tc>
                  <a:txBody>
                    <a:bodyPr/>
                    <a:lstStyle/>
                    <a:p>
                      <a:pPr algn="l"/>
                      <a:r>
                        <a:rPr sz="1050" b="0" i="0">
                          <a:solidFill>
                            <a:srgbClr val="1F2937"/>
                          </a:solidFill>
                          <a:latin typeface="Bookman Old Style"/>
                        </a:rPr>
                        <a:t>ICML 2024 (PMLR)</a:t>
                      </a:r>
                    </a:p>
                  </a:txBody>
                  <a:tcPr marL="73152" marR="73152" marT="36576" marB="36576" anchor="ctr">
                    <a:solidFill>
                      <a:srgbClr val="FFFFFF"/>
                    </a:solidFill>
                  </a:tcPr>
                </a:tc>
                <a:tc>
                  <a:txBody>
                    <a:bodyPr/>
                    <a:lstStyle/>
                    <a:p>
                      <a:pPr algn="l"/>
                      <a:r>
                        <a:rPr sz="1050" b="0" i="0">
                          <a:solidFill>
                            <a:srgbClr val="1F2937"/>
                          </a:solidFill>
                          <a:latin typeface="Bookman Old Style"/>
                        </a:rPr>
                        <a:t>Replaces non-linear operations with polynomials so whole networks run on encrypted data.</a:t>
                      </a:r>
                    </a:p>
                  </a:txBody>
                  <a:tcPr marL="73152" marR="73152" marT="36576" marB="36576" anchor="ctr">
                    <a:solidFill>
                      <a:srgbClr val="FFFFFF"/>
                    </a:solidFill>
                  </a:tcPr>
                </a:tc>
                <a:tc>
                  <a:txBody>
                    <a:bodyPr/>
                    <a:lstStyle/>
                    <a:p>
                      <a:pPr algn="l"/>
                      <a:r>
                        <a:rPr sz="1050" b="0" i="0">
                          <a:solidFill>
                            <a:srgbClr val="1F2937"/>
                          </a:solidFill>
                          <a:latin typeface="Bookman Old Style"/>
                        </a:rPr>
                        <a:t>Basis for replacing the MLP activation with a polynomial.</a:t>
                      </a:r>
                    </a:p>
                  </a:txBody>
                  <a:tcPr marL="73152" marR="73152" marT="36576" marB="36576" anchor="ctr">
                    <a:solidFill>
                      <a:srgbClr val="FFFFFF"/>
                    </a:solidFill>
                  </a:tcPr>
                </a:tc>
                <a:extLst>
                  <a:ext uri="{0D108BD9-81ED-4DB2-BD59-A6C34878D82A}">
                    <a16:rowId xmlns:a16="http://schemas.microsoft.com/office/drawing/2014/main" val="10003"/>
                  </a:ext>
                </a:extLst>
              </a:tr>
              <a:tr h="621792">
                <a:tc>
                  <a:txBody>
                    <a:bodyPr/>
                    <a:lstStyle/>
                    <a:p>
                      <a:pPr algn="l"/>
                      <a:r>
                        <a:rPr sz="1050" b="0" i="0">
                          <a:solidFill>
                            <a:srgbClr val="1F2937"/>
                          </a:solidFill>
                          <a:latin typeface="Bookman Old Style"/>
                        </a:rPr>
                        <a:t>Ku et al. (2025)</a:t>
                      </a:r>
                    </a:p>
                  </a:txBody>
                  <a:tcPr marL="73152" marR="73152" marT="36576" marB="36576" anchor="ctr">
                    <a:solidFill>
                      <a:srgbClr val="E8EDF6"/>
                    </a:solidFill>
                  </a:tcPr>
                </a:tc>
                <a:tc>
                  <a:txBody>
                    <a:bodyPr/>
                    <a:lstStyle/>
                    <a:p>
                      <a:pPr algn="l"/>
                      <a:r>
                        <a:rPr sz="1050" b="0" i="0">
                          <a:solidFill>
                            <a:srgbClr val="1F2937"/>
                          </a:solidFill>
                          <a:latin typeface="Bookman Old Style"/>
                        </a:rPr>
                        <a:t>Optimizing encrypted neural networks: model design, quantization and fine-tuning using FHEW/TFHE</a:t>
                      </a:r>
                    </a:p>
                  </a:txBody>
                  <a:tcPr marL="73152" marR="73152" marT="36576" marB="36576" anchor="ctr">
                    <a:solidFill>
                      <a:srgbClr val="E8EDF6"/>
                    </a:solidFill>
                  </a:tcPr>
                </a:tc>
                <a:tc>
                  <a:txBody>
                    <a:bodyPr/>
                    <a:lstStyle/>
                    <a:p>
                      <a:pPr algn="l"/>
                      <a:r>
                        <a:rPr sz="1050" b="0" i="0">
                          <a:solidFill>
                            <a:srgbClr val="1F2937"/>
                          </a:solidFill>
                          <a:latin typeface="Bookman Old Style"/>
                        </a:rPr>
                        <a:t>PoPETs 2025</a:t>
                      </a:r>
                    </a:p>
                  </a:txBody>
                  <a:tcPr marL="73152" marR="73152" marT="36576" marB="36576" anchor="ctr">
                    <a:solidFill>
                      <a:srgbClr val="E8EDF6"/>
                    </a:solidFill>
                  </a:tcPr>
                </a:tc>
                <a:tc>
                  <a:txBody>
                    <a:bodyPr/>
                    <a:lstStyle/>
                    <a:p>
                      <a:pPr algn="l"/>
                      <a:r>
                        <a:rPr sz="1050" b="0" i="0">
                          <a:solidFill>
                            <a:srgbClr val="1F2937"/>
                          </a:solidFill>
                          <a:latin typeface="Bookman Old Style"/>
                        </a:rPr>
                        <a:t>Quantisation and fine-tuning keep encrypted NN accuracy high under TFHE.</a:t>
                      </a:r>
                    </a:p>
                  </a:txBody>
                  <a:tcPr marL="73152" marR="73152" marT="36576" marB="36576" anchor="ctr">
                    <a:solidFill>
                      <a:srgbClr val="E8EDF6"/>
                    </a:solidFill>
                  </a:tcPr>
                </a:tc>
                <a:tc>
                  <a:txBody>
                    <a:bodyPr/>
                    <a:lstStyle/>
                    <a:p>
                      <a:pPr algn="l"/>
                      <a:r>
                        <a:rPr sz="1050" b="0" i="0">
                          <a:solidFill>
                            <a:srgbClr val="1F2937"/>
                          </a:solidFill>
                          <a:latin typeface="Bookman Old Style"/>
                        </a:rPr>
                        <a:t>Same FHE family (TFHE) and integer quantisation we use.</a:t>
                      </a:r>
                    </a:p>
                  </a:txBody>
                  <a:tcPr marL="73152" marR="73152" marT="36576" marB="36576" anchor="ctr">
                    <a:solidFill>
                      <a:srgbClr val="E8EDF6"/>
                    </a:solidFill>
                  </a:tcPr>
                </a:tc>
                <a:extLst>
                  <a:ext uri="{0D108BD9-81ED-4DB2-BD59-A6C34878D82A}">
                    <a16:rowId xmlns:a16="http://schemas.microsoft.com/office/drawing/2014/main" val="10004"/>
                  </a:ext>
                </a:extLst>
              </a:tr>
              <a:tr h="621792">
                <a:tc>
                  <a:txBody>
                    <a:bodyPr/>
                    <a:lstStyle/>
                    <a:p>
                      <a:pPr algn="l"/>
                      <a:r>
                        <a:rPr sz="1050" b="0" i="0">
                          <a:solidFill>
                            <a:srgbClr val="1F2937"/>
                          </a:solidFill>
                          <a:latin typeface="Bookman Old Style"/>
                        </a:rPr>
                        <a:t>El-Sofany et al. (2024)</a:t>
                      </a:r>
                    </a:p>
                  </a:txBody>
                  <a:tcPr marL="73152" marR="73152" marT="36576" marB="36576" anchor="ctr">
                    <a:solidFill>
                      <a:srgbClr val="FFFFFF"/>
                    </a:solidFill>
                  </a:tcPr>
                </a:tc>
                <a:tc>
                  <a:txBody>
                    <a:bodyPr/>
                    <a:lstStyle/>
                    <a:p>
                      <a:pPr algn="l"/>
                      <a:r>
                        <a:rPr sz="1050" b="0" i="0">
                          <a:solidFill>
                            <a:srgbClr val="1F2937"/>
                          </a:solidFill>
                          <a:latin typeface="Bookman Old Style"/>
                        </a:rPr>
                        <a:t>A proposed technique for predicting heart disease using ML algorithms and an explainable AI method</a:t>
                      </a:r>
                    </a:p>
                  </a:txBody>
                  <a:tcPr marL="73152" marR="73152" marT="36576" marB="36576" anchor="ctr">
                    <a:solidFill>
                      <a:srgbClr val="FFFFFF"/>
                    </a:solidFill>
                  </a:tcPr>
                </a:tc>
                <a:tc>
                  <a:txBody>
                    <a:bodyPr/>
                    <a:lstStyle/>
                    <a:p>
                      <a:pPr algn="l"/>
                      <a:r>
                        <a:rPr sz="1050" b="0" i="0">
                          <a:solidFill>
                            <a:srgbClr val="1F2937"/>
                          </a:solidFill>
                          <a:latin typeface="Bookman Old Style"/>
                        </a:rPr>
                        <a:t>Scientific Reports (Nature)</a:t>
                      </a:r>
                    </a:p>
                  </a:txBody>
                  <a:tcPr marL="73152" marR="73152" marT="36576" marB="36576" anchor="ctr">
                    <a:solidFill>
                      <a:srgbClr val="FFFFFF"/>
                    </a:solidFill>
                  </a:tcPr>
                </a:tc>
                <a:tc>
                  <a:txBody>
                    <a:bodyPr/>
                    <a:lstStyle/>
                    <a:p>
                      <a:pPr algn="l"/>
                      <a:r>
                        <a:rPr sz="1050" b="0" i="0">
                          <a:solidFill>
                            <a:srgbClr val="1F2937"/>
                          </a:solidFill>
                          <a:latin typeface="Bookman Old Style"/>
                        </a:rPr>
                        <a:t>Compares 10 models incl. logistic regression and XGBoost on Cleveland data; XGBoost best.</a:t>
                      </a:r>
                    </a:p>
                  </a:txBody>
                  <a:tcPr marL="73152" marR="73152" marT="36576" marB="36576" anchor="ctr">
                    <a:solidFill>
                      <a:srgbClr val="FFFFFF"/>
                    </a:solidFill>
                  </a:tcPr>
                </a:tc>
                <a:tc>
                  <a:txBody>
                    <a:bodyPr/>
                    <a:lstStyle/>
                    <a:p>
                      <a:pPr algn="l"/>
                      <a:r>
                        <a:rPr sz="1050" b="0" i="0">
                          <a:solidFill>
                            <a:srgbClr val="1F2937"/>
                          </a:solidFill>
                          <a:latin typeface="Bookman Old Style"/>
                        </a:rPr>
                        <a:t>Source for comparing LR with XGBoost.</a:t>
                      </a:r>
                    </a:p>
                  </a:txBody>
                  <a:tcPr marL="73152" marR="73152" marT="36576" marB="36576" anchor="ctr">
                    <a:solidFill>
                      <a:srgbClr val="FFFFFF"/>
                    </a:solidFill>
                  </a:tcPr>
                </a:tc>
                <a:extLst>
                  <a:ext uri="{0D108BD9-81ED-4DB2-BD59-A6C34878D82A}">
                    <a16:rowId xmlns:a16="http://schemas.microsoft.com/office/drawing/2014/main" val="10005"/>
                  </a:ext>
                </a:extLst>
              </a:tr>
              <a:tr h="621792">
                <a:tc>
                  <a:txBody>
                    <a:bodyPr/>
                    <a:lstStyle/>
                    <a:p>
                      <a:pPr algn="l"/>
                      <a:r>
                        <a:rPr sz="1050" b="0" i="0">
                          <a:solidFill>
                            <a:srgbClr val="1F2937"/>
                          </a:solidFill>
                          <a:latin typeface="Bookman Old Style"/>
                        </a:rPr>
                        <a:t>Nadheer (2024)</a:t>
                      </a:r>
                    </a:p>
                  </a:txBody>
                  <a:tcPr marL="73152" marR="73152" marT="36576" marB="36576" anchor="ctr">
                    <a:solidFill>
                      <a:srgbClr val="E8EDF6"/>
                    </a:solidFill>
                  </a:tcPr>
                </a:tc>
                <a:tc>
                  <a:txBody>
                    <a:bodyPr/>
                    <a:lstStyle/>
                    <a:p>
                      <a:pPr algn="l"/>
                      <a:r>
                        <a:rPr sz="1050" b="0" i="0">
                          <a:solidFill>
                            <a:srgbClr val="1F2937"/>
                          </a:solidFill>
                          <a:latin typeface="Bookman Old Style"/>
                        </a:rPr>
                        <a:t>Heart disease prediction system using hybrid model of multi-layer perceptron and XGBoost</a:t>
                      </a:r>
                    </a:p>
                  </a:txBody>
                  <a:tcPr marL="73152" marR="73152" marT="36576" marB="36576" anchor="ctr">
                    <a:solidFill>
                      <a:srgbClr val="E8EDF6"/>
                    </a:solidFill>
                  </a:tcPr>
                </a:tc>
                <a:tc>
                  <a:txBody>
                    <a:bodyPr/>
                    <a:lstStyle/>
                    <a:p>
                      <a:pPr algn="l"/>
                      <a:r>
                        <a:rPr sz="1050" b="0" i="0">
                          <a:solidFill>
                            <a:srgbClr val="1F2937"/>
                          </a:solidFill>
                          <a:latin typeface="Bookman Old Style"/>
                        </a:rPr>
                        <a:t>BIO Web of Conferences</a:t>
                      </a:r>
                    </a:p>
                  </a:txBody>
                  <a:tcPr marL="73152" marR="73152" marT="36576" marB="36576" anchor="ctr">
                    <a:solidFill>
                      <a:srgbClr val="E8EDF6"/>
                    </a:solidFill>
                  </a:tcPr>
                </a:tc>
                <a:tc>
                  <a:txBody>
                    <a:bodyPr/>
                    <a:lstStyle/>
                    <a:p>
                      <a:pPr algn="l"/>
                      <a:r>
                        <a:rPr sz="1050" b="0" i="0">
                          <a:solidFill>
                            <a:srgbClr val="1F2937"/>
                          </a:solidFill>
                          <a:latin typeface="Bookman Old Style"/>
                        </a:rPr>
                        <a:t>MLP + XGBoost hybrid on Cleveland heart data.</a:t>
                      </a:r>
                    </a:p>
                  </a:txBody>
                  <a:tcPr marL="73152" marR="73152" marT="36576" marB="36576" anchor="ctr">
                    <a:solidFill>
                      <a:srgbClr val="E8EDF6"/>
                    </a:solidFill>
                  </a:tcPr>
                </a:tc>
                <a:tc>
                  <a:txBody>
                    <a:bodyPr/>
                    <a:lstStyle/>
                    <a:p>
                      <a:pPr algn="l"/>
                      <a:r>
                        <a:rPr sz="1050" b="0" i="0">
                          <a:solidFill>
                            <a:srgbClr val="1F2937"/>
                          </a:solidFill>
                          <a:latin typeface="Bookman Old Style"/>
                        </a:rPr>
                        <a:t>Source for our MLP and XGBoost models.</a:t>
                      </a:r>
                    </a:p>
                  </a:txBody>
                  <a:tcPr marL="73152" marR="73152" marT="36576" marB="36576" anchor="ctr">
                    <a:solidFill>
                      <a:srgbClr val="E8EDF6"/>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274320" y="5623560"/>
            <a:ext cx="11658600" cy="502920"/>
          </a:xfrm>
          <a:prstGeom prst="rect">
            <a:avLst/>
          </a:prstGeom>
          <a:noFill/>
        </p:spPr>
        <p:txBody>
          <a:bodyPr wrap="square" lIns="45720" rIns="45720" anchor="t">
            <a:spAutoFit/>
          </a:bodyPr>
          <a:lstStyle/>
          <a:p>
            <a:pPr algn="l"/>
            <a:r>
              <a:rPr sz="1300" b="1" i="0">
                <a:solidFill>
                  <a:srgbClr val="C00000"/>
                </a:solidFill>
                <a:latin typeface="Bookman Old Style"/>
              </a:rPr>
              <a:t>Gap: </a:t>
            </a:r>
            <a:r>
              <a:rPr sz="1300" b="0" i="0">
                <a:solidFill>
                  <a:srgbClr val="1F2937"/>
                </a:solidFill>
                <a:latin typeface="Bookman Old Style"/>
              </a:rPr>
              <a:t>heart-disease FHE work uses CKKS and reports overall accuracy; few studies first test whether model complexity pays off, or check agreement patient by patient.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a:solidFill>
                  <a:srgbClr val="C00000"/>
                </a:solidFill>
                <a:latin typeface="Bookman Old Style"/>
                <a:ea typeface="Bookman Old Style"/>
                <a:cs typeface="Bookman Old Style"/>
                <a:sym typeface="Bookman Old Style"/>
              </a:rPr>
              <a:t>Base Paper and Our Extension</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4" name="Rounded Rectangle 3"/>
          <p:cNvSpPr/>
          <p:nvPr/>
        </p:nvSpPr>
        <p:spPr>
          <a:xfrm>
            <a:off x="411480" y="1188720"/>
            <a:ext cx="11338560" cy="9601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r>
              <a:rPr sz="1400" b="1" i="0">
                <a:solidFill>
                  <a:srgbClr val="C00000"/>
                </a:solidFill>
                <a:latin typeface="Bookman Old Style"/>
              </a:rPr>
              <a:t>Base paper: </a:t>
            </a:r>
            <a:r>
              <a:rPr sz="1400" b="0" i="0">
                <a:solidFill>
                  <a:srgbClr val="1F2937"/>
                </a:solidFill>
                <a:latin typeface="Bookman Old Style"/>
              </a:rPr>
              <a:t>Naresh, V. S. &amp; Reddi, S. (2025). Exploring the future of privacy-preserving heart disease prediction: a fully homomorphic encryption-driven logistic regression approach. Journal of Big Data, 12, 52.</a:t>
            </a:r>
          </a:p>
        </p:txBody>
      </p:sp>
      <p:graphicFrame>
        <p:nvGraphicFramePr>
          <p:cNvPr id="5" name="Table 4"/>
          <p:cNvGraphicFramePr>
            <a:graphicFrameLocks noGrp="1"/>
          </p:cNvGraphicFramePr>
          <p:nvPr/>
        </p:nvGraphicFramePr>
        <p:xfrm>
          <a:off x="411480" y="2377440"/>
          <a:ext cx="11338560" cy="3584448"/>
        </p:xfrm>
        <a:graphic>
          <a:graphicData uri="http://schemas.openxmlformats.org/drawingml/2006/table">
            <a:tbl>
              <a:tblPr>
                <a:tableStyleId>{5940675A-B579-460E-94D1-54222C63F5DA}</a:tableStyleId>
              </a:tblPr>
              <a:tblGrid>
                <a:gridCol w="23774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512064">
                <a:tc>
                  <a:txBody>
                    <a:bodyPr/>
                    <a:lstStyle/>
                    <a:p>
                      <a:pPr algn="l"/>
                      <a:r>
                        <a:rPr sz="1300" b="1" i="0">
                          <a:solidFill>
                            <a:srgbClr val="FFFFFF"/>
                          </a:solidFill>
                          <a:latin typeface="Bookman Old Style"/>
                        </a:rPr>
                        <a:t>Aspect</a:t>
                      </a:r>
                    </a:p>
                  </a:txBody>
                  <a:tcPr marL="73152" marR="73152" marT="36576" marB="36576" anchor="ctr">
                    <a:solidFill>
                      <a:srgbClr val="002060"/>
                    </a:solidFill>
                  </a:tcPr>
                </a:tc>
                <a:tc>
                  <a:txBody>
                    <a:bodyPr/>
                    <a:lstStyle/>
                    <a:p>
                      <a:pPr algn="l"/>
                      <a:r>
                        <a:rPr sz="1300" b="1" i="0">
                          <a:solidFill>
                            <a:srgbClr val="FFFFFF"/>
                          </a:solidFill>
                          <a:latin typeface="Bookman Old Style"/>
                        </a:rPr>
                        <a:t>Base paper</a:t>
                      </a:r>
                    </a:p>
                  </a:txBody>
                  <a:tcPr marL="73152" marR="73152" marT="36576" marB="36576" anchor="ctr">
                    <a:solidFill>
                      <a:srgbClr val="002060"/>
                    </a:solidFill>
                  </a:tcPr>
                </a:tc>
                <a:tc>
                  <a:txBody>
                    <a:bodyPr/>
                    <a:lstStyle/>
                    <a:p>
                      <a:pPr algn="l"/>
                      <a:r>
                        <a:rPr sz="1300" b="1" i="0">
                          <a:solidFill>
                            <a:srgbClr val="FFFFFF"/>
                          </a:solidFill>
                          <a:latin typeface="Bookman Old Style"/>
                        </a:rPr>
                        <a:t>Our project</a:t>
                      </a:r>
                    </a:p>
                  </a:txBody>
                  <a:tcPr marL="73152" marR="73152" marT="36576" marB="36576" anchor="ctr">
                    <a:solidFill>
                      <a:srgbClr val="002060"/>
                    </a:solidFill>
                  </a:tcPr>
                </a:tc>
                <a:extLst>
                  <a:ext uri="{0D108BD9-81ED-4DB2-BD59-A6C34878D82A}">
                    <a16:rowId xmlns:a16="http://schemas.microsoft.com/office/drawing/2014/main" val="10000"/>
                  </a:ext>
                </a:extLst>
              </a:tr>
              <a:tr h="512064">
                <a:tc>
                  <a:txBody>
                    <a:bodyPr/>
                    <a:lstStyle/>
                    <a:p>
                      <a:pPr algn="l"/>
                      <a:r>
                        <a:rPr sz="1300" b="0" i="0">
                          <a:solidFill>
                            <a:srgbClr val="1F2937"/>
                          </a:solidFill>
                          <a:latin typeface="Bookman Old Style"/>
                        </a:rPr>
                        <a:t>Encryption scheme</a:t>
                      </a:r>
                    </a:p>
                  </a:txBody>
                  <a:tcPr marL="73152" marR="73152" marT="36576" marB="36576" anchor="ctr">
                    <a:solidFill>
                      <a:srgbClr val="FFFFFF"/>
                    </a:solidFill>
                  </a:tcPr>
                </a:tc>
                <a:tc>
                  <a:txBody>
                    <a:bodyPr/>
                    <a:lstStyle/>
                    <a:p>
                      <a:pPr algn="l"/>
                      <a:r>
                        <a:rPr sz="1300" b="0" i="0">
                          <a:solidFill>
                            <a:srgbClr val="1F2937"/>
                          </a:solidFill>
                          <a:latin typeface="Bookman Old Style"/>
                        </a:rPr>
                        <a:t>CKKS (TenSEAL library)</a:t>
                      </a:r>
                    </a:p>
                  </a:txBody>
                  <a:tcPr marL="73152" marR="73152" marT="36576" marB="36576" anchor="ctr">
                    <a:solidFill>
                      <a:srgbClr val="FFFFFF"/>
                    </a:solidFill>
                  </a:tcPr>
                </a:tc>
                <a:tc>
                  <a:txBody>
                    <a:bodyPr/>
                    <a:lstStyle/>
                    <a:p>
                      <a:pPr algn="l"/>
                      <a:r>
                        <a:rPr sz="1300" b="0" i="0">
                          <a:solidFill>
                            <a:srgbClr val="1F2937"/>
                          </a:solidFill>
                          <a:latin typeface="Bookman Old Style"/>
                        </a:rPr>
                        <a:t>TFHE (Concrete ML), 8-bit integers</a:t>
                      </a:r>
                    </a:p>
                  </a:txBody>
                  <a:tcPr marL="73152" marR="73152" marT="36576" marB="36576" anchor="ctr">
                    <a:solidFill>
                      <a:srgbClr val="FFFFFF"/>
                    </a:solidFill>
                  </a:tcPr>
                </a:tc>
                <a:extLst>
                  <a:ext uri="{0D108BD9-81ED-4DB2-BD59-A6C34878D82A}">
                    <a16:rowId xmlns:a16="http://schemas.microsoft.com/office/drawing/2014/main" val="10001"/>
                  </a:ext>
                </a:extLst>
              </a:tr>
              <a:tr h="512064">
                <a:tc>
                  <a:txBody>
                    <a:bodyPr/>
                    <a:lstStyle/>
                    <a:p>
                      <a:pPr algn="l"/>
                      <a:r>
                        <a:rPr sz="1300" b="0" i="0">
                          <a:solidFill>
                            <a:srgbClr val="1F2937"/>
                          </a:solidFill>
                          <a:latin typeface="Bookman Old Style"/>
                        </a:rPr>
                        <a:t>Models</a:t>
                      </a:r>
                    </a:p>
                  </a:txBody>
                  <a:tcPr marL="73152" marR="73152" marT="36576" marB="36576" anchor="ctr">
                    <a:solidFill>
                      <a:srgbClr val="E8EDF6"/>
                    </a:solidFill>
                  </a:tcPr>
                </a:tc>
                <a:tc>
                  <a:txBody>
                    <a:bodyPr/>
                    <a:lstStyle/>
                    <a:p>
                      <a:pPr algn="l"/>
                      <a:r>
                        <a:rPr sz="1300" b="0" i="0">
                          <a:solidFill>
                            <a:srgbClr val="1F2937"/>
                          </a:solidFill>
                          <a:latin typeface="Bookman Old Style"/>
                        </a:rPr>
                        <a:t>Logistic regression vs SVM</a:t>
                      </a:r>
                    </a:p>
                  </a:txBody>
                  <a:tcPr marL="73152" marR="73152" marT="36576" marB="36576" anchor="ctr">
                    <a:solidFill>
                      <a:srgbClr val="E8EDF6"/>
                    </a:solidFill>
                  </a:tcPr>
                </a:tc>
                <a:tc>
                  <a:txBody>
                    <a:bodyPr/>
                    <a:lstStyle/>
                    <a:p>
                      <a:pPr algn="l"/>
                      <a:r>
                        <a:rPr sz="1300" b="0" i="0">
                          <a:solidFill>
                            <a:srgbClr val="1F2937"/>
                          </a:solidFill>
                          <a:latin typeface="Bookman Old Style"/>
                        </a:rPr>
                        <a:t>3 models, simple → complex: LR, MLP, XGBoost</a:t>
                      </a:r>
                    </a:p>
                  </a:txBody>
                  <a:tcPr marL="73152" marR="73152" marT="36576" marB="36576" anchor="ctr">
                    <a:solidFill>
                      <a:srgbClr val="E8EDF6"/>
                    </a:solidFill>
                  </a:tcPr>
                </a:tc>
                <a:extLst>
                  <a:ext uri="{0D108BD9-81ED-4DB2-BD59-A6C34878D82A}">
                    <a16:rowId xmlns:a16="http://schemas.microsoft.com/office/drawing/2014/main" val="10002"/>
                  </a:ext>
                </a:extLst>
              </a:tr>
              <a:tr h="512064">
                <a:tc>
                  <a:txBody>
                    <a:bodyPr/>
                    <a:lstStyle/>
                    <a:p>
                      <a:pPr algn="l"/>
                      <a:r>
                        <a:rPr sz="1300" b="0" i="0">
                          <a:solidFill>
                            <a:srgbClr val="1F2937"/>
                          </a:solidFill>
                          <a:latin typeface="Bookman Old Style"/>
                        </a:rPr>
                        <a:t>Evaluation</a:t>
                      </a:r>
                    </a:p>
                  </a:txBody>
                  <a:tcPr marL="73152" marR="73152" marT="36576" marB="36576" anchor="ctr">
                    <a:solidFill>
                      <a:srgbClr val="FFFFFF"/>
                    </a:solidFill>
                  </a:tcPr>
                </a:tc>
                <a:tc>
                  <a:txBody>
                    <a:bodyPr/>
                    <a:lstStyle/>
                    <a:p>
                      <a:pPr algn="l"/>
                      <a:r>
                        <a:rPr sz="1300" b="0" i="0">
                          <a:solidFill>
                            <a:srgbClr val="1F2937"/>
                          </a:solidFill>
                          <a:latin typeface="Bookman Old Style"/>
                        </a:rPr>
                        <a:t>Accuracy comparison</a:t>
                      </a:r>
                    </a:p>
                  </a:txBody>
                  <a:tcPr marL="73152" marR="73152" marT="36576" marB="36576" anchor="ctr">
                    <a:solidFill>
                      <a:srgbClr val="FFFFFF"/>
                    </a:solidFill>
                  </a:tcPr>
                </a:tc>
                <a:tc>
                  <a:txBody>
                    <a:bodyPr/>
                    <a:lstStyle/>
                    <a:p>
                      <a:pPr algn="l"/>
                      <a:r>
                        <a:rPr sz="1300" b="0" i="0">
                          <a:solidFill>
                            <a:srgbClr val="1F2937"/>
                          </a:solidFill>
                          <a:latin typeface="Bookman Old Style"/>
                        </a:rPr>
                        <a:t>Nested 5-fold cross-validation, recall-focused (F2)</a:t>
                      </a:r>
                    </a:p>
                  </a:txBody>
                  <a:tcPr marL="73152" marR="73152" marT="36576" marB="36576" anchor="ctr">
                    <a:solidFill>
                      <a:srgbClr val="FFFFFF"/>
                    </a:solidFill>
                  </a:tcPr>
                </a:tc>
                <a:extLst>
                  <a:ext uri="{0D108BD9-81ED-4DB2-BD59-A6C34878D82A}">
                    <a16:rowId xmlns:a16="http://schemas.microsoft.com/office/drawing/2014/main" val="10003"/>
                  </a:ext>
                </a:extLst>
              </a:tr>
              <a:tr h="512064">
                <a:tc>
                  <a:txBody>
                    <a:bodyPr/>
                    <a:lstStyle/>
                    <a:p>
                      <a:pPr algn="l"/>
                      <a:r>
                        <a:rPr sz="1300" b="0" i="0">
                          <a:solidFill>
                            <a:srgbClr val="1F2937"/>
                          </a:solidFill>
                          <a:latin typeface="Bookman Old Style"/>
                        </a:rPr>
                        <a:t>Encrypted check</a:t>
                      </a:r>
                    </a:p>
                  </a:txBody>
                  <a:tcPr marL="73152" marR="73152" marT="36576" marB="36576" anchor="ctr">
                    <a:solidFill>
                      <a:srgbClr val="E8EDF6"/>
                    </a:solidFill>
                  </a:tcPr>
                </a:tc>
                <a:tc>
                  <a:txBody>
                    <a:bodyPr/>
                    <a:lstStyle/>
                    <a:p>
                      <a:pPr algn="l"/>
                      <a:r>
                        <a:rPr sz="1300" b="0" i="0">
                          <a:solidFill>
                            <a:srgbClr val="1F2937"/>
                          </a:solidFill>
                          <a:latin typeface="Bookman Old Style"/>
                        </a:rPr>
                        <a:t>Accuracy gap (1–3%)</a:t>
                      </a:r>
                    </a:p>
                  </a:txBody>
                  <a:tcPr marL="73152" marR="73152" marT="36576" marB="36576" anchor="ctr">
                    <a:solidFill>
                      <a:srgbClr val="E8EDF6"/>
                    </a:solidFill>
                  </a:tcPr>
                </a:tc>
                <a:tc>
                  <a:txBody>
                    <a:bodyPr/>
                    <a:lstStyle/>
                    <a:p>
                      <a:pPr algn="l"/>
                      <a:r>
                        <a:rPr sz="1300" b="0" i="0">
                          <a:solidFill>
                            <a:srgbClr val="1F2937"/>
                          </a:solidFill>
                          <a:latin typeface="Bookman Old Style"/>
                        </a:rPr>
                        <a:t>Patient-by-patient agreement, plus time and memory cost</a:t>
                      </a:r>
                    </a:p>
                  </a:txBody>
                  <a:tcPr marL="73152" marR="73152" marT="36576" marB="36576" anchor="ctr">
                    <a:solidFill>
                      <a:srgbClr val="E8EDF6"/>
                    </a:solidFill>
                  </a:tcPr>
                </a:tc>
                <a:extLst>
                  <a:ext uri="{0D108BD9-81ED-4DB2-BD59-A6C34878D82A}">
                    <a16:rowId xmlns:a16="http://schemas.microsoft.com/office/drawing/2014/main" val="10004"/>
                  </a:ext>
                </a:extLst>
              </a:tr>
              <a:tr h="512064">
                <a:tc>
                  <a:txBody>
                    <a:bodyPr/>
                    <a:lstStyle/>
                    <a:p>
                      <a:pPr algn="l"/>
                      <a:r>
                        <a:rPr sz="1300" b="0" i="0">
                          <a:solidFill>
                            <a:srgbClr val="1F2937"/>
                          </a:solidFill>
                          <a:latin typeface="Bookman Old Style"/>
                        </a:rPr>
                        <a:t>Data quality</a:t>
                      </a:r>
                    </a:p>
                  </a:txBody>
                  <a:tcPr marL="73152" marR="73152" marT="36576" marB="36576" anchor="ctr">
                    <a:solidFill>
                      <a:srgbClr val="FFFFFF"/>
                    </a:solidFill>
                  </a:tcPr>
                </a:tc>
                <a:tc>
                  <a:txBody>
                    <a:bodyPr/>
                    <a:lstStyle/>
                    <a:p>
                      <a:pPr algn="l"/>
                      <a:r>
                        <a:rPr sz="1300" b="0" i="0">
                          <a:solidFill>
                            <a:srgbClr val="1F2937"/>
                          </a:solidFill>
                          <a:latin typeface="Bookman Old Style"/>
                        </a:rPr>
                        <a:t>–</a:t>
                      </a:r>
                    </a:p>
                  </a:txBody>
                  <a:tcPr marL="73152" marR="73152" marT="36576" marB="36576" anchor="ctr">
                    <a:solidFill>
                      <a:srgbClr val="FFFFFF"/>
                    </a:solidFill>
                  </a:tcPr>
                </a:tc>
                <a:tc>
                  <a:txBody>
                    <a:bodyPr/>
                    <a:lstStyle/>
                    <a:p>
                      <a:pPr algn="l"/>
                      <a:r>
                        <a:rPr sz="1300" b="0" i="0">
                          <a:solidFill>
                            <a:srgbClr val="1F2937"/>
                          </a:solidFill>
                          <a:latin typeface="Bookman Old Style"/>
                        </a:rPr>
                        <a:t>Labels checked against clinical signs before training</a:t>
                      </a:r>
                    </a:p>
                  </a:txBody>
                  <a:tcPr marL="73152" marR="73152" marT="36576" marB="36576" anchor="ctr">
                    <a:solidFill>
                      <a:srgbClr val="FFFFFF"/>
                    </a:solidFill>
                  </a:tcPr>
                </a:tc>
                <a:extLst>
                  <a:ext uri="{0D108BD9-81ED-4DB2-BD59-A6C34878D82A}">
                    <a16:rowId xmlns:a16="http://schemas.microsoft.com/office/drawing/2014/main" val="10005"/>
                  </a:ext>
                </a:extLst>
              </a:tr>
              <a:tr h="512064">
                <a:tc>
                  <a:txBody>
                    <a:bodyPr/>
                    <a:lstStyle/>
                    <a:p>
                      <a:pPr algn="l"/>
                      <a:r>
                        <a:rPr sz="1300" b="0" i="0">
                          <a:solidFill>
                            <a:srgbClr val="1F2937"/>
                          </a:solidFill>
                          <a:latin typeface="Bookman Old Style"/>
                        </a:rPr>
                        <a:t>Deliverable</a:t>
                      </a:r>
                    </a:p>
                  </a:txBody>
                  <a:tcPr marL="73152" marR="73152" marT="36576" marB="36576" anchor="ctr">
                    <a:solidFill>
                      <a:srgbClr val="E8EDF6"/>
                    </a:solidFill>
                  </a:tcPr>
                </a:tc>
                <a:tc>
                  <a:txBody>
                    <a:bodyPr/>
                    <a:lstStyle/>
                    <a:p>
                      <a:pPr algn="l"/>
                      <a:r>
                        <a:rPr sz="1300" b="0" i="0">
                          <a:solidFill>
                            <a:srgbClr val="1F2937"/>
                          </a:solidFill>
                          <a:latin typeface="Bookman Old Style"/>
                        </a:rPr>
                        <a:t>Experiments</a:t>
                      </a:r>
                    </a:p>
                  </a:txBody>
                  <a:tcPr marL="73152" marR="73152" marT="36576" marB="36576" anchor="ctr">
                    <a:solidFill>
                      <a:srgbClr val="E8EDF6"/>
                    </a:solidFill>
                  </a:tcPr>
                </a:tc>
                <a:tc>
                  <a:txBody>
                    <a:bodyPr/>
                    <a:lstStyle/>
                    <a:p>
                      <a:pPr algn="l"/>
                      <a:r>
                        <a:rPr sz="1300" b="0" i="0">
                          <a:solidFill>
                            <a:srgbClr val="1F2937"/>
                          </a:solidFill>
                          <a:latin typeface="Bookman Old Style"/>
                        </a:rPr>
                        <a:t>Web dashboard with live encrypted prediction</a:t>
                      </a:r>
                    </a:p>
                  </a:txBody>
                  <a:tcPr marL="73152" marR="73152" marT="36576" marB="36576" anchor="ctr">
                    <a:solidFill>
                      <a:srgbClr val="E8ED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Problem Definition</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4" name="Rounded Rectangle 3"/>
          <p:cNvSpPr/>
          <p:nvPr/>
        </p:nvSpPr>
        <p:spPr>
          <a:xfrm>
            <a:off x="411480" y="1234440"/>
            <a:ext cx="182880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700" b="1" i="0">
                <a:solidFill>
                  <a:srgbClr val="FFFFFF"/>
                </a:solidFill>
                <a:latin typeface="Bookman Old Style"/>
              </a:rPr>
              <a:t>Problem</a:t>
            </a:r>
          </a:p>
        </p:txBody>
      </p:sp>
      <p:sp>
        <p:nvSpPr>
          <p:cNvPr id="5" name="Rounded Rectangle 4"/>
          <p:cNvSpPr/>
          <p:nvPr/>
        </p:nvSpPr>
        <p:spPr>
          <a:xfrm>
            <a:off x="2331720" y="1234440"/>
            <a:ext cx="493776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r>
              <a:rPr sz="1400" b="0" i="0">
                <a:solidFill>
                  <a:srgbClr val="1F2937"/>
                </a:solidFill>
                <a:latin typeface="Bookman Old Style"/>
              </a:rPr>
              <a:t>Predict heart disease from 13 clinical measurements as accurately as possible, especially catching sick patients, while keeping the patient's data hidden from the prediction server.</a:t>
            </a:r>
          </a:p>
        </p:txBody>
      </p:sp>
      <p:sp>
        <p:nvSpPr>
          <p:cNvPr id="6" name="Rounded Rectangle 5"/>
          <p:cNvSpPr/>
          <p:nvPr/>
        </p:nvSpPr>
        <p:spPr>
          <a:xfrm>
            <a:off x="411480" y="2834640"/>
            <a:ext cx="182880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700" b="1" i="0">
                <a:solidFill>
                  <a:srgbClr val="FFFFFF"/>
                </a:solidFill>
                <a:latin typeface="Bookman Old Style"/>
              </a:rPr>
              <a:t>Context</a:t>
            </a:r>
          </a:p>
        </p:txBody>
      </p:sp>
      <p:sp>
        <p:nvSpPr>
          <p:cNvPr id="7" name="Rounded Rectangle 6"/>
          <p:cNvSpPr/>
          <p:nvPr/>
        </p:nvSpPr>
        <p:spPr>
          <a:xfrm>
            <a:off x="2331720" y="2834640"/>
            <a:ext cx="493776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r>
              <a:rPr sz="1400" b="0" i="0">
                <a:solidFill>
                  <a:srgbClr val="1F2937"/>
                </a:solidFill>
                <a:latin typeface="Bookman Old Style"/>
              </a:rPr>
              <a:t>Medical datasets are small (303 patients), so complex models may not help. Encryption also adds cost, and that cost grows with model complexity.</a:t>
            </a:r>
          </a:p>
        </p:txBody>
      </p:sp>
      <p:sp>
        <p:nvSpPr>
          <p:cNvPr id="8" name="Rounded Rectangle 7"/>
          <p:cNvSpPr/>
          <p:nvPr/>
        </p:nvSpPr>
        <p:spPr>
          <a:xfrm>
            <a:off x="411480" y="4434840"/>
            <a:ext cx="182880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700" b="1" i="0">
                <a:solidFill>
                  <a:srgbClr val="FFFFFF"/>
                </a:solidFill>
                <a:latin typeface="Bookman Old Style"/>
              </a:rPr>
              <a:t>If ignored</a:t>
            </a:r>
          </a:p>
        </p:txBody>
      </p:sp>
      <p:sp>
        <p:nvSpPr>
          <p:cNvPr id="9" name="Rounded Rectangle 8"/>
          <p:cNvSpPr/>
          <p:nvPr/>
        </p:nvSpPr>
        <p:spPr>
          <a:xfrm>
            <a:off x="2331720" y="4434840"/>
            <a:ext cx="493776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r>
              <a:rPr sz="1400" b="0" i="0">
                <a:solidFill>
                  <a:srgbClr val="1F2937"/>
                </a:solidFill>
                <a:latin typeface="Bookman Old Style"/>
              </a:rPr>
              <a:t>Either patients' raw records are exposed to the service, or an over-complex model is deployed that is slower and no more accurate.</a:t>
            </a:r>
          </a:p>
        </p:txBody>
      </p:sp>
      <p:sp>
        <p:nvSpPr>
          <p:cNvPr id="10" name="Rounded Rectangle 9"/>
          <p:cNvSpPr/>
          <p:nvPr/>
        </p:nvSpPr>
        <p:spPr>
          <a:xfrm>
            <a:off x="7589520" y="1234440"/>
            <a:ext cx="4160520" cy="4572000"/>
          </a:xfrm>
          <a:prstGeom prst="roundRect">
            <a:avLst>
              <a:gd name="adj" fmla="val 12000"/>
            </a:avLst>
          </a:prstGeom>
          <a:solidFill>
            <a:srgbClr val="FFFFFF"/>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endParaRPr/>
          </a:p>
        </p:txBody>
      </p:sp>
      <p:sp>
        <p:nvSpPr>
          <p:cNvPr id="11" name="TextBox 10"/>
          <p:cNvSpPr txBox="1"/>
          <p:nvPr/>
        </p:nvSpPr>
        <p:spPr>
          <a:xfrm>
            <a:off x="7772400" y="1371600"/>
            <a:ext cx="3794760" cy="457200"/>
          </a:xfrm>
          <a:prstGeom prst="rect">
            <a:avLst/>
          </a:prstGeom>
          <a:noFill/>
        </p:spPr>
        <p:txBody>
          <a:bodyPr wrap="square" lIns="45720" rIns="45720" anchor="t">
            <a:spAutoFit/>
          </a:bodyPr>
          <a:lstStyle/>
          <a:p>
            <a:pPr algn="ctr"/>
            <a:r>
              <a:rPr sz="1700" b="1" i="0">
                <a:solidFill>
                  <a:srgbClr val="002060"/>
                </a:solidFill>
                <a:latin typeface="Bookman Old Style"/>
              </a:rPr>
              <a:t>Two goals that pull apart</a:t>
            </a:r>
          </a:p>
        </p:txBody>
      </p:sp>
      <p:sp>
        <p:nvSpPr>
          <p:cNvPr id="12" name="Rounded Rectangle 11"/>
          <p:cNvSpPr/>
          <p:nvPr/>
        </p:nvSpPr>
        <p:spPr>
          <a:xfrm>
            <a:off x="7863840" y="1965960"/>
            <a:ext cx="3611880" cy="100584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002060"/>
                </a:solidFill>
                <a:latin typeface="Bookman Old Style"/>
              </a:rPr>
              <a:t>Accuracy</a:t>
            </a:r>
          </a:p>
          <a:p>
            <a:pPr algn="ctr"/>
            <a:r>
              <a:rPr sz="1400" b="0" i="0">
                <a:solidFill>
                  <a:srgbClr val="1F2937"/>
                </a:solidFill>
                <a:latin typeface="Bookman Old Style"/>
              </a:rPr>
              <a:t>the model needs the patient's data</a:t>
            </a:r>
          </a:p>
        </p:txBody>
      </p:sp>
      <p:sp>
        <p:nvSpPr>
          <p:cNvPr id="13" name="Rounded Rectangle 12"/>
          <p:cNvSpPr/>
          <p:nvPr/>
        </p:nvSpPr>
        <p:spPr>
          <a:xfrm>
            <a:off x="7863840" y="3886200"/>
            <a:ext cx="3611880" cy="100584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002060"/>
                </a:solidFill>
                <a:latin typeface="Bookman Old Style"/>
              </a:rPr>
              <a:t>Privacy</a:t>
            </a:r>
          </a:p>
          <a:p>
            <a:pPr algn="ctr"/>
            <a:r>
              <a:rPr sz="1400" b="0" i="0">
                <a:solidFill>
                  <a:srgbClr val="1F2937"/>
                </a:solidFill>
                <a:latin typeface="Bookman Old Style"/>
              </a:rPr>
              <a:t>the patient wants to hide the data</a:t>
            </a:r>
          </a:p>
        </p:txBody>
      </p:sp>
      <p:sp>
        <p:nvSpPr>
          <p:cNvPr id="14" name="TextBox 13"/>
          <p:cNvSpPr txBox="1"/>
          <p:nvPr/>
        </p:nvSpPr>
        <p:spPr>
          <a:xfrm>
            <a:off x="7863840" y="3063240"/>
            <a:ext cx="3611880" cy="731520"/>
          </a:xfrm>
          <a:prstGeom prst="rect">
            <a:avLst/>
          </a:prstGeom>
          <a:noFill/>
        </p:spPr>
        <p:txBody>
          <a:bodyPr wrap="square" lIns="45720" rIns="45720" anchor="ctr">
            <a:spAutoFit/>
          </a:bodyPr>
          <a:lstStyle/>
          <a:p>
            <a:pPr algn="ctr"/>
            <a:r>
              <a:rPr sz="1600" b="1" i="0">
                <a:solidFill>
                  <a:srgbClr val="1E7B4F"/>
                </a:solidFill>
                <a:latin typeface="Bookman Old Style"/>
              </a:rPr>
              <a:t>FHE resolves both</a:t>
            </a:r>
          </a:p>
        </p:txBody>
      </p:sp>
      <p:sp>
        <p:nvSpPr>
          <p:cNvPr id="15" name="TextBox 14"/>
          <p:cNvSpPr txBox="1"/>
          <p:nvPr/>
        </p:nvSpPr>
        <p:spPr>
          <a:xfrm>
            <a:off x="7772400" y="5029200"/>
            <a:ext cx="3794760" cy="685800"/>
          </a:xfrm>
          <a:prstGeom prst="rect">
            <a:avLst/>
          </a:prstGeom>
          <a:noFill/>
        </p:spPr>
        <p:txBody>
          <a:bodyPr wrap="square" lIns="45720" rIns="45720" anchor="t">
            <a:spAutoFit/>
          </a:bodyPr>
          <a:lstStyle/>
          <a:p>
            <a:pPr algn="ctr"/>
            <a:r>
              <a:rPr sz="1400" b="0" i="0">
                <a:solidFill>
                  <a:srgbClr val="5B6475"/>
                </a:solidFill>
                <a:latin typeface="Bookman Old Style"/>
              </a:rPr>
              <a:t>compute on data you cannot read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4" name="Rounded Rectangle 3"/>
          <p:cNvSpPr/>
          <p:nvPr/>
        </p:nvSpPr>
        <p:spPr>
          <a:xfrm>
            <a:off x="411480" y="1188720"/>
            <a:ext cx="11338560" cy="86868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r>
              <a:rPr sz="1600" b="1" i="0">
                <a:solidFill>
                  <a:srgbClr val="FFFFFF"/>
                </a:solidFill>
                <a:latin typeface="Bookman Old Style"/>
              </a:rPr>
              <a:t>Main objective: </a:t>
            </a:r>
            <a:r>
              <a:rPr sz="1600" b="0" i="0">
                <a:solidFill>
                  <a:srgbClr val="FFFFFF"/>
                </a:solidFill>
                <a:latin typeface="Bookman Old Style"/>
              </a:rPr>
              <a:t>build and compare heart-disease prediction models, and run the best one on encrypted data without losing accuracy.</a:t>
            </a:r>
          </a:p>
        </p:txBody>
      </p:sp>
      <p:sp>
        <p:nvSpPr>
          <p:cNvPr id="5" name="Oval 4"/>
          <p:cNvSpPr/>
          <p:nvPr/>
        </p:nvSpPr>
        <p:spPr>
          <a:xfrm>
            <a:off x="411480" y="2423160"/>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Bookman Old Style"/>
              </a:rPr>
              <a:t>1</a:t>
            </a:r>
          </a:p>
        </p:txBody>
      </p:sp>
      <p:sp>
        <p:nvSpPr>
          <p:cNvPr id="6" name="Rounded Rectangle 5"/>
          <p:cNvSpPr/>
          <p:nvPr/>
        </p:nvSpPr>
        <p:spPr>
          <a:xfrm>
            <a:off x="1143000" y="2331720"/>
            <a:ext cx="288036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r>
              <a:rPr sz="1600" b="1" i="0">
                <a:solidFill>
                  <a:srgbClr val="002060"/>
                </a:solidFill>
                <a:latin typeface="Bookman Old Style"/>
              </a:rPr>
              <a:t>Explore &amp; clean</a:t>
            </a:r>
          </a:p>
          <a:p>
            <a:pPr algn="l">
              <a:spcBef>
                <a:spcPts val="600"/>
              </a:spcBef>
            </a:pPr>
            <a:r>
              <a:rPr sz="1500" b="0" i="0">
                <a:solidFill>
                  <a:srgbClr val="1F2937"/>
                </a:solidFill>
                <a:latin typeface="Bookman Old Style"/>
              </a:rPr>
              <a:t>Analyse the dataset; fix label and code errors.</a:t>
            </a:r>
          </a:p>
        </p:txBody>
      </p:sp>
      <p:sp>
        <p:nvSpPr>
          <p:cNvPr id="7" name="Oval 6"/>
          <p:cNvSpPr/>
          <p:nvPr/>
        </p:nvSpPr>
        <p:spPr>
          <a:xfrm>
            <a:off x="4251960" y="2423160"/>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Bookman Old Style"/>
              </a:rPr>
              <a:t>2</a:t>
            </a:r>
          </a:p>
        </p:txBody>
      </p:sp>
      <p:sp>
        <p:nvSpPr>
          <p:cNvPr id="8" name="Rounded Rectangle 7"/>
          <p:cNvSpPr/>
          <p:nvPr/>
        </p:nvSpPr>
        <p:spPr>
          <a:xfrm>
            <a:off x="4983480" y="2331720"/>
            <a:ext cx="288036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r>
              <a:rPr sz="1600" b="1" i="0">
                <a:solidFill>
                  <a:srgbClr val="002060"/>
                </a:solidFill>
                <a:latin typeface="Bookman Old Style"/>
              </a:rPr>
              <a:t>Preprocess</a:t>
            </a:r>
          </a:p>
          <a:p>
            <a:pPr algn="l">
              <a:spcBef>
                <a:spcPts val="600"/>
              </a:spcBef>
            </a:pPr>
            <a:r>
              <a:rPr sz="1500" b="0" i="0">
                <a:solidFill>
                  <a:srgbClr val="1F2937"/>
                </a:solidFill>
                <a:latin typeface="Bookman Old Style"/>
              </a:rPr>
              <a:t>Scale and encode features without data leakage.</a:t>
            </a:r>
          </a:p>
        </p:txBody>
      </p:sp>
      <p:sp>
        <p:nvSpPr>
          <p:cNvPr id="9" name="Oval 8"/>
          <p:cNvSpPr/>
          <p:nvPr/>
        </p:nvSpPr>
        <p:spPr>
          <a:xfrm>
            <a:off x="8092440" y="2423160"/>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Bookman Old Style"/>
              </a:rPr>
              <a:t>3</a:t>
            </a:r>
          </a:p>
        </p:txBody>
      </p:sp>
      <p:sp>
        <p:nvSpPr>
          <p:cNvPr id="10" name="Rounded Rectangle 9"/>
          <p:cNvSpPr/>
          <p:nvPr/>
        </p:nvSpPr>
        <p:spPr>
          <a:xfrm>
            <a:off x="8823960" y="2331720"/>
            <a:ext cx="288036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r>
              <a:rPr sz="1600" b="1" i="0">
                <a:solidFill>
                  <a:srgbClr val="002060"/>
                </a:solidFill>
                <a:latin typeface="Bookman Old Style"/>
              </a:rPr>
              <a:t>Train 3 models</a:t>
            </a:r>
          </a:p>
          <a:p>
            <a:pPr algn="l">
              <a:spcBef>
                <a:spcPts val="600"/>
              </a:spcBef>
            </a:pPr>
            <a:r>
              <a:rPr sz="1500" b="0" i="0">
                <a:solidFill>
                  <a:srgbClr val="1F2937"/>
                </a:solidFill>
                <a:latin typeface="Bookman Old Style"/>
              </a:rPr>
              <a:t>Logistic regression, neural network (MLP), XGBoost.</a:t>
            </a:r>
          </a:p>
        </p:txBody>
      </p:sp>
      <p:sp>
        <p:nvSpPr>
          <p:cNvPr id="11" name="Oval 10"/>
          <p:cNvSpPr/>
          <p:nvPr/>
        </p:nvSpPr>
        <p:spPr>
          <a:xfrm>
            <a:off x="411480" y="4297679"/>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Bookman Old Style"/>
              </a:rPr>
              <a:t>4</a:t>
            </a:r>
          </a:p>
        </p:txBody>
      </p:sp>
      <p:sp>
        <p:nvSpPr>
          <p:cNvPr id="12" name="Rounded Rectangle 11"/>
          <p:cNvSpPr/>
          <p:nvPr/>
        </p:nvSpPr>
        <p:spPr>
          <a:xfrm>
            <a:off x="1143000" y="4206240"/>
            <a:ext cx="288036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r>
              <a:rPr sz="1600" b="1" i="0">
                <a:solidFill>
                  <a:srgbClr val="002060"/>
                </a:solidFill>
                <a:latin typeface="Bookman Old Style"/>
              </a:rPr>
              <a:t>Evaluate fairly</a:t>
            </a:r>
          </a:p>
          <a:p>
            <a:pPr algn="l">
              <a:spcBef>
                <a:spcPts val="600"/>
              </a:spcBef>
            </a:pPr>
            <a:r>
              <a:rPr sz="1500" b="0" i="0">
                <a:solidFill>
                  <a:srgbClr val="1F2937"/>
                </a:solidFill>
                <a:latin typeface="Bookman Old Style"/>
              </a:rPr>
              <a:t>5-fold CV; accuracy, precision, recall, F1, ROC-AUC.</a:t>
            </a:r>
          </a:p>
        </p:txBody>
      </p:sp>
      <p:sp>
        <p:nvSpPr>
          <p:cNvPr id="13" name="Oval 12"/>
          <p:cNvSpPr/>
          <p:nvPr/>
        </p:nvSpPr>
        <p:spPr>
          <a:xfrm>
            <a:off x="4251960" y="4297679"/>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Bookman Old Style"/>
              </a:rPr>
              <a:t>5</a:t>
            </a:r>
          </a:p>
        </p:txBody>
      </p:sp>
      <p:sp>
        <p:nvSpPr>
          <p:cNvPr id="14" name="Rounded Rectangle 13"/>
          <p:cNvSpPr/>
          <p:nvPr/>
        </p:nvSpPr>
        <p:spPr>
          <a:xfrm>
            <a:off x="4983480" y="4206240"/>
            <a:ext cx="288036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r>
              <a:rPr sz="1600" b="1" i="0">
                <a:solidFill>
                  <a:srgbClr val="002060"/>
                </a:solidFill>
                <a:latin typeface="Bookman Old Style"/>
              </a:rPr>
              <a:t>Encrypt</a:t>
            </a:r>
          </a:p>
          <a:p>
            <a:pPr algn="l">
              <a:spcBef>
                <a:spcPts val="600"/>
              </a:spcBef>
            </a:pPr>
            <a:r>
              <a:rPr sz="1500" b="0" i="0">
                <a:solidFill>
                  <a:srgbClr val="1F2937"/>
                </a:solidFill>
                <a:latin typeface="Bookman Old Style"/>
              </a:rPr>
              <a:t>Compile the model to FHE; client-server prediction.</a:t>
            </a:r>
          </a:p>
        </p:txBody>
      </p:sp>
      <p:sp>
        <p:nvSpPr>
          <p:cNvPr id="15" name="Oval 14"/>
          <p:cNvSpPr/>
          <p:nvPr/>
        </p:nvSpPr>
        <p:spPr>
          <a:xfrm>
            <a:off x="8092440" y="4297679"/>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Bookman Old Style"/>
              </a:rPr>
              <a:t>6</a:t>
            </a:r>
          </a:p>
        </p:txBody>
      </p:sp>
      <p:sp>
        <p:nvSpPr>
          <p:cNvPr id="16" name="Rounded Rectangle 15"/>
          <p:cNvSpPr/>
          <p:nvPr/>
        </p:nvSpPr>
        <p:spPr>
          <a:xfrm>
            <a:off x="8823960" y="4206240"/>
            <a:ext cx="2880360" cy="164592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r>
              <a:rPr sz="1600" b="1" i="0">
                <a:solidFill>
                  <a:srgbClr val="002060"/>
                </a:solidFill>
                <a:latin typeface="Bookman Old Style"/>
              </a:rPr>
              <a:t>Compare</a:t>
            </a:r>
          </a:p>
          <a:p>
            <a:pPr algn="l">
              <a:spcBef>
                <a:spcPts val="600"/>
              </a:spcBef>
            </a:pPr>
            <a:r>
              <a:rPr sz="1500" b="0" i="0">
                <a:solidFill>
                  <a:srgbClr val="1F2937"/>
                </a:solidFill>
                <a:latin typeface="Bookman Old Style"/>
              </a:rPr>
              <a:t>Plaintext vs encrypted: agreement, accuracy,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a:solidFill>
                  <a:srgbClr val="C00000"/>
                </a:solidFill>
                <a:latin typeface="Bookman Old Style"/>
                <a:ea typeface="Bookman Old Style"/>
                <a:cs typeface="Bookman Old Style"/>
                <a:sym typeface="Bookman Old Style"/>
              </a:rPr>
              <a:t>Methodology: System Architecture</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
        <p:nvSpPr>
          <p:cNvPr id="4" name="TextBox 3"/>
          <p:cNvSpPr txBox="1"/>
          <p:nvPr/>
        </p:nvSpPr>
        <p:spPr>
          <a:xfrm>
            <a:off x="411480" y="1097280"/>
            <a:ext cx="5486400" cy="320040"/>
          </a:xfrm>
          <a:prstGeom prst="rect">
            <a:avLst/>
          </a:prstGeom>
          <a:noFill/>
        </p:spPr>
        <p:txBody>
          <a:bodyPr wrap="square" lIns="45720" rIns="45720" anchor="t">
            <a:spAutoFit/>
          </a:bodyPr>
          <a:lstStyle/>
          <a:p>
            <a:pPr algn="l"/>
            <a:r>
              <a:rPr sz="1400" b="1" i="0">
                <a:solidFill>
                  <a:srgbClr val="C00000"/>
                </a:solidFill>
                <a:latin typeface="Bookman Old Style"/>
              </a:rPr>
              <a:t>① Training pipeline (offline, run once)</a:t>
            </a:r>
          </a:p>
        </p:txBody>
      </p:sp>
      <p:sp>
        <p:nvSpPr>
          <p:cNvPr id="5" name="Rounded Rectangle 4"/>
          <p:cNvSpPr/>
          <p:nvPr/>
        </p:nvSpPr>
        <p:spPr>
          <a:xfrm>
            <a:off x="411480" y="1463040"/>
            <a:ext cx="1920240" cy="9144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FFFFFF"/>
                </a:solidFill>
                <a:latin typeface="Bookman Old Style"/>
              </a:rPr>
              <a:t>Dataset</a:t>
            </a:r>
          </a:p>
          <a:p>
            <a:pPr algn="ctr"/>
            <a:r>
              <a:rPr sz="1100" b="0" i="0">
                <a:solidFill>
                  <a:srgbClr val="FFFFFF"/>
                </a:solidFill>
                <a:latin typeface="Bookman Old Style"/>
              </a:rPr>
              <a:t>303 patients</a:t>
            </a:r>
          </a:p>
        </p:txBody>
      </p:sp>
      <p:cxnSp>
        <p:nvCxnSpPr>
          <p:cNvPr id="6" name="Connector 5"/>
          <p:cNvCxnSpPr/>
          <p:nvPr/>
        </p:nvCxnSpPr>
        <p:spPr>
          <a:xfrm>
            <a:off x="2350008" y="1920240"/>
            <a:ext cx="329184"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697480" y="1463040"/>
            <a:ext cx="1920240" cy="9144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FFFFFF"/>
                </a:solidFill>
                <a:latin typeface="Bookman Old Style"/>
              </a:rPr>
              <a:t>Cleaning</a:t>
            </a:r>
          </a:p>
          <a:p>
            <a:pPr algn="ctr"/>
            <a:r>
              <a:rPr sz="1100" b="0" i="0">
                <a:solidFill>
                  <a:srgbClr val="FFFFFF"/>
                </a:solidFill>
                <a:latin typeface="Bookman Old Style"/>
              </a:rPr>
              <a:t>fix labels, codes</a:t>
            </a:r>
          </a:p>
        </p:txBody>
      </p:sp>
      <p:cxnSp>
        <p:nvCxnSpPr>
          <p:cNvPr id="8" name="Connector 7"/>
          <p:cNvCxnSpPr/>
          <p:nvPr/>
        </p:nvCxnSpPr>
        <p:spPr>
          <a:xfrm>
            <a:off x="4636008" y="1920240"/>
            <a:ext cx="329184"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983480" y="1463040"/>
            <a:ext cx="1920240" cy="9144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FFFFFF"/>
                </a:solidFill>
                <a:latin typeface="Bookman Old Style"/>
              </a:rPr>
              <a:t>Preprocessing</a:t>
            </a:r>
          </a:p>
          <a:p>
            <a:pPr algn="ctr"/>
            <a:r>
              <a:rPr sz="1100" b="0" i="0">
                <a:solidFill>
                  <a:srgbClr val="FFFFFF"/>
                </a:solidFill>
                <a:latin typeface="Bookman Old Style"/>
              </a:rPr>
              <a:t>scale + one-hot</a:t>
            </a:r>
          </a:p>
        </p:txBody>
      </p:sp>
      <p:cxnSp>
        <p:nvCxnSpPr>
          <p:cNvPr id="10" name="Connector 9"/>
          <p:cNvCxnSpPr/>
          <p:nvPr/>
        </p:nvCxnSpPr>
        <p:spPr>
          <a:xfrm>
            <a:off x="6922008" y="1920240"/>
            <a:ext cx="329184"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269480" y="1463040"/>
            <a:ext cx="1920240" cy="9144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FFFFFF"/>
                </a:solidFill>
                <a:latin typeface="Bookman Old Style"/>
              </a:rPr>
              <a:t>5-fold CV</a:t>
            </a:r>
          </a:p>
          <a:p>
            <a:pPr algn="ctr"/>
            <a:r>
              <a:rPr sz="1100" b="0" i="0">
                <a:solidFill>
                  <a:srgbClr val="FFFFFF"/>
                </a:solidFill>
                <a:latin typeface="Bookman Old Style"/>
              </a:rPr>
              <a:t>nested tuning</a:t>
            </a:r>
          </a:p>
        </p:txBody>
      </p:sp>
      <p:cxnSp>
        <p:nvCxnSpPr>
          <p:cNvPr id="12" name="Connector 11"/>
          <p:cNvCxnSpPr/>
          <p:nvPr/>
        </p:nvCxnSpPr>
        <p:spPr>
          <a:xfrm>
            <a:off x="9208008" y="1920240"/>
            <a:ext cx="329184"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55480" y="1463040"/>
            <a:ext cx="1920240" cy="9144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500" b="1" i="0">
                <a:solidFill>
                  <a:srgbClr val="FFFFFF"/>
                </a:solidFill>
                <a:latin typeface="Bookman Old Style"/>
              </a:rPr>
              <a:t>3 Models</a:t>
            </a:r>
          </a:p>
          <a:p>
            <a:pPr algn="ctr"/>
            <a:r>
              <a:rPr sz="1100" b="0" i="0">
                <a:solidFill>
                  <a:srgbClr val="FFFFFF"/>
                </a:solidFill>
                <a:latin typeface="Bookman Old Style"/>
              </a:rPr>
              <a:t>LR · MLP · XGBoost</a:t>
            </a:r>
          </a:p>
        </p:txBody>
      </p:sp>
      <p:sp>
        <p:nvSpPr>
          <p:cNvPr id="14" name="Rounded Rectangle 13"/>
          <p:cNvSpPr/>
          <p:nvPr/>
        </p:nvSpPr>
        <p:spPr>
          <a:xfrm>
            <a:off x="7269480" y="2743200"/>
            <a:ext cx="1920240" cy="6858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002060"/>
                </a:solidFill>
                <a:latin typeface="Bookman Old Style"/>
              </a:rPr>
              <a:t>Evaluate metrics</a:t>
            </a:r>
          </a:p>
        </p:txBody>
      </p:sp>
      <p:sp>
        <p:nvSpPr>
          <p:cNvPr id="15" name="Rounded Rectangle 14"/>
          <p:cNvSpPr/>
          <p:nvPr/>
        </p:nvSpPr>
        <p:spPr>
          <a:xfrm>
            <a:off x="9555480" y="2743200"/>
            <a:ext cx="2194560" cy="68580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FFFFFF"/>
                </a:solidFill>
                <a:latin typeface="Bookman Old Style"/>
              </a:rPr>
              <a:t>Compile LR → FHE</a:t>
            </a:r>
          </a:p>
        </p:txBody>
      </p:sp>
      <p:cxnSp>
        <p:nvCxnSpPr>
          <p:cNvPr id="16" name="Connector 15"/>
          <p:cNvCxnSpPr/>
          <p:nvPr/>
        </p:nvCxnSpPr>
        <p:spPr>
          <a:xfrm flipH="1">
            <a:off x="8229600" y="2395728"/>
            <a:ext cx="1828800" cy="329184"/>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652760" y="2395728"/>
            <a:ext cx="0" cy="329184"/>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269480" y="3703320"/>
            <a:ext cx="4480560" cy="548640"/>
          </a:xfrm>
          <a:prstGeom prst="roundRect">
            <a:avLst>
              <a:gd name="adj" fmla="val 12000"/>
            </a:avLst>
          </a:prstGeom>
          <a:solidFill>
            <a:srgbClr val="FFFFFF"/>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300" b="1" i="0">
                <a:solidFill>
                  <a:srgbClr val="002060"/>
                </a:solidFill>
                <a:latin typeface="Bookman Old Style"/>
              </a:rPr>
              <a:t>Saved results: metrics, models, FHE circuits</a:t>
            </a:r>
          </a:p>
        </p:txBody>
      </p:sp>
      <p:cxnSp>
        <p:nvCxnSpPr>
          <p:cNvPr id="19" name="Connector 18"/>
          <p:cNvCxnSpPr/>
          <p:nvPr/>
        </p:nvCxnSpPr>
        <p:spPr>
          <a:xfrm>
            <a:off x="8229600" y="3447288"/>
            <a:ext cx="0" cy="237744"/>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652760" y="3447288"/>
            <a:ext cx="0" cy="237744"/>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11480" y="2743200"/>
            <a:ext cx="6583680" cy="1463040"/>
          </a:xfrm>
          <a:prstGeom prst="rect">
            <a:avLst/>
          </a:prstGeom>
          <a:noFill/>
        </p:spPr>
        <p:txBody>
          <a:bodyPr wrap="square" lIns="45720" rIns="45720" anchor="t">
            <a:spAutoFit/>
          </a:bodyPr>
          <a:lstStyle/>
          <a:p>
            <a:pPr algn="l"/>
            <a:r>
              <a:rPr sz="1500" b="1" i="0">
                <a:solidFill>
                  <a:srgbClr val="002060"/>
                </a:solidFill>
                <a:latin typeface="Bookman Old Style"/>
              </a:rPr>
              <a:t>Train once, save, then the web app only loads.</a:t>
            </a:r>
          </a:p>
          <a:p>
            <a:pPr algn="l">
              <a:spcBef>
                <a:spcPts val="600"/>
              </a:spcBef>
            </a:pPr>
            <a:r>
              <a:rPr sz="1500" b="0" i="0">
                <a:solidFill>
                  <a:srgbClr val="1F2937"/>
                </a:solidFill>
                <a:latin typeface="Bookman Old Style"/>
              </a:rPr>
              <a:t>Training, tuning and FHE compilation run once, offline. The dashboard never trains anything.</a:t>
            </a:r>
          </a:p>
        </p:txBody>
      </p:sp>
      <p:cxnSp>
        <p:nvCxnSpPr>
          <p:cNvPr id="22" name="Connector 21"/>
          <p:cNvCxnSpPr/>
          <p:nvPr/>
        </p:nvCxnSpPr>
        <p:spPr>
          <a:xfrm>
            <a:off x="411480" y="4480560"/>
            <a:ext cx="11338560" cy="0"/>
          </a:xfrm>
          <a:prstGeom prst="line">
            <a:avLst/>
          </a:prstGeom>
          <a:ln w="12700">
            <a:solidFill>
              <a:srgbClr val="B8C2D6"/>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11480" y="4526280"/>
            <a:ext cx="5486400" cy="320040"/>
          </a:xfrm>
          <a:prstGeom prst="rect">
            <a:avLst/>
          </a:prstGeom>
          <a:noFill/>
        </p:spPr>
        <p:txBody>
          <a:bodyPr wrap="square" lIns="45720" rIns="45720" anchor="t">
            <a:spAutoFit/>
          </a:bodyPr>
          <a:lstStyle/>
          <a:p>
            <a:pPr algn="l"/>
            <a:r>
              <a:rPr sz="1400" b="1" i="0">
                <a:solidFill>
                  <a:srgbClr val="C00000"/>
                </a:solidFill>
                <a:latin typeface="Bookman Old Style"/>
              </a:rPr>
              <a:t>② Web application (live, Flask)</a:t>
            </a:r>
          </a:p>
        </p:txBody>
      </p:sp>
      <p:cxnSp>
        <p:nvCxnSpPr>
          <p:cNvPr id="24" name="Connector 23"/>
          <p:cNvCxnSpPr/>
          <p:nvPr/>
        </p:nvCxnSpPr>
        <p:spPr>
          <a:xfrm>
            <a:off x="9509760" y="4270248"/>
            <a:ext cx="0" cy="621792"/>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11480" y="4919472"/>
            <a:ext cx="2651760" cy="11887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600" b="1" i="0">
                <a:solidFill>
                  <a:srgbClr val="FFFFFF"/>
                </a:solidFill>
                <a:latin typeface="Bookman Old Style"/>
              </a:rPr>
              <a:t>Dashboard</a:t>
            </a:r>
          </a:p>
          <a:p>
            <a:pPr algn="ctr"/>
            <a:r>
              <a:rPr sz="1100" b="0" i="0">
                <a:solidFill>
                  <a:srgbClr val="FFFFFF"/>
                </a:solidFill>
                <a:latin typeface="Bookman Old Style"/>
              </a:rPr>
              <a:t>browser</a:t>
            </a:r>
          </a:p>
        </p:txBody>
      </p:sp>
      <p:sp>
        <p:nvSpPr>
          <p:cNvPr id="26" name="Rounded Rectangle 25"/>
          <p:cNvSpPr/>
          <p:nvPr/>
        </p:nvSpPr>
        <p:spPr>
          <a:xfrm>
            <a:off x="4434840" y="4919472"/>
            <a:ext cx="2834640" cy="118872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600" b="1" i="0">
                <a:solidFill>
                  <a:srgbClr val="FFFFFF"/>
                </a:solidFill>
                <a:latin typeface="Bookman Old Style"/>
              </a:rPr>
              <a:t>Client</a:t>
            </a:r>
          </a:p>
          <a:p>
            <a:pPr algn="ctr"/>
            <a:r>
              <a:rPr sz="1100" b="0" i="0">
                <a:solidFill>
                  <a:srgbClr val="FFFFFF"/>
                </a:solidFill>
                <a:latin typeface="Bookman Old Style"/>
              </a:rPr>
              <a:t>encrypts · decrypts · secret key</a:t>
            </a:r>
          </a:p>
        </p:txBody>
      </p:sp>
      <p:sp>
        <p:nvSpPr>
          <p:cNvPr id="27" name="Rounded Rectangle 26"/>
          <p:cNvSpPr/>
          <p:nvPr/>
        </p:nvSpPr>
        <p:spPr>
          <a:xfrm>
            <a:off x="8641080" y="4919472"/>
            <a:ext cx="3108960" cy="11887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600" b="1" i="0">
                <a:solidFill>
                  <a:srgbClr val="FFFFFF"/>
                </a:solidFill>
                <a:latin typeface="Bookman Old Style"/>
              </a:rPr>
              <a:t>Server</a:t>
            </a:r>
          </a:p>
          <a:p>
            <a:pPr algn="ctr"/>
            <a:r>
              <a:rPr sz="1100" b="0" i="0">
                <a:solidFill>
                  <a:srgbClr val="FFFFFF"/>
                </a:solidFill>
                <a:latin typeface="Bookman Old Style"/>
              </a:rPr>
              <a:t>computes on ciphertext · no key</a:t>
            </a:r>
          </a:p>
        </p:txBody>
      </p:sp>
      <p:cxnSp>
        <p:nvCxnSpPr>
          <p:cNvPr id="28" name="Connector 27"/>
          <p:cNvCxnSpPr/>
          <p:nvPr/>
        </p:nvCxnSpPr>
        <p:spPr>
          <a:xfrm>
            <a:off x="3108960" y="5257800"/>
            <a:ext cx="1280160" cy="0"/>
          </a:xfrm>
          <a:prstGeom prst="line">
            <a:avLst/>
          </a:prstGeom>
          <a:ln w="25400">
            <a:solidFill>
              <a:srgbClr val="1E7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3108960" y="5760720"/>
            <a:ext cx="1280160"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971800" y="4956048"/>
            <a:ext cx="1554480" cy="274320"/>
          </a:xfrm>
          <a:prstGeom prst="rect">
            <a:avLst/>
          </a:prstGeom>
          <a:noFill/>
        </p:spPr>
        <p:txBody>
          <a:bodyPr wrap="square" lIns="45720" rIns="45720" anchor="t">
            <a:spAutoFit/>
          </a:bodyPr>
          <a:lstStyle/>
          <a:p>
            <a:pPr algn="ctr"/>
            <a:r>
              <a:rPr sz="1000" b="0" i="0">
                <a:solidFill>
                  <a:srgbClr val="1F2937"/>
                </a:solidFill>
                <a:latin typeface="Bookman Old Style"/>
              </a:rPr>
              <a:t>patient</a:t>
            </a:r>
          </a:p>
        </p:txBody>
      </p:sp>
      <p:sp>
        <p:nvSpPr>
          <p:cNvPr id="31" name="TextBox 30"/>
          <p:cNvSpPr txBox="1"/>
          <p:nvPr/>
        </p:nvSpPr>
        <p:spPr>
          <a:xfrm>
            <a:off x="2880360" y="5788152"/>
            <a:ext cx="1737360" cy="274320"/>
          </a:xfrm>
          <a:prstGeom prst="rect">
            <a:avLst/>
          </a:prstGeom>
          <a:noFill/>
        </p:spPr>
        <p:txBody>
          <a:bodyPr wrap="square" lIns="45720" rIns="45720" anchor="t">
            <a:spAutoFit/>
          </a:bodyPr>
          <a:lstStyle/>
          <a:p>
            <a:pPr algn="ctr"/>
            <a:r>
              <a:rPr sz="1000" b="0" i="0">
                <a:solidFill>
                  <a:srgbClr val="1F2937"/>
                </a:solidFill>
                <a:latin typeface="Bookman Old Style"/>
              </a:rPr>
              <a:t>result</a:t>
            </a:r>
          </a:p>
        </p:txBody>
      </p:sp>
      <p:cxnSp>
        <p:nvCxnSpPr>
          <p:cNvPr id="32" name="Connector 31"/>
          <p:cNvCxnSpPr/>
          <p:nvPr/>
        </p:nvCxnSpPr>
        <p:spPr>
          <a:xfrm>
            <a:off x="7315200" y="5257800"/>
            <a:ext cx="1280160" cy="0"/>
          </a:xfrm>
          <a:prstGeom prst="line">
            <a:avLst/>
          </a:prstGeom>
          <a:ln w="25400">
            <a:solidFill>
              <a:srgbClr val="1E7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7315200" y="5760720"/>
            <a:ext cx="1280160"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178040" y="4956048"/>
            <a:ext cx="1554480" cy="274320"/>
          </a:xfrm>
          <a:prstGeom prst="rect">
            <a:avLst/>
          </a:prstGeom>
          <a:noFill/>
        </p:spPr>
        <p:txBody>
          <a:bodyPr wrap="square" lIns="45720" rIns="45720" anchor="t">
            <a:spAutoFit/>
          </a:bodyPr>
          <a:lstStyle/>
          <a:p>
            <a:pPr algn="ctr"/>
            <a:r>
              <a:rPr sz="1000" b="0" i="0">
                <a:solidFill>
                  <a:srgbClr val="1F2937"/>
                </a:solidFill>
                <a:latin typeface="Bookman Old Style"/>
              </a:rPr>
              <a:t>ciphertext</a:t>
            </a:r>
          </a:p>
        </p:txBody>
      </p:sp>
      <p:sp>
        <p:nvSpPr>
          <p:cNvPr id="35" name="TextBox 34"/>
          <p:cNvSpPr txBox="1"/>
          <p:nvPr/>
        </p:nvSpPr>
        <p:spPr>
          <a:xfrm>
            <a:off x="7086600" y="5788152"/>
            <a:ext cx="1737360" cy="274320"/>
          </a:xfrm>
          <a:prstGeom prst="rect">
            <a:avLst/>
          </a:prstGeom>
          <a:noFill/>
        </p:spPr>
        <p:txBody>
          <a:bodyPr wrap="square" lIns="45720" rIns="45720" anchor="t">
            <a:spAutoFit/>
          </a:bodyPr>
          <a:lstStyle/>
          <a:p>
            <a:pPr algn="ctr"/>
            <a:r>
              <a:rPr sz="1000" b="0" i="0">
                <a:solidFill>
                  <a:srgbClr val="1F2937"/>
                </a:solidFill>
                <a:latin typeface="Bookman Old Style"/>
              </a:rPr>
              <a:t>encrypted answer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a:solidFill>
                  <a:srgbClr val="C00000"/>
                </a:solidFill>
                <a:latin typeface="Bookman Old Style"/>
                <a:ea typeface="Bookman Old Style"/>
                <a:cs typeface="Bookman Old Style"/>
                <a:sym typeface="Bookman Old Style"/>
              </a:rPr>
              <a:t>Methodology: Encrypted Prediction</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4" name="Rounded Rectangle 3"/>
          <p:cNvSpPr/>
          <p:nvPr/>
        </p:nvSpPr>
        <p:spPr>
          <a:xfrm>
            <a:off x="411480" y="1188720"/>
            <a:ext cx="3474720" cy="59436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FFFFFF"/>
                </a:solidFill>
                <a:latin typeface="Bookman Old Style"/>
              </a:rPr>
              <a:t>STEP 1 · CLIENT</a:t>
            </a:r>
          </a:p>
        </p:txBody>
      </p:sp>
      <p:sp>
        <p:nvSpPr>
          <p:cNvPr id="5" name="Rounded Rectangle 4"/>
          <p:cNvSpPr/>
          <p:nvPr/>
        </p:nvSpPr>
        <p:spPr>
          <a:xfrm>
            <a:off x="411480" y="1874519"/>
            <a:ext cx="3474720" cy="265176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r>
              <a:rPr sz="1800" b="1" i="0">
                <a:solidFill>
                  <a:srgbClr val="002060"/>
                </a:solidFill>
                <a:latin typeface="Bookman Old Style"/>
              </a:rPr>
              <a:t>Encrypt</a:t>
            </a:r>
          </a:p>
          <a:p>
            <a:pPr algn="l">
              <a:spcBef>
                <a:spcPts val="1000"/>
              </a:spcBef>
            </a:pPr>
            <a:r>
              <a:rPr sz="1600" b="0" i="0">
                <a:solidFill>
                  <a:srgbClr val="1F2937"/>
                </a:solidFill>
                <a:latin typeface="Bookman Old Style"/>
              </a:rPr>
              <a:t>Round the 25 inputs to small integers (quantisation), then encrypt them with the secret key.</a:t>
            </a:r>
          </a:p>
        </p:txBody>
      </p:sp>
      <p:cxnSp>
        <p:nvCxnSpPr>
          <p:cNvPr id="6" name="Connector 5"/>
          <p:cNvCxnSpPr/>
          <p:nvPr/>
        </p:nvCxnSpPr>
        <p:spPr>
          <a:xfrm>
            <a:off x="3931920" y="3200400"/>
            <a:ext cx="274320"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251960" y="1188720"/>
            <a:ext cx="3474720" cy="59436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FFFFFF"/>
                </a:solidFill>
                <a:latin typeface="Bookman Old Style"/>
              </a:rPr>
              <a:t>STEP 2 · SERVER</a:t>
            </a:r>
          </a:p>
        </p:txBody>
      </p:sp>
      <p:sp>
        <p:nvSpPr>
          <p:cNvPr id="8" name="Rounded Rectangle 7"/>
          <p:cNvSpPr/>
          <p:nvPr/>
        </p:nvSpPr>
        <p:spPr>
          <a:xfrm>
            <a:off x="4251960" y="1874519"/>
            <a:ext cx="3474720" cy="265176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r>
              <a:rPr sz="1800" b="1" i="0">
                <a:solidFill>
                  <a:srgbClr val="002060"/>
                </a:solidFill>
                <a:latin typeface="Bookman Old Style"/>
              </a:rPr>
              <a:t>Compute on ciphertext</a:t>
            </a:r>
          </a:p>
          <a:p>
            <a:pPr algn="l">
              <a:spcBef>
                <a:spcPts val="1000"/>
              </a:spcBef>
            </a:pPr>
            <a:r>
              <a:rPr sz="1600" b="0" i="0">
                <a:solidFill>
                  <a:srgbClr val="1F2937"/>
                </a:solidFill>
                <a:latin typeface="Bookman Old Style"/>
              </a:rPr>
              <a:t>Run the model, compiled into an FHE circuit, on the encrypted data using only a public evaluation key.</a:t>
            </a:r>
          </a:p>
        </p:txBody>
      </p:sp>
      <p:cxnSp>
        <p:nvCxnSpPr>
          <p:cNvPr id="9" name="Connector 8"/>
          <p:cNvCxnSpPr/>
          <p:nvPr/>
        </p:nvCxnSpPr>
        <p:spPr>
          <a:xfrm>
            <a:off x="7772400" y="3200400"/>
            <a:ext cx="274320" cy="0"/>
          </a:xfrm>
          <a:prstGeom prst="line">
            <a:avLst/>
          </a:prstGeom>
          <a:ln w="25400">
            <a:solidFill>
              <a:srgbClr val="002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092440" y="1188720"/>
            <a:ext cx="3474720" cy="59436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400" b="1" i="0">
                <a:solidFill>
                  <a:srgbClr val="FFFFFF"/>
                </a:solidFill>
                <a:latin typeface="Bookman Old Style"/>
              </a:rPr>
              <a:t>STEP 3 · CLIENT</a:t>
            </a:r>
          </a:p>
        </p:txBody>
      </p:sp>
      <p:sp>
        <p:nvSpPr>
          <p:cNvPr id="11" name="Rounded Rectangle 10"/>
          <p:cNvSpPr/>
          <p:nvPr/>
        </p:nvSpPr>
        <p:spPr>
          <a:xfrm>
            <a:off x="8092440" y="1874519"/>
            <a:ext cx="3474720" cy="265176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r>
              <a:rPr sz="1800" b="1" i="0">
                <a:solidFill>
                  <a:srgbClr val="002060"/>
                </a:solidFill>
                <a:latin typeface="Bookman Old Style"/>
              </a:rPr>
              <a:t>Decrypt</a:t>
            </a:r>
          </a:p>
          <a:p>
            <a:pPr algn="l">
              <a:spcBef>
                <a:spcPts val="1000"/>
              </a:spcBef>
            </a:pPr>
            <a:r>
              <a:rPr sz="1600" b="0" i="0">
                <a:solidFill>
                  <a:srgbClr val="1F2937"/>
                </a:solidFill>
                <a:latin typeface="Bookman Old Style"/>
              </a:rPr>
              <a:t>Unlock the encrypted answer with the secret key to get the disease probability.</a:t>
            </a:r>
          </a:p>
        </p:txBody>
      </p:sp>
      <p:sp>
        <p:nvSpPr>
          <p:cNvPr id="12" name="TextBox 11"/>
          <p:cNvSpPr txBox="1"/>
          <p:nvPr/>
        </p:nvSpPr>
        <p:spPr>
          <a:xfrm>
            <a:off x="411480" y="4800600"/>
            <a:ext cx="3474720" cy="1280160"/>
          </a:xfrm>
          <a:prstGeom prst="rect">
            <a:avLst/>
          </a:prstGeom>
          <a:noFill/>
        </p:spPr>
        <p:txBody>
          <a:bodyPr wrap="square" lIns="45720" rIns="45720" anchor="t">
            <a:spAutoFit/>
          </a:bodyPr>
          <a:lstStyle/>
          <a:p>
            <a:pPr algn="l"/>
            <a:r>
              <a:rPr sz="1700" b="1" i="0">
                <a:solidFill>
                  <a:srgbClr val="1E7B4F"/>
                </a:solidFill>
                <a:latin typeface="Bookman Old Style"/>
              </a:rPr>
              <a:t>Only ciphertext</a:t>
            </a:r>
          </a:p>
          <a:p>
            <a:pPr algn="l">
              <a:spcBef>
                <a:spcPts val="300"/>
              </a:spcBef>
            </a:pPr>
            <a:r>
              <a:rPr sz="1400" b="0" i="0">
                <a:solidFill>
                  <a:srgbClr val="1F2937"/>
                </a:solidFill>
                <a:latin typeface="Bookman Old Style"/>
              </a:rPr>
              <a:t>the server receives unreadable bytes, never feature values.</a:t>
            </a:r>
          </a:p>
        </p:txBody>
      </p:sp>
      <p:sp>
        <p:nvSpPr>
          <p:cNvPr id="13" name="TextBox 12"/>
          <p:cNvSpPr txBox="1"/>
          <p:nvPr/>
        </p:nvSpPr>
        <p:spPr>
          <a:xfrm>
            <a:off x="4251960" y="4800600"/>
            <a:ext cx="3474720" cy="1280160"/>
          </a:xfrm>
          <a:prstGeom prst="rect">
            <a:avLst/>
          </a:prstGeom>
          <a:noFill/>
        </p:spPr>
        <p:txBody>
          <a:bodyPr wrap="square" lIns="45720" rIns="45720" anchor="t">
            <a:spAutoFit/>
          </a:bodyPr>
          <a:lstStyle/>
          <a:p>
            <a:pPr algn="l"/>
            <a:r>
              <a:rPr sz="1700" b="1" i="0">
                <a:solidFill>
                  <a:srgbClr val="1E7B4F"/>
                </a:solidFill>
                <a:latin typeface="Bookman Old Style"/>
              </a:rPr>
              <a:t>Secret key stays</a:t>
            </a:r>
          </a:p>
          <a:p>
            <a:pPr algn="l">
              <a:spcBef>
                <a:spcPts val="300"/>
              </a:spcBef>
            </a:pPr>
            <a:r>
              <a:rPr sz="1400" b="0" i="0">
                <a:solidFill>
                  <a:srgbClr val="1F2937"/>
                </a:solidFill>
                <a:latin typeface="Bookman Old Style"/>
              </a:rPr>
              <a:t>with the client; the server cannot decrypt anything.</a:t>
            </a:r>
          </a:p>
        </p:txBody>
      </p:sp>
      <p:sp>
        <p:nvSpPr>
          <p:cNvPr id="14" name="TextBox 13"/>
          <p:cNvSpPr txBox="1"/>
          <p:nvPr/>
        </p:nvSpPr>
        <p:spPr>
          <a:xfrm>
            <a:off x="8092440" y="4800600"/>
            <a:ext cx="3474720" cy="1280160"/>
          </a:xfrm>
          <a:prstGeom prst="rect">
            <a:avLst/>
          </a:prstGeom>
          <a:noFill/>
        </p:spPr>
        <p:txBody>
          <a:bodyPr wrap="square" lIns="45720" rIns="45720" anchor="t">
            <a:spAutoFit/>
          </a:bodyPr>
          <a:lstStyle/>
          <a:p>
            <a:pPr algn="l"/>
            <a:r>
              <a:rPr sz="1700" b="1" i="0">
                <a:solidFill>
                  <a:srgbClr val="1E7B4F"/>
                </a:solidFill>
                <a:latin typeface="Bookman Old Style"/>
              </a:rPr>
              <a:t>Why integers?</a:t>
            </a:r>
          </a:p>
          <a:p>
            <a:pPr algn="l">
              <a:spcBef>
                <a:spcPts val="300"/>
              </a:spcBef>
            </a:pPr>
            <a:r>
              <a:rPr sz="1400" b="0" i="0">
                <a:solidFill>
                  <a:srgbClr val="1F2937"/>
                </a:solidFill>
                <a:latin typeface="Bookman Old Style"/>
              </a:rPr>
              <a:t>the FHE scheme we use (TFHE, via Concrete ML) works on whole numbers.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4" name="Rounded Rectangle 3"/>
          <p:cNvSpPr/>
          <p:nvPr/>
        </p:nvSpPr>
        <p:spPr>
          <a:xfrm>
            <a:off x="411480" y="1234440"/>
            <a:ext cx="219456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600" b="1" i="0">
                <a:solidFill>
                  <a:srgbClr val="FFFFFF"/>
                </a:solidFill>
                <a:latin typeface="Bookman Old Style"/>
              </a:rPr>
              <a:t>Expected results</a:t>
            </a:r>
          </a:p>
        </p:txBody>
      </p:sp>
      <p:sp>
        <p:nvSpPr>
          <p:cNvPr id="5" name="Rounded Rectangle 4"/>
          <p:cNvSpPr/>
          <p:nvPr/>
        </p:nvSpPr>
        <p:spPr>
          <a:xfrm>
            <a:off x="2697480" y="1234440"/>
            <a:ext cx="457200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r>
              <a:rPr sz="1400" b="0" i="0">
                <a:solidFill>
                  <a:srgbClr val="1F2937"/>
                </a:solidFill>
                <a:latin typeface="Bookman Old Style"/>
              </a:rPr>
              <a:t>A full comparison of the 3 models on accuracy, precision, recall, F1 and ROC-AUC, plus a working encrypted version of the models with a side-by-side plaintext vs encrypted comparison.</a:t>
            </a:r>
          </a:p>
        </p:txBody>
      </p:sp>
      <p:sp>
        <p:nvSpPr>
          <p:cNvPr id="6" name="Rounded Rectangle 5"/>
          <p:cNvSpPr/>
          <p:nvPr/>
        </p:nvSpPr>
        <p:spPr>
          <a:xfrm>
            <a:off x="411480" y="2834640"/>
            <a:ext cx="219456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600" b="1" i="0">
                <a:solidFill>
                  <a:srgbClr val="FFFFFF"/>
                </a:solidFill>
                <a:latin typeface="Bookman Old Style"/>
              </a:rPr>
              <a:t>Potential impact</a:t>
            </a:r>
          </a:p>
        </p:txBody>
      </p:sp>
      <p:sp>
        <p:nvSpPr>
          <p:cNvPr id="7" name="Rounded Rectangle 6"/>
          <p:cNvSpPr/>
          <p:nvPr/>
        </p:nvSpPr>
        <p:spPr>
          <a:xfrm>
            <a:off x="2697480" y="2834640"/>
            <a:ext cx="457200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r>
              <a:rPr sz="1400" b="0" i="0">
                <a:solidFill>
                  <a:srgbClr val="1F2937"/>
                </a:solidFill>
                <a:latin typeface="Bookman Old Style"/>
              </a:rPr>
              <a:t>Shows a hospital or health app can offer AI risk prediction without exposing patient records, and which model is worth its encryption cost.</a:t>
            </a:r>
          </a:p>
        </p:txBody>
      </p:sp>
      <p:sp>
        <p:nvSpPr>
          <p:cNvPr id="8" name="Rounded Rectangle 7"/>
          <p:cNvSpPr/>
          <p:nvPr/>
        </p:nvSpPr>
        <p:spPr>
          <a:xfrm>
            <a:off x="411480" y="4434840"/>
            <a:ext cx="219456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600" b="1" i="0">
                <a:solidFill>
                  <a:srgbClr val="FFFFFF"/>
                </a:solidFill>
                <a:latin typeface="Bookman Old Style"/>
              </a:rPr>
              <a:t>Future directions</a:t>
            </a:r>
          </a:p>
        </p:txBody>
      </p:sp>
      <p:sp>
        <p:nvSpPr>
          <p:cNvPr id="9" name="Rounded Rectangle 8"/>
          <p:cNvSpPr/>
          <p:nvPr/>
        </p:nvSpPr>
        <p:spPr>
          <a:xfrm>
            <a:off x="2697480" y="4434840"/>
            <a:ext cx="457200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r>
              <a:rPr sz="1400" b="0" i="0">
                <a:solidFill>
                  <a:srgbClr val="1F2937"/>
                </a:solidFill>
                <a:latin typeface="Bookman Old Style"/>
              </a:rPr>
              <a:t>Larger and multi-hospital datasets, other FHE schemes (e.g. CKKS), and deployment with the client running on the patient's device.</a:t>
            </a:r>
          </a:p>
        </p:txBody>
      </p:sp>
      <p:sp>
        <p:nvSpPr>
          <p:cNvPr id="10" name="Rounded Rectangle 9"/>
          <p:cNvSpPr/>
          <p:nvPr/>
        </p:nvSpPr>
        <p:spPr>
          <a:xfrm>
            <a:off x="7589520" y="1234440"/>
            <a:ext cx="4160520" cy="4572000"/>
          </a:xfrm>
          <a:prstGeom prst="roundRect">
            <a:avLst>
              <a:gd name="adj" fmla="val 12000"/>
            </a:avLst>
          </a:prstGeom>
          <a:solidFill>
            <a:srgbClr val="FFFFFF"/>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endParaRPr/>
          </a:p>
        </p:txBody>
      </p:sp>
      <p:sp>
        <p:nvSpPr>
          <p:cNvPr id="11" name="TextBox 10"/>
          <p:cNvSpPr txBox="1"/>
          <p:nvPr/>
        </p:nvSpPr>
        <p:spPr>
          <a:xfrm>
            <a:off x="7772400" y="1371600"/>
            <a:ext cx="3794760" cy="411480"/>
          </a:xfrm>
          <a:prstGeom prst="rect">
            <a:avLst/>
          </a:prstGeom>
          <a:noFill/>
        </p:spPr>
        <p:txBody>
          <a:bodyPr wrap="square" lIns="45720" rIns="45720" anchor="t">
            <a:spAutoFit/>
          </a:bodyPr>
          <a:lstStyle/>
          <a:p>
            <a:pPr algn="ctr"/>
            <a:r>
              <a:rPr sz="1700" b="1" i="0">
                <a:solidFill>
                  <a:srgbClr val="002060"/>
                </a:solidFill>
                <a:latin typeface="Bookman Old Style"/>
              </a:rPr>
              <a:t>What we expect to see</a:t>
            </a:r>
          </a:p>
        </p:txBody>
      </p:sp>
      <p:sp>
        <p:nvSpPr>
          <p:cNvPr id="12" name="Oval 11"/>
          <p:cNvSpPr/>
          <p:nvPr/>
        </p:nvSpPr>
        <p:spPr>
          <a:xfrm>
            <a:off x="7818120" y="2029968"/>
            <a:ext cx="384048" cy="384048"/>
          </a:xfrm>
          <a:prstGeom prst="ellipse">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8366760" y="1920240"/>
            <a:ext cx="3246120" cy="1188720"/>
          </a:xfrm>
          <a:prstGeom prst="rect">
            <a:avLst/>
          </a:prstGeom>
          <a:noFill/>
        </p:spPr>
        <p:txBody>
          <a:bodyPr wrap="square" lIns="45720" rIns="45720" anchor="t">
            <a:spAutoFit/>
          </a:bodyPr>
          <a:lstStyle/>
          <a:p>
            <a:pPr algn="l"/>
            <a:r>
              <a:rPr sz="1300" b="1" i="0">
                <a:solidFill>
                  <a:srgbClr val="002060"/>
                </a:solidFill>
                <a:latin typeface="Bookman Old Style"/>
              </a:rPr>
              <a:t>Logistic regression</a:t>
            </a:r>
          </a:p>
          <a:p>
            <a:pPr algn="l">
              <a:spcBef>
                <a:spcPts val="200"/>
              </a:spcBef>
            </a:pPr>
            <a:r>
              <a:rPr sz="1300" b="0" i="0">
                <a:solidFill>
                  <a:srgbClr val="1F2937"/>
                </a:solidFill>
                <a:latin typeface="Bookman Old Style"/>
              </a:rPr>
              <a:t>almost no accuracy loss when encrypted (it is already linear)</a:t>
            </a:r>
          </a:p>
        </p:txBody>
      </p:sp>
      <p:sp>
        <p:nvSpPr>
          <p:cNvPr id="14" name="Oval 13"/>
          <p:cNvSpPr/>
          <p:nvPr/>
        </p:nvSpPr>
        <p:spPr>
          <a:xfrm>
            <a:off x="7818120" y="3310128"/>
            <a:ext cx="384048" cy="384048"/>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8366760" y="3200400"/>
            <a:ext cx="3246120" cy="1188720"/>
          </a:xfrm>
          <a:prstGeom prst="rect">
            <a:avLst/>
          </a:prstGeom>
          <a:noFill/>
        </p:spPr>
        <p:txBody>
          <a:bodyPr wrap="square" lIns="45720" rIns="45720" anchor="t">
            <a:spAutoFit/>
          </a:bodyPr>
          <a:lstStyle/>
          <a:p>
            <a:pPr algn="l"/>
            <a:r>
              <a:rPr sz="1300" b="1" i="0">
                <a:solidFill>
                  <a:srgbClr val="002060"/>
                </a:solidFill>
                <a:latin typeface="Bookman Old Style"/>
              </a:rPr>
              <a:t>MLP</a:t>
            </a:r>
          </a:p>
          <a:p>
            <a:pPr algn="l">
              <a:spcBef>
                <a:spcPts val="200"/>
              </a:spcBef>
            </a:pPr>
            <a:r>
              <a:rPr sz="1300" b="0" i="0">
                <a:solidFill>
                  <a:srgbClr val="1F2937"/>
                </a:solidFill>
                <a:latin typeface="Bookman Old Style"/>
              </a:rPr>
              <a:t>small loss: its activation must be replaced by a polynomial (Zimerman et al., 2024)</a:t>
            </a:r>
          </a:p>
        </p:txBody>
      </p:sp>
      <p:sp>
        <p:nvSpPr>
          <p:cNvPr id="16" name="Oval 15"/>
          <p:cNvSpPr/>
          <p:nvPr/>
        </p:nvSpPr>
        <p:spPr>
          <a:xfrm>
            <a:off x="7818120" y="4590288"/>
            <a:ext cx="384048" cy="38404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8366760" y="4480560"/>
            <a:ext cx="3246120" cy="1188720"/>
          </a:xfrm>
          <a:prstGeom prst="rect">
            <a:avLst/>
          </a:prstGeom>
          <a:noFill/>
        </p:spPr>
        <p:txBody>
          <a:bodyPr wrap="square" lIns="45720" rIns="45720" anchor="t">
            <a:spAutoFit/>
          </a:bodyPr>
          <a:lstStyle/>
          <a:p>
            <a:pPr algn="l"/>
            <a:r>
              <a:rPr sz="1300" b="1" i="0">
                <a:solidFill>
                  <a:srgbClr val="002060"/>
                </a:solidFill>
                <a:latin typeface="Bookman Old Style"/>
              </a:rPr>
              <a:t>Encryption cost</a:t>
            </a:r>
          </a:p>
          <a:p>
            <a:pPr algn="l">
              <a:spcBef>
                <a:spcPts val="200"/>
              </a:spcBef>
            </a:pPr>
            <a:r>
              <a:rPr sz="1300" b="0" i="0">
                <a:solidFill>
                  <a:srgbClr val="1F2937"/>
                </a:solidFill>
                <a:latin typeface="Bookman Old Style"/>
              </a:rPr>
              <a:t>grows with model complexity: time and memory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4" name="Rounded Rectangle 3"/>
          <p:cNvSpPr/>
          <p:nvPr/>
        </p:nvSpPr>
        <p:spPr>
          <a:xfrm>
            <a:off x="411480" y="1234440"/>
            <a:ext cx="237744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700" b="1" i="0">
                <a:solidFill>
                  <a:srgbClr val="FFFFFF"/>
                </a:solidFill>
                <a:latin typeface="Bookman Old Style"/>
              </a:rPr>
              <a:t>Summary</a:t>
            </a:r>
          </a:p>
        </p:txBody>
      </p:sp>
      <p:sp>
        <p:nvSpPr>
          <p:cNvPr id="5" name="Rounded Rectangle 4"/>
          <p:cNvSpPr/>
          <p:nvPr/>
        </p:nvSpPr>
        <p:spPr>
          <a:xfrm>
            <a:off x="2880360" y="1234440"/>
            <a:ext cx="886968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600" b="0" i="0">
                <a:solidFill>
                  <a:srgbClr val="1F2937"/>
                </a:solidFill>
                <a:latin typeface="Bookman Old Style"/>
              </a:rPr>
              <a:t>We will compare three heart-disease models of increasing complexity, and run them on encrypted patient data using Fully Homomorphic Encryption.</a:t>
            </a:r>
          </a:p>
        </p:txBody>
      </p:sp>
      <p:sp>
        <p:nvSpPr>
          <p:cNvPr id="6" name="Rounded Rectangle 5"/>
          <p:cNvSpPr/>
          <p:nvPr/>
        </p:nvSpPr>
        <p:spPr>
          <a:xfrm>
            <a:off x="411480" y="2834640"/>
            <a:ext cx="2377440" cy="137160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700" b="1" i="0">
                <a:solidFill>
                  <a:srgbClr val="FFFFFF"/>
                </a:solidFill>
                <a:latin typeface="Bookman Old Style"/>
              </a:rPr>
              <a:t>Final thought</a:t>
            </a:r>
          </a:p>
        </p:txBody>
      </p:sp>
      <p:sp>
        <p:nvSpPr>
          <p:cNvPr id="7" name="Rounded Rectangle 6"/>
          <p:cNvSpPr/>
          <p:nvPr/>
        </p:nvSpPr>
        <p:spPr>
          <a:xfrm>
            <a:off x="2880360" y="2834640"/>
            <a:ext cx="886968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600" b="0" i="0">
                <a:solidFill>
                  <a:srgbClr val="1F2937"/>
                </a:solidFill>
                <a:latin typeface="Bookman Old Style"/>
              </a:rPr>
              <a:t>The project measures not only which model is most accurate, but how much of that accuracy survives encryption, and at what cost.</a:t>
            </a:r>
          </a:p>
        </p:txBody>
      </p:sp>
      <p:sp>
        <p:nvSpPr>
          <p:cNvPr id="8" name="Rounded Rectangle 7"/>
          <p:cNvSpPr/>
          <p:nvPr/>
        </p:nvSpPr>
        <p:spPr>
          <a:xfrm>
            <a:off x="411480" y="4434840"/>
            <a:ext cx="2377440" cy="137160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700" b="1" i="0">
                <a:solidFill>
                  <a:srgbClr val="FFFFFF"/>
                </a:solidFill>
                <a:latin typeface="Bookman Old Style"/>
              </a:rPr>
              <a:t>Next steps</a:t>
            </a:r>
          </a:p>
        </p:txBody>
      </p:sp>
      <p:sp>
        <p:nvSpPr>
          <p:cNvPr id="9" name="Rounded Rectangle 8"/>
          <p:cNvSpPr/>
          <p:nvPr/>
        </p:nvSpPr>
        <p:spPr>
          <a:xfrm>
            <a:off x="2880360" y="4434840"/>
            <a:ext cx="8869680" cy="1371600"/>
          </a:xfrm>
          <a:prstGeom prst="roundRect">
            <a:avLst>
              <a:gd name="adj" fmla="val 12000"/>
            </a:avLst>
          </a:prstGeom>
          <a:solidFill>
            <a:srgbClr val="E8EDF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600" b="0" i="0">
                <a:solidFill>
                  <a:srgbClr val="1F2937"/>
                </a:solidFill>
                <a:latin typeface="Bookman Old Style"/>
              </a:rPr>
              <a:t>Finish preprocessing and training with 5-fold CV, then compile the models to FHE and build the client-server simulation.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5"/>
          <p:cNvSpPr txBox="1"/>
          <p:nvPr/>
        </p:nvSpPr>
        <p:spPr>
          <a:xfrm>
            <a:off x="2103120" y="145670"/>
            <a:ext cx="9829800"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sz="4000" b="1">
              <a:solidFill>
                <a:srgbClr val="C00000"/>
              </a:solidFill>
              <a:latin typeface="Bookman Old Style"/>
              <a:ea typeface="Bookman Old Style"/>
              <a:cs typeface="Bookman Old Style"/>
              <a:sym typeface="Bookman Old Style"/>
            </a:endParaRPr>
          </a:p>
        </p:txBody>
      </p:sp>
      <p:sp>
        <p:nvSpPr>
          <p:cNvPr id="3"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sp>
        <p:nvSpPr>
          <p:cNvPr id="4" name="TextBox 3"/>
          <p:cNvSpPr txBox="1"/>
          <p:nvPr/>
        </p:nvSpPr>
        <p:spPr>
          <a:xfrm>
            <a:off x="411480" y="1143000"/>
            <a:ext cx="11338560" cy="4983480"/>
          </a:xfrm>
          <a:prstGeom prst="rect">
            <a:avLst/>
          </a:prstGeom>
          <a:noFill/>
        </p:spPr>
        <p:txBody>
          <a:bodyPr wrap="square" lIns="45720" rIns="45720" anchor="t">
            <a:spAutoFit/>
          </a:bodyPr>
          <a:lstStyle/>
          <a:p>
            <a:pPr algn="l"/>
            <a:r>
              <a:rPr sz="1300" b="0" i="0">
                <a:solidFill>
                  <a:srgbClr val="002060"/>
                </a:solidFill>
                <a:latin typeface="Bookman Old Style"/>
              </a:rPr>
              <a:t>• Naresh, V. S., &amp; Reddi, S. (2025). Exploring the future of privacy-preserving heart disease prediction: a fully homomorphic encryption-driven logistic regression approach. Journal of Big Data, 12, 52. https://doi.org/10.1186/s40537-025-01098-6</a:t>
            </a:r>
          </a:p>
          <a:p>
            <a:pPr algn="l"/>
            <a:r>
              <a:rPr sz="1300" b="0" i="0">
                <a:solidFill>
                  <a:srgbClr val="002060"/>
                </a:solidFill>
                <a:latin typeface="Bookman Old Style"/>
              </a:rPr>
              <a:t>• Dziri, M., Touati, H., Ghazzai, H., Hadded, M., Khalil, O. K., &amp; Laouiti, A. (2025). Privacy-preserving machine learning for heart disease detection using fully homomorphic encryption. TechRxiv. https://doi.org/10.36227/techrxiv.176115157.76814460/v1</a:t>
            </a:r>
          </a:p>
          <a:p>
            <a:pPr algn="l"/>
            <a:r>
              <a:rPr sz="1300" b="0" i="0">
                <a:solidFill>
                  <a:srgbClr val="002060"/>
                </a:solidFill>
                <a:latin typeface="Bookman Old Style"/>
              </a:rPr>
              <a:t>• Zimerman, I., Baruch, M., Drucker, N., Ezov, G., Soceanu, O., &amp; Wolf, L. (2024). Converting transformers to polynomial form for secure inference over homomorphic encryption. ICML 2024, PMLR 235, 62803–62814.</a:t>
            </a:r>
          </a:p>
          <a:p>
            <a:pPr algn="l"/>
            <a:r>
              <a:rPr sz="1300" b="0" i="0">
                <a:solidFill>
                  <a:srgbClr val="002060"/>
                </a:solidFill>
                <a:latin typeface="Bookman Old Style"/>
              </a:rPr>
              <a:t>• Ku, Y.-T., Liu, F.-H., Hsu, C.-F., Chang, M.-C., Hung, S.-H., Tu, I.-P., &amp; Chen, W.-C. (2025). Optimizing encrypted neural networks: model design, quantization and fine-tuning using FHEW/TFHE. PoPETs, 2025(4), 1075–1091. https://doi.org/10.56553/popets-2025-0172</a:t>
            </a:r>
          </a:p>
          <a:p>
            <a:pPr algn="l"/>
            <a:r>
              <a:rPr sz="1300" b="0" i="0">
                <a:solidFill>
                  <a:srgbClr val="002060"/>
                </a:solidFill>
                <a:latin typeface="Bookman Old Style"/>
              </a:rPr>
              <a:t>• El-Sofany, H., Bouallegue, B., &amp; Abd El-Latif, Y. M. (2024). A proposed technique for predicting heart disease using machine learning algorithms and an explainable AI method. Scientific Reports, 14, 23277. https://doi.org/10.1038/s41598-024-74656-2</a:t>
            </a:r>
          </a:p>
          <a:p>
            <a:pPr algn="l"/>
            <a:r>
              <a:rPr sz="1300" b="0" i="0">
                <a:solidFill>
                  <a:srgbClr val="002060"/>
                </a:solidFill>
                <a:latin typeface="Bookman Old Style"/>
              </a:rPr>
              <a:t>• Nadheer, I. (2024). Heart disease prediction system using hybrid model of multi-layer perception and XGBoost algorithms. BIO Web of Conferences, 97, 00047. https://doi.org/10.1051/bioconf/20249700047</a:t>
            </a:r>
          </a:p>
          <a:p>
            <a:pPr algn="l"/>
            <a:r>
              <a:rPr sz="1300" b="0" i="0">
                <a:solidFill>
                  <a:srgbClr val="002060"/>
                </a:solidFill>
                <a:latin typeface="Bookman Old Style"/>
              </a:rPr>
              <a:t>• Čepová, L., Elangovan, M., et al. (2024). Improving privacy-preserving multi-faceted long short-term memory for accurate evaluation of encrypted time-series MRI images in heart disease. Scientific Reports, 14, 20218. https://doi.org/10.1038/s41598-024-70593-2</a:t>
            </a:r>
          </a:p>
          <a:p>
            <a:pPr algn="l"/>
            <a:r>
              <a:rPr sz="1300" b="0" i="0">
                <a:solidFill>
                  <a:srgbClr val="002060"/>
                </a:solidFill>
                <a:latin typeface="Bookman Old Style"/>
              </a:rPr>
              <a:t>• Dataset: Heart Disease (Cleveland), UCI Machine Learning Repository. https://archive.ics.uci.edu/dataset/45/heart+disease</a:t>
            </a:r>
          </a:p>
          <a:p>
            <a:pPr algn="l"/>
            <a:r>
              <a:rPr sz="1300" b="0" i="0">
                <a:solidFill>
                  <a:srgbClr val="002060"/>
                </a:solidFill>
                <a:latin typeface="Bookman Old Style"/>
              </a:rPr>
              <a:t>• Tool: Zama, Concrete ML documentation. https://docs.zama.ai/concrete-ml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16</a:t>
            </a:fld>
            <a:endParaRPr/>
          </a:p>
        </p:txBody>
      </p:sp>
      <p:pic>
        <p:nvPicPr>
          <p:cNvPr id="243" name="Google Shape;243;p16"/>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2543</Words>
  <Application>Microsoft Macintosh PowerPoint</Application>
  <PresentationFormat>Widescreen</PresentationFormat>
  <Paragraphs>272</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Divit Gupta</cp:lastModifiedBy>
  <cp:revision>4</cp:revision>
  <dcterms:created xsi:type="dcterms:W3CDTF">2021-06-02T13:10:21Z</dcterms:created>
  <dcterms:modified xsi:type="dcterms:W3CDTF">2026-10-22T06:56:00Z</dcterms:modified>
</cp:coreProperties>
</file>